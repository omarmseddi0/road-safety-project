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f6c922df434730" /><Relationship Type="http://schemas.openxmlformats.org/officeDocument/2006/relationships/extended-properties" Target="/docProps/app.xml" Id="R3edc8d4810944723" /><Relationship Type="http://schemas.openxmlformats.org/officeDocument/2006/relationships/officeDocument" Target="/ppt/presentation.xml" Id="Rfbc5b0b5341c43de" /></Relationships>
</file>

<file path=ppt/presentation.xml><?xml version="1.0" encoding="utf-8"?>
<p:presentation xmlns:p="http://schemas.openxmlformats.org/presentationml/2006/main" xmlns:r="http://schemas.openxmlformats.org/officeDocument/2006/relationships">
  <p:sldMasterIdLst>
    <p:sldMasterId id="2147483648" r:id="R68c96c83ca9d42dd"/>
  </p:sldMasterIdLst>
  <p:notesMasterIdLst>
    <p:notesMasterId r:id="Rd5c336bbe80a49b6"/>
  </p:notesMasterIdLst>
  <p:sldIdLst>
    <p:sldId id="256" r:id="R950cb7bf7c1c4d09"/>
    <p:sldId id="257" r:id="Rb76721824a2e449b"/>
    <p:sldId id="258" r:id="R8fe685bf7d934b70"/>
    <p:sldId id="259" r:id="R210bb645310344d5"/>
    <p:sldId id="260" r:id="Rb1b34c5b0f684dea"/>
    <p:sldId id="261" r:id="R9b041353e88242af"/>
    <p:sldId id="262" r:id="R784a7ab07b8448a6"/>
    <p:sldId id="263" r:id="Rbc63253486484326"/>
    <p:sldId id="264" r:id="R8efcca21bbbb4c98"/>
    <p:sldId id="265" r:id="Re6e4bd4ac0a54a65"/>
    <p:sldId id="266" r:id="Ra3387fc050634b9d"/>
    <p:sldId id="269" r:id="RMLdetails14"/>
    <p:sldId id="270" r:id="RMLdetails15"/>
    <p:sldId id="271" r:id="RMLdetails16"/>
    <p:sldId id="272" r:id="RMLdetails17"/>
    <p:sldId id="267" r:id="Rbc6cbd04b3b0499e"/>
    <p:sldId id="268" r:id="Rce3b29d8207d45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588038fbb52e435b" /><Relationship Type="http://schemas.openxmlformats.org/officeDocument/2006/relationships/slideMaster" Target="/ppt/slideMasters/slideMaster1.xml" Id="R68c96c83ca9d42dd" /><Relationship Type="http://schemas.openxmlformats.org/officeDocument/2006/relationships/notesMaster" Target="/ppt/notesMasters/notesMaster1.xml" Id="Rd5c336bbe80a49b6" /><Relationship Type="http://schemas.openxmlformats.org/officeDocument/2006/relationships/presProps" Target="/ppt/presProps.xml" Id="R5c23535ede754235" /><Relationship Type="http://schemas.openxmlformats.org/officeDocument/2006/relationships/tableStyles" Target="/ppt/tableStyles.xml" Id="Re7f2ace4a7094ea3" /><Relationship Type="http://schemas.openxmlformats.org/officeDocument/2006/relationships/slide" Target="/ppt/slides/slide1.xml" Id="R950cb7bf7c1c4d09" /><Relationship Type="http://schemas.openxmlformats.org/officeDocument/2006/relationships/slide" Target="/ppt/slides/slide2.xml" Id="Rb76721824a2e449b" /><Relationship Type="http://schemas.openxmlformats.org/officeDocument/2006/relationships/slide" Target="/ppt/slides/slide3.xml" Id="R8fe685bf7d934b70" /><Relationship Type="http://schemas.openxmlformats.org/officeDocument/2006/relationships/slide" Target="/ppt/slides/slide4.xml" Id="R210bb645310344d5" /><Relationship Type="http://schemas.openxmlformats.org/officeDocument/2006/relationships/slide" Target="/ppt/slides/slide5.xml" Id="Rb1b34c5b0f684dea" /><Relationship Type="http://schemas.openxmlformats.org/officeDocument/2006/relationships/slide" Target="/ppt/slides/slide6.xml" Id="R9b041353e88242af" /><Relationship Type="http://schemas.openxmlformats.org/officeDocument/2006/relationships/slide" Target="/ppt/slides/slide7.xml" Id="R784a7ab07b8448a6" /><Relationship Type="http://schemas.openxmlformats.org/officeDocument/2006/relationships/slide" Target="/ppt/slides/slide8.xml" Id="Rbc63253486484326" /><Relationship Type="http://schemas.openxmlformats.org/officeDocument/2006/relationships/slide" Target="/ppt/slides/slide9.xml" Id="R8efcca21bbbb4c98" /><Relationship Type="http://schemas.openxmlformats.org/officeDocument/2006/relationships/slide" Target="/ppt/slides/slide10.xml" Id="Re6e4bd4ac0a54a65" /><Relationship Type="http://schemas.openxmlformats.org/officeDocument/2006/relationships/slide" Target="/ppt/slides/slide11.xml" Id="Ra3387fc050634b9d" /><Relationship Type="http://schemas.openxmlformats.org/officeDocument/2006/relationships/slide" Target="/ppt/slides/slide12.xml" Id="Rbc6cbd04b3b0499e" /><Relationship Type="http://schemas.openxmlformats.org/officeDocument/2006/relationships/slide" Target="/ppt/slides/slide13.xml" Id="Rce3b29d8207d45e3" /><Relationship Type="http://schemas.openxmlformats.org/officeDocument/2006/relationships/slide" Target="/ppt/slides/slide14.xml" Id="RMLdetails14" /><Relationship Type="http://schemas.openxmlformats.org/officeDocument/2006/relationships/slide" Target="/ppt/slides/slide15.xml" Id="RMLdetails15" /><Relationship Type="http://schemas.openxmlformats.org/officeDocument/2006/relationships/slide" Target="/ppt/slides/slide16.xml" Id="RMLdetails16" /><Relationship Type="http://schemas.openxmlformats.org/officeDocument/2006/relationships/slide" Target="/ppt/slides/slide17.xml" Id="RMLdetails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5abf9f847840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2670ce69c64591" /><Relationship Type="http://schemas.openxmlformats.org/officeDocument/2006/relationships/notesMaster" Target="/ppt/notesMasters/notesMaster1.xml" Id="R9a70bad2a6ad4a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9020bc5c5d41a9" /><Relationship Type="http://schemas.openxmlformats.org/officeDocument/2006/relationships/notesMaster" Target="/ppt/notesMasters/notesMaster1.xml" Id="R51e1344d08d64c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cca862d00e43e2" /><Relationship Type="http://schemas.openxmlformats.org/officeDocument/2006/relationships/notesMaster" Target="/ppt/notesMasters/notesMaster1.xml" Id="R1c0df6025d1c4f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21b6dc47704f99" /><Relationship Type="http://schemas.openxmlformats.org/officeDocument/2006/relationships/notesMaster" Target="/ppt/notesMasters/notesMaster1.xml" Id="Rb8a685a4d61f4a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a4b926b8bb4fd0" /><Relationship Type="http://schemas.openxmlformats.org/officeDocument/2006/relationships/notesMaster" Target="/ppt/notesMasters/notesMaster1.xml" Id="R6eb0e8b36a3e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8baa2e21374874" /><Relationship Type="http://schemas.openxmlformats.org/officeDocument/2006/relationships/notesMaster" Target="/ppt/notesMasters/notesMaster1.xml" Id="Rbfd9832d31d04c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e079f4412a4791" /><Relationship Type="http://schemas.openxmlformats.org/officeDocument/2006/relationships/notesMaster" Target="/ppt/notesMasters/notesMaster1.xml" Id="R3ad2044d47b94e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f6a87ee112471a" /><Relationship Type="http://schemas.openxmlformats.org/officeDocument/2006/relationships/notesMaster" Target="/ppt/notesMasters/notesMaster1.xml" Id="R96d116ad7e0c40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f80b2f6ee348a2" /><Relationship Type="http://schemas.openxmlformats.org/officeDocument/2006/relationships/notesMaster" Target="/ppt/notesMasters/notesMaster1.xml" Id="Ra43a6db9647146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9cd368d15e42bf" /><Relationship Type="http://schemas.openxmlformats.org/officeDocument/2006/relationships/notesMaster" Target="/ppt/notesMasters/notesMaster1.xml" Id="R1b167a3c50fc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ae48f96fcd4889" /><Relationship Type="http://schemas.openxmlformats.org/officeDocument/2006/relationships/notesMaster" Target="/ppt/notesMasters/notesMaster1.xml" Id="Rcea8e7a7d1704f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6d9de970f94efd" /><Relationship Type="http://schemas.openxmlformats.org/officeDocument/2006/relationships/notesMaster" Target="/ppt/notesMasters/notesMaster1.xml" Id="R00901ce0aae24e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defa9c7d464975" /><Relationship Type="http://schemas.openxmlformats.org/officeDocument/2006/relationships/notesMaster" Target="/ppt/notesMasters/notesMaster1.xml" Id="R8ae8328baf564230" /></Relationships>
</file>

<file path=ppt/notesSlides/_rels/notesSlide14.xml.rels><?xml version='1.0' encoding='utf-8'?>
<Relationships xmlns="http://schemas.openxmlformats.org/package/2006/relationships"><Relationship Type="http://schemas.openxmlformats.org/officeDocument/2006/relationships/slide" Target="/ppt/slides/slide14.xml" Id="R0b6d9de970f94efd" /><Relationship Type="http://schemas.openxmlformats.org/officeDocument/2006/relationships/notesMaster" Target="/ppt/notesMasters/notesMaster1.xml" Id="R00901ce0aae24ee0" /></Relationships>
</file>

<file path=ppt/notesSlides/_rels/notesSlide15.xml.rels><?xml version='1.0' encoding='utf-8'?>
<Relationships xmlns="http://schemas.openxmlformats.org/package/2006/relationships"><Relationship Type="http://schemas.openxmlformats.org/officeDocument/2006/relationships/slide" Target="/ppt/slides/slide15.xml" Id="R0b6d9de970f94efd" /><Relationship Type="http://schemas.openxmlformats.org/officeDocument/2006/relationships/notesMaster" Target="/ppt/notesMasters/notesMaster1.xml" Id="R00901ce0aae24ee0" /></Relationships>
</file>

<file path=ppt/notesSlides/_rels/notesSlide16.xml.rels><?xml version='1.0' encoding='utf-8'?>
<Relationships xmlns="http://schemas.openxmlformats.org/package/2006/relationships"><Relationship Type="http://schemas.openxmlformats.org/officeDocument/2006/relationships/slide" Target="/ppt/slides/slide16.xml" Id="R0b6d9de970f94efd" /><Relationship Type="http://schemas.openxmlformats.org/officeDocument/2006/relationships/notesMaster" Target="/ppt/notesMasters/notesMaster1.xml" Id="R00901ce0aae24ee0" /></Relationships>
</file>

<file path=ppt/notesSlides/_rels/notesSlide17.xml.rels><?xml version='1.0' encoding='utf-8'?>
<Relationships xmlns="http://schemas.openxmlformats.org/package/2006/relationships"><Relationship Type="http://schemas.openxmlformats.org/officeDocument/2006/relationships/slide" Target="/ppt/slides/slide17.xml" Id="R0b6d9de970f94efd" /><Relationship Type="http://schemas.openxmlformats.org/officeDocument/2006/relationships/notesMaster" Target="/ppt/notesMasters/notesMaster1.xml" Id="R00901ce0aae24e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Présentation du projet Road Safety. L’image de couverture est une illustration générée pour le projet et ne représente pas un lieu ni un événement réel. Source des données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DfT indique que les fichiers contiennent les collisions corporelles sur les voies publiques qui sont signalées à la police et enregistrées avec STATS19. Ils comprennent les collisions, les véhicules et les victimes. Source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finalité métier est descriptive et exploratoire : les autorités peuvent utiliser ces résultats pour prioriser des analyses locales, mais il faut des dénominateurs d’exposition pour parler de taux de risque.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Objectif 1 réalisé : classifier la gravité enregistrée d’une collision corporelle déclarée (légère, grave ou mortelle), selon le contexte et les véhicules impliqués. Il s’agit du travail de classification réalisé dans le notebook 03, avec ses limites de performance. Objectif 2 prévu : classifier la gravité individuelle d’une victime (légère ou grave/mortelle). Objectif 3 prévu : estimer le nombre de victimes par collision. Les objectifs 2 et 3 ne sont pas encore réalisés.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et périmètre : https://www.gov.uk/government/statistical-data-sets/road-safety-open-data . La source DfT indique que 2025 est la dernière année complète finalisée et que les données portent sur des collisions corporelles sur voies publiques signalées à la police. Les limites de couverture sont aussi décrites dans https://www.gov.uk/government/publications/road-accidents-and-safety-statistics-notes-and-definitions/road-casualty-statistics-overview-and-coverage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Modèle relationnel observé dans les fichiers téléchargés : collision_index est partagé par les trois tables; vehicle_reference est présent dans les tables véhicules et victimes; casualty_reference identifie la victime dans l’extrait.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nombres de lignes et de champs ont été calculés sur les CSV téléchargés. Leurs tailles exactes sur disque totalisent 255 096 726 octets, soit environ 255 Mo décimaux. La page DfT donne des tailles arrondies de 97,7 Mo, 103,7 Mo et 52,4 Mo pour les trois fichiers, autour de 254 Mo au total.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Contrôles recalculés sur les fichiers locaux : la table collision ne contient aucune clé collision_index manquante ou dupliquée; aucune ligne des tables véhicules et victimes ne pointe vers une collision inconnue; le champ number_of_casualties correspond au nombre de lignes victimes pour chaque collision. Ces contrôles ne garantissent pas la justesse des déclarations.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depuis les lignes du fichier collisions par collision_year. Série : 2021 101 087; 2022 106 004; 2023 104 258; 2024 100 927; 2025 101 525. Le changement entre 2021 et 2025 est d’environ +0,43 %. Cette comparaison décrit des collisions enregistrées et ne mesure pas le risque sans dénominateur d’exposition.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graphique présente la somme annuelle des colonnes collision_adjusted_severity_serious et collision_adjusted_severity_slight du CSV. Sommes arrondies : graves 22 658, 24 627, 24 644, 24 693, 25 743; légères 76 955, 79 775, 78 092, 74 732, 74 329. Le DfT explique que le passage de certaines forces à des systèmes fondés sur les blessures a affecté les comptes de blessures graves et légères et fournit des ajustements. Sources : https://www.gov.uk/government/publications/guide-to-severity-adjustments-for-reported-road-casualty-statistics et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sur les 513 801 collisions. L’heure 17 est la plus fréquente avec 44 792 enregistrements, soit 8,7 %. Les limites de vitesse enregistrées à 30 mph regroupent 267 325 lignes, soit 52,0 %. Ces parts de volume ne sont pas des taux de risque et ne tiennent pas compte du trafic, de la longueur de route ni du nombre de déplacements. Source des fichiers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Les statistiques de collisions corporelles rapportées à la police peuvent être affectées par la sous-déclaration, notamment pour les blessures non mortelles. Les volumes ne sont pas des taux de risque sans données d’exposition. Source de couverture et qualité : https://www.gov.uk/government/publications/road-accidents-and-safety-statistics-notes-and-definitions/road-casualty-statistics-overview-and-coverage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Équipe : Oussema Sahbeni, Aziz Zina, Mahdi Zaied, Omar Mseddi et Youssef Takeli. Le dépôt GitHub est public ; les membres doivent être ajoutés comme collaborateurs avec accès Write pour pousser leurs contributions. Le projet contient les notebooks de compréhension, préparation et modélisation.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Notebook 02 : contrôle des trois CSV, 513 801 collisions, 937 265 véhicules et 652 821 victimes. Les véhicules sont agrégés par collision ; les victimes servent uniquement aux contrôles de cohérence. Les 24 variables de contexte et de véhicules excluent tous les résultats de blessures et le nombre de victimes. Imputation et encodage sont ajustés ensuite sur le train uniquement.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Notebook 03 : train 2021–2023 (311 349 collisions), validation 2024 (100 927), test 2025 (101 525). Comparaison de douze configurations sur le même train et la même validation. Sélection par le meilleur F1 macro 2024 : HistGradientBoostingClassifier, 220 itérations, 31 feuilles max, fréquence inverse à la puissance 0,5 pour les poids. La médiane, la standardisation et les catégories sont apprises sur train seulement. 2025 avait déjà été inspecté dans les essais initiaux ; il ne s’agit pas d’un audit prospectif entièrement vierge.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Source : sorties du notebook 03, test 2025. Accuracy 0,7238906673 ; balanced accuracy 0,4023554437 ; F1 macro 0,4098472699. Référence majoritaire : accuracy 0,7375621768, balanced accuracy 1/3, F1 macro 0,2829873511. Collisions mortelles : précision 0,1308068460 et rappel 0,0736407433 sur 1 453 cas. Intervalle bootstrap conditionnel du F1 macro : environ [0,4040 ; 0,4156]. Le modèle est académique, conditionnel à une collision corporelle déclarée ; aucun taux de risque par trajet ni causalité ne peut être déduit.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Source : importance par permutation dans le notebook 03, validation 2024, échantillon proportionnel de 29 999 collisions, cinq permutations par variable, baisse du F1 macro. Moyennes arrondies : speed_limit 0,0245 ; has_motorcycle 0,0218 ; driver_age_mean 0,0160 ; vehicle_count 0,0157 ; light_conditions 0,0126. Importance conditionnelle au modèle et au score, non causale, sensible aux variables corrélées. Le changement de systèmes injury-based affecte les catégories grave et légère. Guide DfT : https://www.gov.uk/government/publications/guide-to-severity-adjustments-for-reported-road-casualty-statistics .</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0d8b57458f4e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2357f9a3af47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ed1e889e0948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64599cadad47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e9721a8f8845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c55b26affe4f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D5B614-6ABE-4F4A-9606-F53F5F168F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6AE404-DC1E-4837-B6D5-D31E98E299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AEE90C-5FBB-4C11-9080-57F8F9AF01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F9999B-A92B-4786-9936-8D48850313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705D7A-34D2-4253-88E9-ED011228DF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481ED4-485C-4037-B5ED-36E5EE2AA4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0CF295-3720-49F7-A6AD-F66570EFBD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6B38E-848F-481F-88EB-7A708C7283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3840AC-5CF9-407A-9F4D-BFFF6DA916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7E7A33-4420-44D4-9ADA-00C3F47FCD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b20c8b7b2e45d8" /><Relationship Type="http://schemas.openxmlformats.org/officeDocument/2006/relationships/slideLayout" Target="/ppt/slideLayouts/slideLayout1.xml" Id="R117292370250420a" /><Relationship Type="http://schemas.openxmlformats.org/officeDocument/2006/relationships/slideLayout" Target="/ppt/slideLayouts/slideLayout2.xml" Id="Re141435c697c4325" /><Relationship Type="http://schemas.openxmlformats.org/officeDocument/2006/relationships/slideLayout" Target="/ppt/slideLayouts/slideLayout3.xml" Id="R42b1fdce4bc54628" /><Relationship Type="http://schemas.openxmlformats.org/officeDocument/2006/relationships/slideLayout" Target="/ppt/slideLayouts/slideLayout4.xml" Id="Rff43b07949fd4232" /><Relationship Type="http://schemas.openxmlformats.org/officeDocument/2006/relationships/slideLayout" Target="/ppt/slideLayouts/slideLayout5.xml" Id="Rdb7a19e77a7947fc" /><Relationship Type="http://schemas.openxmlformats.org/officeDocument/2006/relationships/slideLayout" Target="/ppt/slideLayouts/slideLayout6.xml" Id="R9bb07ac569214c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7292370250420a"/>
    <p:sldLayoutId xmlns:r="http://schemas.openxmlformats.org/officeDocument/2006/relationships" id="2147483650" r:id="Re141435c697c4325"/>
    <p:sldLayoutId xmlns:r="http://schemas.openxmlformats.org/officeDocument/2006/relationships" id="2147483651" r:id="R42b1fdce4bc54628"/>
    <p:sldLayoutId xmlns:r="http://schemas.openxmlformats.org/officeDocument/2006/relationships" id="2147483652" r:id="Rff43b07949fd4232"/>
    <p:sldLayoutId xmlns:r="http://schemas.openxmlformats.org/officeDocument/2006/relationships" id="2147483653" r:id="Rdb7a19e77a7947fc"/>
    <p:sldLayoutId xmlns:r="http://schemas.openxmlformats.org/officeDocument/2006/relationships" id="2147483654" r:id="R9bb07ac569214c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4a8cba3aca4817" /><Relationship Type="http://schemas.openxmlformats.org/officeDocument/2006/relationships/image" Target="/ppt/media/image.png" Id="R2da7ce8adf3f4549" /><Relationship Type="http://schemas.openxmlformats.org/officeDocument/2006/relationships/notesSlide" Target="/ppt/notesSlides/notesSlide1.xml" Id="R674563349f9f43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f826360f9542c0" /><Relationship Type="http://schemas.openxmlformats.org/officeDocument/2006/relationships/notesSlide" Target="/ppt/notesSlides/notesSlide2.xml" Id="R8e26d28445e84b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f5b1a0ab0145d5" /><Relationship Type="http://schemas.openxmlformats.org/officeDocument/2006/relationships/notesSlide" Target="/ppt/notesSlides/notesSlide3.xml" Id="Rcd494a9d9eb147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dcb948ca404983" /><Relationship Type="http://schemas.openxmlformats.org/officeDocument/2006/relationships/notesSlide" Target="/ppt/notesSlides/notesSlide4.xml" Id="R66b60697d88f4e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d0d8e69391484a" /><Relationship Type="http://schemas.openxmlformats.org/officeDocument/2006/relationships/notesSlide" Target="/ppt/notesSlides/notesSlide5.xml" Id="Rf591eaefc5f740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8fa59d34444314" /><Relationship Type="http://schemas.openxmlformats.org/officeDocument/2006/relationships/notesSlide" Target="/ppt/notesSlides/notesSlide6.xml" Id="R96bcf623ad534e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0130b94ae54ffb" /><Relationship Type="http://schemas.openxmlformats.org/officeDocument/2006/relationships/notesSlide" Target="/ppt/notesSlides/notesSlide7.xml" Id="Re345837442c44a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e1ac57f39f40d1" /><Relationship Type="http://schemas.openxmlformats.org/officeDocument/2006/relationships/notesSlide" Target="/ppt/notesSlides/notesSlide8.xml" Id="R7e50e10dacb243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9b9c5f803d4e26" /><Relationship Type="http://schemas.openxmlformats.org/officeDocument/2006/relationships/chart" Target="/ppt/slides/charts/chart1.xml" Id="Rf937b87ea5174533" /><Relationship Type="http://schemas.openxmlformats.org/officeDocument/2006/relationships/notesSlide" Target="/ppt/notesSlides/notesSlide9.xml" Id="Rea0eab3d6efd44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ec39dfada049e6" /><Relationship Type="http://schemas.openxmlformats.org/officeDocument/2006/relationships/chart" Target="/ppt/slides/charts/chart2.xml" Id="R0a667882aeb1437b" /><Relationship Type="http://schemas.openxmlformats.org/officeDocument/2006/relationships/notesSlide" Target="/ppt/notesSlides/notesSlide10.xml" Id="R56e9eb9b94d541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9a94bb376e416c" /><Relationship Type="http://schemas.openxmlformats.org/officeDocument/2006/relationships/chart" Target="/ppt/slides/charts/chart3.xml" Id="Rcfe4c18f0d2f42a6" /><Relationship Type="http://schemas.openxmlformats.org/officeDocument/2006/relationships/notesSlide" Target="/ppt/notesSlides/notesSlide11.xml" Id="Rae0e6647f8b045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2.xml" Id="R1487ab96e2754d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d809c5cee964b21" /><Relationship Type="http://schemas.openxmlformats.org/officeDocument/2006/relationships/notesSlide" Target="/ppt/notesSlides/notesSlide13.xml" Id="R24317afe3ac7490c" /></Relationships>
</file>

<file path=ppt/slides/_rels/slide14.xml.rels><?xml version='1.0' encoding='utf-8'?>
<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4.xml" Id="R1487ab96e2754dee" /></Relationships>
</file>

<file path=ppt/slides/_rels/slide15.xml.rels><?xml version='1.0' encoding='utf-8'?>
<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5.xml" Id="R1487ab96e2754dee" /></Relationships>
</file>

<file path=ppt/slides/_rels/slide16.xml.rels><?xml version='1.0' encoding='utf-8'?>
<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6.xml" Id="R1487ab96e2754dee" /></Relationships>
</file>

<file path=ppt/slides/_rels/slide17.xml.rels><?xml version='1.0' encoding='utf-8'?>
<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7.xml" Id="R1487ab96e2754de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Collisions</c:v>
          </c:tx>
          <c:spPr>
            <a:solidFill xmlns:a="http://schemas.openxmlformats.org/drawingml/2006/main">
              <a:srgbClr val="176B87"/>
            </a:solidFill>
          </c:spPr>
          <c:invertIfNegative val="0"/>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101087</c:v>
                </c:pt>
                <c:pt idx="1">
                  <c:v>106004</c:v>
                </c:pt>
                <c:pt idx="2">
                  <c:v>104258</c:v>
                </c:pt>
                <c:pt idx="3">
                  <c:v>100927</c:v>
                </c:pt>
                <c:pt idx="4">
                  <c:v>101525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72768"/>
      </c:catAx>
      <c:valAx>
        <c:axId val="48672768"/>
        <c:scaling>
          <c:orientation val="minMax"/>
          <c:max val="12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54697B"/>
                </a:solidFill>
                <a:latin typeface="Arial"/>
                <a:ea typeface="Arial"/>
                <a:cs typeface="Arial"/>
              </a:defRPr>
            </a:pPr>
          </a:p>
        </c:txPr>
        <c:crossAx val="48650112"/>
        <c:crossBetween val="between"/>
        <c:majorUnit val="20000"/>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Graves ajustées</c:v>
          </c:tx>
          <c:spPr>
            <a:ln xmlns:a="http://schemas.openxmlformats.org/drawingml/2006/main" w="38100">
              <a:solidFill>
                <a:srgbClr val="176B87"/>
              </a:solidFill>
              <a:prstDash val="solid"/>
            </a:ln>
          </c:spPr>
          <c:marker>
            <c:symbol val="circle"/>
            <c:size val="8"/>
            <c:spPr>
              <a:solidFill xmlns:a="http://schemas.openxmlformats.org/drawingml/2006/main">
                <a:srgbClr val="176B87"/>
              </a:solidFill>
            </c:spPr>
          </c:marker>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22658</c:v>
                </c:pt>
                <c:pt idx="1">
                  <c:v>24627</c:v>
                </c:pt>
                <c:pt idx="2">
                  <c:v>24644</c:v>
                </c:pt>
                <c:pt idx="3">
                  <c:v>24693</c:v>
                </c:pt>
                <c:pt idx="4">
                  <c:v>25743</c:v>
                </c:pt>
              </c:numCache>
            </c:numRef>
          </c:val>
          <c:smooth val="0"/>
        </c:ser>
        <c:ser>
          <c:idx val="1"/>
          <c:order val="1"/>
          <c:tx>
            <c:v>Légères ajustées</c:v>
          </c:tx>
          <c:spPr>
            <a:ln xmlns:a="http://schemas.openxmlformats.org/drawingml/2006/main" w="38100">
              <a:solidFill>
                <a:srgbClr val="E2A33B"/>
              </a:solidFill>
              <a:prstDash val="solid"/>
            </a:ln>
          </c:spPr>
          <c:marker>
            <c:symbol val="circle"/>
            <c:size val="8"/>
            <c:spPr>
              <a:solidFill xmlns:a="http://schemas.openxmlformats.org/drawingml/2006/main">
                <a:srgbClr val="E2A33B"/>
              </a:solidFill>
            </c:spPr>
          </c:marker>
          <c:cat>
            <c:numRef>
              <c:f>'Chart Data'!$C$2:$C$6</c:f>
              <c:numCache>
                <c:formatCode>General</c:formatCode>
                <c:ptCount val="5"/>
                <c:pt idx="0">
                  <c:v>2021</c:v>
                </c:pt>
                <c:pt idx="1">
                  <c:v>2022</c:v>
                </c:pt>
                <c:pt idx="2">
                  <c:v>2023</c:v>
                </c:pt>
                <c:pt idx="3">
                  <c:v>2024</c:v>
                </c:pt>
                <c:pt idx="4">
                  <c:v>2025</c:v>
                </c:pt>
              </c:numCache>
            </c:numRef>
          </c:cat>
          <c:val>
            <c:numRef>
              <c:f>'Chart Data'!$D$2:$D$6</c:f>
              <c:numCache>
                <c:formatCode>#,##0</c:formatCode>
                <c:ptCount val="5"/>
                <c:pt idx="0">
                  <c:v>76955</c:v>
                </c:pt>
                <c:pt idx="1">
                  <c:v>79775</c:v>
                </c:pt>
                <c:pt idx="2">
                  <c:v>78092</c:v>
                </c:pt>
                <c:pt idx="3">
                  <c:v>74732</c:v>
                </c:pt>
                <c:pt idx="4">
                  <c:v>74329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crossAx val="48672768"/>
      </c:catAx>
      <c:valAx>
        <c:axId val="48672768"/>
        <c:scaling>
          <c:orientation val="minMax"/>
          <c:max val="9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50112"/>
        <c:crossBetween val="between"/>
        <c:majorUnit val="15000"/>
      </c:valAx>
      <c:spPr>
        <a:solidFill xmlns:a="http://schemas.openxmlformats.org/drawingml/2006/main">
          <a:srgbClr val="F4F7F9"/>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legend>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Collisions</c:v>
          </c:tx>
          <c:spPr>
            <a:solidFill xmlns:a="http://schemas.openxmlformats.org/drawingml/2006/main">
              <a:srgbClr val="3A8997"/>
            </a:solidFill>
          </c:spPr>
          <c:invertIfNegative val="0"/>
          <c:cat>
            <c:strRef>
              <c:f>'Chart Data'!$A$2:$A$6</c:f>
              <c:strCache>
                <c:ptCount val="5"/>
                <c:pt idx="0">
                  <c:v>18 h</c:v>
                </c:pt>
                <c:pt idx="1">
                  <c:v>17 h</c:v>
                </c:pt>
                <c:pt idx="2">
                  <c:v>16 h</c:v>
                </c:pt>
                <c:pt idx="3">
                  <c:v>15 h</c:v>
                </c:pt>
                <c:pt idx="4">
                  <c:v>14 h</c:v>
                </c:pt>
              </c:strCache>
            </c:strRef>
          </c:cat>
          <c:val>
            <c:numRef>
              <c:f>'Chart Data'!$B$2:$B$6</c:f>
              <c:numCache>
                <c:formatCode>General</c:formatCode>
                <c:ptCount val="5"/>
                <c:pt idx="0">
                  <c:v>35936</c:v>
                </c:pt>
                <c:pt idx="1">
                  <c:v>44792</c:v>
                </c:pt>
                <c:pt idx="2">
                  <c:v>42895</c:v>
                </c:pt>
                <c:pt idx="3">
                  <c:v>42210</c:v>
                </c:pt>
                <c:pt idx="4">
                  <c:v>32953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50112"/>
        <c:crossBetween val="between"/>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0B1D30"/>
        </a:solidFill>
      </p:bgPr>
    </p:bg>
    <p:spTree>
      <p:nvGrpSpPr>
        <p:cNvPr id="1" name=""/>
        <p:cNvGrpSpPr/>
        <p:nvPr/>
      </p:nvGrpSpPr>
      <p:grpSpPr>
        <a:xfrm/>
      </p:grpSpPr>
      <p:pic>
        <p:nvPicPr>
          <p:cNvPr id="7" name="">
            <a:extLst>
              <a:ext uri="{FF2B5EF4-FFF2-40B4-BE49-F238E27FC236}">
                <a16:creationId id="{8004EFDA-288F-4DD4-BFC5-54CB2E34B47F}"/>
              </a:ext>
            </a:extLst>
          </p:cNvPr>
          <p:cNvPicPr>
            <a:picLocks noChangeAspect="1"/>
          </p:cNvPicPr>
          <p:nvPr/>
        </p:nvPicPr>
        <p:blipFill>
          <a:blip r:embed="R2da7ce8adf3f4549"/>
          <a:srcRect l="0" t="27" r="0" b="27"/>
          <a:stretch>
            <a:fillRect l="0" t="0" r="0" b="0"/>
          </a:stretch>
        </p:blipFill>
        <p:spPr>
          <a:xfrm>
            <a:off x="0" y="0"/>
            <a:ext cx="12192000" cy="6858000"/>
          </a:xfrm>
          <a:prstGeom prst="rect">
            <a:avLst/>
          </a:prstGeom>
        </p:spPr>
      </p:pic>
      <p:sp>
        <p:nvSpPr>
          <p:cNvPr id="2" name="cover-left-shade">
            <a:extLst>
              <a:ext uri="{FF2B5EF4-FFF2-40B4-BE49-F238E27FC236}">
                <a16:creationId id="{AEE9D2DF-76E4-4969-ADF6-2AAFF8437020}"/>
              </a:ext>
            </a:extLst>
          </p:cNvPr>
          <p:cNvSpPr>
            <a:spLocks noGrp="1"/>
          </p:cNvSpPr>
          <p:nvPr/>
        </p:nvSpPr>
        <p:spPr>
          <a:xfrm>
            <a:off x="0" y="0"/>
            <a:ext cx="7524750" cy="6858000"/>
          </a:xfrm>
          <a:prstGeom prst="rect">
            <a:avLst/>
          </a:prstGeom>
          <a:solidFill>
            <a:srgbClr val="071522">
              <a:alpha val="42000"/>
            </a:srgbClr>
          </a:solidFill>
          <a:ln w="0">
            <a:noFill/>
            <a:prstDash val="solid"/>
          </a:ln>
        </p:spPr>
      </p:sp>
      <p:sp>
        <p:nvSpPr>
          <p:cNvPr id="3" name="cover-top-rule">
            <a:extLst>
              <a:ext uri="{FF2B5EF4-FFF2-40B4-BE49-F238E27FC236}">
                <a16:creationId id="{B9037284-02BB-4A1F-974C-5CB5D53F7326}"/>
              </a:ext>
            </a:extLst>
          </p:cNvPr>
          <p:cNvSpPr>
            <a:spLocks noGrp="1"/>
          </p:cNvSpPr>
          <p:nvPr/>
        </p:nvSpPr>
        <p:spPr>
          <a:xfrm>
            <a:off x="742950" y="914400"/>
            <a:ext cx="742950" cy="57150"/>
          </a:xfrm>
          <a:prstGeom prst="rect">
            <a:avLst/>
          </a:prstGeom>
          <a:solidFill>
            <a:srgbClr val="E2A33B"/>
          </a:solidFill>
          <a:ln w="0">
            <a:noFill/>
            <a:prstDash val="solid"/>
          </a:ln>
        </p:spPr>
      </p:sp>
      <p:sp>
        <p:nvSpPr>
          <p:cNvPr id="4" name="cover-title">
            <a:extLst>
              <a:ext uri="{FF2B5EF4-FFF2-40B4-BE49-F238E27FC236}">
                <a16:creationId id="{04AB6406-6F2A-4B4E-AAC8-E37F06E6FF3E}"/>
              </a:ext>
            </a:extLst>
          </p:cNvPr>
          <p:cNvSpPr>
            <a:spLocks noGrp="1"/>
          </p:cNvSpPr>
          <p:nvPr/>
        </p:nvSpPr>
        <p:spPr>
          <a:xfrm>
            <a:off x="742950" y="1381125"/>
            <a:ext cx="5334000" cy="1714500"/>
          </a:xfrm>
          <a:prstGeom prst="rect">
            <a:avLst/>
          </a:prstGeom>
          <a:noFill/>
          <a:ln w="0">
            <a:noFill/>
            <a:prstDash val="solid"/>
          </a:ln>
        </p:spPr>
        <p:txBody>
          <a:bodyPr wrap="square" lIns="0" tIns="0" rIns="0" bIns="0" anchor="t"/>
          <a:lstStyle>
            <a:defPPr algn="l">
              <a:defRPr sz="5550" b="1">
                <a:solidFill>
                  <a:srgbClr val="FFFFFF"/>
                </a:solidFill>
                <a:latin typeface="Arial"/>
                <a:ea typeface="Arial"/>
                <a:cs typeface="Arial"/>
              </a:defRPr>
            </a:defPPr>
            <a:lvl1pPr algn="l">
              <a:defRPr sz="5550" b="1">
                <a:solidFill>
                  <a:srgbClr val="FFFFFF"/>
                </a:solidFill>
                <a:latin typeface="Arial"/>
                <a:ea typeface="Arial"/>
                <a:cs typeface="Arial"/>
              </a:defRPr>
            </a:lvl1pPr>
            <a:lvl2pPr algn="l">
              <a:defRPr sz="5550" b="1">
                <a:solidFill>
                  <a:srgbClr val="FFFFFF"/>
                </a:solidFill>
                <a:latin typeface="Arial"/>
                <a:ea typeface="Arial"/>
                <a:cs typeface="Arial"/>
              </a:defRPr>
            </a:lvl2pPr>
            <a:lvl3pPr algn="l">
              <a:defRPr sz="5550" b="1">
                <a:solidFill>
                  <a:srgbClr val="FFFFFF"/>
                </a:solidFill>
                <a:latin typeface="Arial"/>
                <a:ea typeface="Arial"/>
                <a:cs typeface="Arial"/>
              </a:defRPr>
            </a:lvl3pPr>
            <a:lvl4pPr algn="l">
              <a:defRPr sz="5550" b="1">
                <a:solidFill>
                  <a:srgbClr val="FFFFFF"/>
                </a:solidFill>
                <a:latin typeface="Arial"/>
                <a:ea typeface="Arial"/>
                <a:cs typeface="Arial"/>
              </a:defRPr>
            </a:lvl4pPr>
            <a:lvl5pPr algn="l">
              <a:defRPr sz="5550" b="1">
                <a:solidFill>
                  <a:srgbClr val="FFFFFF"/>
                </a:solidFill>
                <a:latin typeface="Arial"/>
                <a:ea typeface="Arial"/>
                <a:cs typeface="Arial"/>
              </a:defRPr>
            </a:lvl5pPr>
            <a:lvl6pPr algn="l">
              <a:defRPr sz="5550" b="1">
                <a:solidFill>
                  <a:srgbClr val="FFFFFF"/>
                </a:solidFill>
                <a:latin typeface="Arial"/>
                <a:ea typeface="Arial"/>
                <a:cs typeface="Arial"/>
              </a:defRPr>
            </a:lvl6pPr>
            <a:lvl7pPr algn="l">
              <a:defRPr sz="5550" b="1">
                <a:solidFill>
                  <a:srgbClr val="FFFFFF"/>
                </a:solidFill>
                <a:latin typeface="Arial"/>
                <a:ea typeface="Arial"/>
                <a:cs typeface="Arial"/>
              </a:defRPr>
            </a:lvl7pPr>
            <a:lvl8pPr algn="l">
              <a:defRPr sz="5550" b="1">
                <a:solidFill>
                  <a:srgbClr val="FFFFFF"/>
                </a:solidFill>
                <a:latin typeface="Arial"/>
                <a:ea typeface="Arial"/>
                <a:cs typeface="Arial"/>
              </a:defRPr>
            </a:lvl8pPr>
            <a:lvl9pPr algn="l">
              <a:defRPr sz="5550" b="1">
                <a:solidFill>
                  <a:srgbClr val="FFFFFF"/>
                </a:solidFill>
                <a:latin typeface="Arial"/>
                <a:ea typeface="Arial"/>
                <a:cs typeface="Arial"/>
              </a:defRPr>
            </a:lvl9pPr>
          </a:lstStyle>
          <a:p>
            <a:pPr algn="l">
              <a:defRPr sz="5550" b="1">
                <a:solidFill>
                  <a:srgbClr val="FFFFFF"/>
                </a:solidFill>
                <a:latin typeface="Arial"/>
                <a:ea typeface="Arial"/>
                <a:cs typeface="Arial"/>
              </a:defRPr>
            </a:pPr>
            <a:r>
              <a:rPr sz="5550" b="1">
                <a:solidFill>
                  <a:srgbClr val="FFFFFF"/>
                </a:solidFill>
                <a:latin typeface="Arial"/>
                <a:ea typeface="Arial"/>
                <a:cs typeface="Arial"/>
              </a:rPr>
              <a:t>Sécurité</a:t>
            </a:r>
          </a:p>
          <a:p>
            <a:pPr algn="l">
              <a:defRPr sz="5550" b="1">
                <a:solidFill>
                  <a:srgbClr val="FFFFFF"/>
                </a:solidFill>
                <a:latin typeface="Arial"/>
                <a:ea typeface="Arial"/>
                <a:cs typeface="Arial"/>
              </a:defRPr>
            </a:pPr>
            <a:r>
              <a:rPr sz="5550" b="1">
                <a:solidFill>
                  <a:srgbClr val="FFFFFF"/>
                </a:solidFill>
                <a:latin typeface="Arial"/>
                <a:ea typeface="Arial"/>
                <a:cs typeface="Arial"/>
              </a:rPr>
              <a:t>routière</a:t>
            </a:r>
          </a:p>
        </p:txBody>
      </p:sp>
      <p:sp>
        <p:nvSpPr>
          <p:cNvPr id="5" name="cover-subtitle">
            <a:extLst>
              <a:ext uri="{FF2B5EF4-FFF2-40B4-BE49-F238E27FC236}">
                <a16:creationId id="{264AA547-BE4D-4D6B-BA90-9EF7122A602B}"/>
              </a:ext>
            </a:extLst>
          </p:cNvPr>
          <p:cNvSpPr>
            <a:spLocks noGrp="1"/>
          </p:cNvSpPr>
          <p:nvPr/>
        </p:nvSpPr>
        <p:spPr>
          <a:xfrm>
            <a:off x="781050" y="3476625"/>
            <a:ext cx="5810250" cy="914400"/>
          </a:xfrm>
          <a:prstGeom prst="rect">
            <a:avLst/>
          </a:prstGeom>
          <a:noFill/>
          <a:ln w="0">
            <a:noFill/>
            <a:prstDash val="solid"/>
          </a:ln>
        </p:spPr>
        <p:txBody>
          <a:bodyPr wrap="square" lIns="0" tIns="0" rIns="0" bIns="0" anchor="t"/>
          <a:lstStyle>
            <a:defPPr algn="l">
              <a:defRPr sz="2250" b="0">
                <a:solidFill>
                  <a:srgbClr val="F0F4F6"/>
                </a:solidFill>
                <a:latin typeface="Arial"/>
                <a:ea typeface="Arial"/>
                <a:cs typeface="Arial"/>
              </a:defRPr>
            </a:defPPr>
            <a:lvl1pPr algn="l">
              <a:defRPr sz="2250" b="0">
                <a:solidFill>
                  <a:srgbClr val="F0F4F6"/>
                </a:solidFill>
                <a:latin typeface="Arial"/>
                <a:ea typeface="Arial"/>
                <a:cs typeface="Arial"/>
              </a:defRPr>
            </a:lvl1pPr>
            <a:lvl2pPr algn="l">
              <a:defRPr sz="2250" b="0">
                <a:solidFill>
                  <a:srgbClr val="F0F4F6"/>
                </a:solidFill>
                <a:latin typeface="Arial"/>
                <a:ea typeface="Arial"/>
                <a:cs typeface="Arial"/>
              </a:defRPr>
            </a:lvl2pPr>
            <a:lvl3pPr algn="l">
              <a:defRPr sz="2250" b="0">
                <a:solidFill>
                  <a:srgbClr val="F0F4F6"/>
                </a:solidFill>
                <a:latin typeface="Arial"/>
                <a:ea typeface="Arial"/>
                <a:cs typeface="Arial"/>
              </a:defRPr>
            </a:lvl3pPr>
            <a:lvl4pPr algn="l">
              <a:defRPr sz="2250" b="0">
                <a:solidFill>
                  <a:srgbClr val="F0F4F6"/>
                </a:solidFill>
                <a:latin typeface="Arial"/>
                <a:ea typeface="Arial"/>
                <a:cs typeface="Arial"/>
              </a:defRPr>
            </a:lvl4pPr>
            <a:lvl5pPr algn="l">
              <a:defRPr sz="2250" b="0">
                <a:solidFill>
                  <a:srgbClr val="F0F4F6"/>
                </a:solidFill>
                <a:latin typeface="Arial"/>
                <a:ea typeface="Arial"/>
                <a:cs typeface="Arial"/>
              </a:defRPr>
            </a:lvl5pPr>
            <a:lvl6pPr algn="l">
              <a:defRPr sz="2250" b="0">
                <a:solidFill>
                  <a:srgbClr val="F0F4F6"/>
                </a:solidFill>
                <a:latin typeface="Arial"/>
                <a:ea typeface="Arial"/>
                <a:cs typeface="Arial"/>
              </a:defRPr>
            </a:lvl6pPr>
            <a:lvl7pPr algn="l">
              <a:defRPr sz="2250" b="0">
                <a:solidFill>
                  <a:srgbClr val="F0F4F6"/>
                </a:solidFill>
                <a:latin typeface="Arial"/>
                <a:ea typeface="Arial"/>
                <a:cs typeface="Arial"/>
              </a:defRPr>
            </a:lvl7pPr>
            <a:lvl8pPr algn="l">
              <a:defRPr sz="2250" b="0">
                <a:solidFill>
                  <a:srgbClr val="F0F4F6"/>
                </a:solidFill>
                <a:latin typeface="Arial"/>
                <a:ea typeface="Arial"/>
                <a:cs typeface="Arial"/>
              </a:defRPr>
            </a:lvl8pPr>
            <a:lvl9pPr algn="l">
              <a:defRPr sz="2250" b="0">
                <a:solidFill>
                  <a:srgbClr val="F0F4F6"/>
                </a:solidFill>
                <a:latin typeface="Arial"/>
                <a:ea typeface="Arial"/>
                <a:cs typeface="Arial"/>
              </a:defRPr>
            </a:lvl9pPr>
          </a:lstStyle>
          <a:p>
            <a:pPr algn="l">
              <a:defRPr sz="2250" b="0">
                <a:solidFill>
                  <a:srgbClr val="F0F4F6"/>
                </a:solidFill>
                <a:latin typeface="Arial"/>
                <a:ea typeface="Arial"/>
                <a:cs typeface="Arial"/>
              </a:defRPr>
            </a:pPr>
            <a:r>
              <a:rPr sz="2250" b="0">
                <a:solidFill>
                  <a:srgbClr val="F0F4F6"/>
                </a:solidFill>
                <a:latin typeface="Arial"/>
                <a:ea typeface="Arial"/>
                <a:cs typeface="Arial"/>
              </a:rPr>
              <a:t>Données STATS19 et objectifs ML</a:t>
            </a:r>
          </a:p>
          <a:p>
            <a:pPr algn="l">
              <a:defRPr sz="2250" b="0">
                <a:solidFill>
                  <a:srgbClr val="F0F4F6"/>
                </a:solidFill>
                <a:latin typeface="Arial"/>
                <a:ea typeface="Arial"/>
                <a:cs typeface="Arial"/>
              </a:defRPr>
            </a:pPr>
            <a:r>
              <a:rPr sz="2250" b="0">
                <a:solidFill>
                  <a:srgbClr val="F0F4F6"/>
                </a:solidFill>
                <a:latin typeface="Arial"/>
                <a:ea typeface="Arial"/>
                <a:cs typeface="Arial"/>
              </a:rPr>
              <a:t>Grande-Bretagne · 2021–2025</a:t>
            </a:r>
          </a:p>
        </p:txBody>
      </p:sp>
      <p:sp>
        <p:nvSpPr>
          <p:cNvPr id="6" name="cover-meta">
            <a:extLst>
              <a:ext uri="{FF2B5EF4-FFF2-40B4-BE49-F238E27FC236}">
                <a16:creationId id="{8CD371B5-DB8C-47BF-81A6-0E8A0B20C880}"/>
              </a:ext>
            </a:extLst>
          </p:cNvPr>
          <p:cNvSpPr>
            <a:spLocks noGrp="1"/>
          </p:cNvSpPr>
          <p:nvPr/>
        </p:nvSpPr>
        <p:spPr>
          <a:xfrm>
            <a:off x="781050" y="5334000"/>
            <a:ext cx="5905500" cy="323850"/>
          </a:xfrm>
          <a:prstGeom prst="rect">
            <a:avLst/>
          </a:prstGeom>
          <a:noFill/>
          <a:ln w="0">
            <a:noFill/>
            <a:prstDash val="solid"/>
          </a:ln>
        </p:spPr>
        <p:txBody>
          <a:bodyPr wrap="square" lIns="0" tIns="0" rIns="0" bIns="0" anchor="t"/>
          <a:lstStyle>
            <a:defPPr algn="l">
              <a:defRPr sz="1425" b="0">
                <a:solidFill>
                  <a:srgbClr val="D6E1E8"/>
                </a:solidFill>
                <a:latin typeface="Arial"/>
                <a:ea typeface="Arial"/>
                <a:cs typeface="Arial"/>
              </a:defRPr>
            </a:defPPr>
            <a:lvl1pPr algn="l">
              <a:defRPr sz="1425" b="0">
                <a:solidFill>
                  <a:srgbClr val="D6E1E8"/>
                </a:solidFill>
                <a:latin typeface="Arial"/>
                <a:ea typeface="Arial"/>
                <a:cs typeface="Arial"/>
              </a:defRPr>
            </a:lvl1pPr>
            <a:lvl2pPr algn="l">
              <a:defRPr sz="1425" b="0">
                <a:solidFill>
                  <a:srgbClr val="D6E1E8"/>
                </a:solidFill>
                <a:latin typeface="Arial"/>
                <a:ea typeface="Arial"/>
                <a:cs typeface="Arial"/>
              </a:defRPr>
            </a:lvl2pPr>
            <a:lvl3pPr algn="l">
              <a:defRPr sz="1425" b="0">
                <a:solidFill>
                  <a:srgbClr val="D6E1E8"/>
                </a:solidFill>
                <a:latin typeface="Arial"/>
                <a:ea typeface="Arial"/>
                <a:cs typeface="Arial"/>
              </a:defRPr>
            </a:lvl3pPr>
            <a:lvl4pPr algn="l">
              <a:defRPr sz="1425" b="0">
                <a:solidFill>
                  <a:srgbClr val="D6E1E8"/>
                </a:solidFill>
                <a:latin typeface="Arial"/>
                <a:ea typeface="Arial"/>
                <a:cs typeface="Arial"/>
              </a:defRPr>
            </a:lvl4pPr>
            <a:lvl5pPr algn="l">
              <a:defRPr sz="1425" b="0">
                <a:solidFill>
                  <a:srgbClr val="D6E1E8"/>
                </a:solidFill>
                <a:latin typeface="Arial"/>
                <a:ea typeface="Arial"/>
                <a:cs typeface="Arial"/>
              </a:defRPr>
            </a:lvl5pPr>
            <a:lvl6pPr algn="l">
              <a:defRPr sz="1425" b="0">
                <a:solidFill>
                  <a:srgbClr val="D6E1E8"/>
                </a:solidFill>
                <a:latin typeface="Arial"/>
                <a:ea typeface="Arial"/>
                <a:cs typeface="Arial"/>
              </a:defRPr>
            </a:lvl6pPr>
            <a:lvl7pPr algn="l">
              <a:defRPr sz="1425" b="0">
                <a:solidFill>
                  <a:srgbClr val="D6E1E8"/>
                </a:solidFill>
                <a:latin typeface="Arial"/>
                <a:ea typeface="Arial"/>
                <a:cs typeface="Arial"/>
              </a:defRPr>
            </a:lvl7pPr>
            <a:lvl8pPr algn="l">
              <a:defRPr sz="1425" b="0">
                <a:solidFill>
                  <a:srgbClr val="D6E1E8"/>
                </a:solidFill>
                <a:latin typeface="Arial"/>
                <a:ea typeface="Arial"/>
                <a:cs typeface="Arial"/>
              </a:defRPr>
            </a:lvl8pPr>
            <a:lvl9pPr algn="l">
              <a:defRPr sz="1425" b="0">
                <a:solidFill>
                  <a:srgbClr val="D6E1E8"/>
                </a:solidFill>
                <a:latin typeface="Arial"/>
                <a:ea typeface="Arial"/>
                <a:cs typeface="Arial"/>
              </a:defRPr>
            </a:lvl9pPr>
          </a:lstStyle>
          <a:p>
            <a:pPr algn="l">
              <a:defRPr sz="1425" b="0">
                <a:solidFill>
                  <a:srgbClr val="D6E1E8"/>
                </a:solidFill>
                <a:latin typeface="Arial"/>
                <a:ea typeface="Arial"/>
                <a:cs typeface="Arial"/>
              </a:defRPr>
            </a:pPr>
            <a:r>
              <a:rPr sz="1425" b="0">
                <a:solidFill>
                  <a:srgbClr val="D6E1E8"/>
                </a:solidFill>
                <a:latin typeface="Arial"/>
                <a:ea typeface="Arial"/>
                <a:cs typeface="Arial"/>
              </a:rPr>
              <a:t>Projet d’analyse exploratoire · Department for Transport</a:t>
            </a:r>
          </a:p>
        </p:txBody>
      </p:sp>
    </p:spTree>
    <p:extLst>
      <p:ext uri="{BB962C8B-B14F-4D97-AF65-F5344CB8AC3E}">
        <p14:creationId val="326279594"/>
      </p:ext>
    </p:extLst>
  </p:cSld>
</p:sld>
</file>

<file path=ppt/slides/slide2.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6" name="title-2">
            <a:extLst xmlns:a="http://schemas.openxmlformats.org/drawingml/2006/main">
              <a:ext uri="{FF2B5EF4-FFF2-40B4-BE49-F238E27FC236}">
                <a16:creationId xmlns:a16="http://schemas.microsoft.com/office/drawing/2014/main" id="{08D9FD9A-4169-4025-B514-AB60CBD6F0BE}"/>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Sujet et périmètre</a:t>
            </a:r>
          </a:p>
        </p:txBody>
      </p:sp>
      <p:sp>
        <p:nvSpPr>
          <p:cNvPr id="2" name="title-rule-2">
            <a:extLst xmlns:a="http://schemas.openxmlformats.org/drawingml/2006/main">
              <a:ext uri="{FF2B5EF4-FFF2-40B4-BE49-F238E27FC236}">
                <a16:creationId xmlns:a16="http://schemas.microsoft.com/office/drawing/2014/main" id="{A5C4052F-D6E7-4FB0-BA6E-B6B4EBC787B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2">
            <a:extLst xmlns:a="http://schemas.openxmlformats.org/drawingml/2006/main">
              <a:ext uri="{FF2B5EF4-FFF2-40B4-BE49-F238E27FC236}">
                <a16:creationId xmlns:a16="http://schemas.microsoft.com/office/drawing/2014/main" id="{B23D09B6-5949-4564-BBE1-6B2831A2B591}"/>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02</a:t>
            </a:r>
          </a:p>
        </p:txBody>
      </p:sp>
      <p:sp>
        <p:nvSpPr>
          <p:cNvPr id="4" name="subject-lead">
            <a:extLst xmlns:a="http://schemas.openxmlformats.org/drawingml/2006/main">
              <a:ext uri="{FF2B5EF4-FFF2-40B4-BE49-F238E27FC236}">
                <a16:creationId xmlns:a16="http://schemas.microsoft.com/office/drawing/2014/main" id="{B248AC23-78D7-4C85-BB7D-35EF51FD94C8}"/>
              </a:ext>
            </a:extLst>
          </p:cNvPr>
          <p:cNvSpPr>
            <a:spLocks xmlns:a="http://schemas.openxmlformats.org/drawingml/2006/main" noGrp="1"/>
          </p:cNvSpPr>
          <p:nvPr/>
        </p:nvSpPr>
        <p:spPr>
          <a:xfrm xmlns:a="http://schemas.openxmlformats.org/drawingml/2006/main">
            <a:off x="742950" y="1590675"/>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xmlns:a="http://schemas.openxmlformats.org/drawingml/2006/main">
            <a:pPr algn="l">
              <a:defRPr sz="2550" b="1">
                <a:solidFill>
                  <a:srgbClr val="10283F"/>
                </a:solidFill>
                <a:latin typeface="Arial"/>
                <a:ea typeface="Arial"/>
                <a:cs typeface="Arial"/>
              </a:defRPr>
            </a:pPr>
            <a:r>
              <a:rPr sz="2550" b="1">
                <a:solidFill>
                  <a:srgbClr val="10283F"/>
                </a:solidFill>
                <a:latin typeface="Arial"/>
                <a:ea typeface="Arial"/>
                <a:cs typeface="Arial"/>
              </a:rPr>
              <a:t>Les données STATS19 décrivent les collisions corporelles signalées à la police.</a:t>
            </a:r>
          </a:p>
        </p:txBody>
      </p:sp>
      <p:sp>
        <p:nvSpPr>
          <p:cNvPr id="5" name="subject-context">
            <a:extLst xmlns:a="http://schemas.openxmlformats.org/drawingml/2006/main">
              <a:ext uri="{FF2B5EF4-FFF2-40B4-BE49-F238E27FC236}">
                <a16:creationId xmlns:a16="http://schemas.microsoft.com/office/drawing/2014/main" id="{BF2165ED-1373-4A0F-8062-ACFE9D4DB5BF}"/>
              </a:ext>
            </a:extLst>
          </p:cNvPr>
          <p:cNvSpPr>
            <a:spLocks xmlns:a="http://schemas.openxmlformats.org/drawingml/2006/main" noGrp="1"/>
          </p:cNvSpPr>
          <p:nvPr/>
        </p:nvSpPr>
        <p:spPr>
          <a:xfrm xmlns:a="http://schemas.openxmlformats.org/drawingml/2006/main">
            <a:off x="742950" y="2619375"/>
            <a:ext cx="981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54697B"/>
                </a:solidFill>
                <a:latin typeface="Arial"/>
                <a:ea typeface="Arial"/>
                <a:cs typeface="Arial"/>
              </a:defRPr>
            </a:defPPr>
            <a:lvl1pPr algn="l">
              <a:defRPr sz="1800" b="0">
                <a:solidFill>
                  <a:srgbClr val="54697B"/>
                </a:solidFill>
                <a:latin typeface="Arial"/>
                <a:ea typeface="Arial"/>
                <a:cs typeface="Arial"/>
              </a:defRPr>
            </a:lvl1pPr>
            <a:lvl2pPr algn="l">
              <a:defRPr sz="1800" b="0">
                <a:solidFill>
                  <a:srgbClr val="54697B"/>
                </a:solidFill>
                <a:latin typeface="Arial"/>
                <a:ea typeface="Arial"/>
                <a:cs typeface="Arial"/>
              </a:defRPr>
            </a:lvl2pPr>
            <a:lvl3pPr algn="l">
              <a:defRPr sz="1800" b="0">
                <a:solidFill>
                  <a:srgbClr val="54697B"/>
                </a:solidFill>
                <a:latin typeface="Arial"/>
                <a:ea typeface="Arial"/>
                <a:cs typeface="Arial"/>
              </a:defRPr>
            </a:lvl3pPr>
            <a:lvl4pPr algn="l">
              <a:defRPr sz="1800" b="0">
                <a:solidFill>
                  <a:srgbClr val="54697B"/>
                </a:solidFill>
                <a:latin typeface="Arial"/>
                <a:ea typeface="Arial"/>
                <a:cs typeface="Arial"/>
              </a:defRPr>
            </a:lvl4pPr>
            <a:lvl5pPr algn="l">
              <a:defRPr sz="1800" b="0">
                <a:solidFill>
                  <a:srgbClr val="54697B"/>
                </a:solidFill>
                <a:latin typeface="Arial"/>
                <a:ea typeface="Arial"/>
                <a:cs typeface="Arial"/>
              </a:defRPr>
            </a:lvl5pPr>
            <a:lvl6pPr algn="l">
              <a:defRPr sz="1800" b="0">
                <a:solidFill>
                  <a:srgbClr val="54697B"/>
                </a:solidFill>
                <a:latin typeface="Arial"/>
                <a:ea typeface="Arial"/>
                <a:cs typeface="Arial"/>
              </a:defRPr>
            </a:lvl6pPr>
            <a:lvl7pPr algn="l">
              <a:defRPr sz="1800" b="0">
                <a:solidFill>
                  <a:srgbClr val="54697B"/>
                </a:solidFill>
                <a:latin typeface="Arial"/>
                <a:ea typeface="Arial"/>
                <a:cs typeface="Arial"/>
              </a:defRPr>
            </a:lvl7pPr>
            <a:lvl8pPr algn="l">
              <a:defRPr sz="1800" b="0">
                <a:solidFill>
                  <a:srgbClr val="54697B"/>
                </a:solidFill>
                <a:latin typeface="Arial"/>
                <a:ea typeface="Arial"/>
                <a:cs typeface="Arial"/>
              </a:defRPr>
            </a:lvl8pPr>
            <a:lvl9pPr algn="l">
              <a:defRPr sz="1800" b="0">
                <a:solidFill>
                  <a:srgbClr val="54697B"/>
                </a:solidFill>
                <a:latin typeface="Arial"/>
                <a:ea typeface="Arial"/>
                <a:cs typeface="Arial"/>
              </a:defRPr>
            </a:lvl9pPr>
          </a:lstStyle>
          <a:p xmlns:a="http://schemas.openxmlformats.org/drawingml/2006/main">
            <a:pPr algn="l">
              <a:defRPr sz="1800" b="0">
                <a:solidFill>
                  <a:srgbClr val="54697B"/>
                </a:solidFill>
                <a:latin typeface="Arial"/>
                <a:ea typeface="Arial"/>
                <a:cs typeface="Arial"/>
              </a:defRPr>
            </a:pPr>
            <a:r>
              <a:rPr sz="1800" b="0">
                <a:solidFill>
                  <a:srgbClr val="54697B"/>
                </a:solidFill>
                <a:latin typeface="Arial"/>
                <a:ea typeface="Arial"/>
                <a:cs typeface="Arial"/>
              </a:rPr>
              <a:t>Le projet relie trois niveaux d’observation pour comprendre les circonstances et les conséquences des collisions sur les voies publiques de Grande-Bretagne.</a:t>
            </a:r>
          </a:p>
        </p:txBody>
      </p:sp>
      <p:sp>
        <p:nvSpPr>
          <p:cNvPr id="6" name="subject-0-head">
            <a:extLst xmlns:a="http://schemas.openxmlformats.org/drawingml/2006/main">
              <a:ext uri="{FF2B5EF4-FFF2-40B4-BE49-F238E27FC236}">
                <a16:creationId xmlns:a16="http://schemas.microsoft.com/office/drawing/2014/main" id="{3F8F04D1-90DB-45F4-A83E-DFB97BB982E0}"/>
              </a:ext>
            </a:extLst>
          </p:cNvPr>
          <p:cNvSpPr>
            <a:spLocks xmlns:a="http://schemas.openxmlformats.org/drawingml/2006/main" noGrp="1"/>
          </p:cNvSpPr>
          <p:nvPr/>
        </p:nvSpPr>
        <p:spPr>
          <a:xfrm xmlns:a="http://schemas.openxmlformats.org/drawingml/2006/main">
            <a:off x="74295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Collision</a:t>
            </a:r>
          </a:p>
        </p:txBody>
      </p:sp>
      <p:sp>
        <p:nvSpPr>
          <p:cNvPr id="7" name="subject-0-line">
            <a:extLst xmlns:a="http://schemas.openxmlformats.org/drawingml/2006/main">
              <a:ext uri="{FF2B5EF4-FFF2-40B4-BE49-F238E27FC236}">
                <a16:creationId xmlns:a16="http://schemas.microsoft.com/office/drawing/2014/main" id="{7678D144-1CAC-45F9-BF07-426F5EB20179}"/>
              </a:ext>
            </a:extLst>
          </p:cNvPr>
          <p:cNvSpPr>
            <a:spLocks xmlns:a="http://schemas.openxmlformats.org/drawingml/2006/main" noGrp="1"/>
          </p:cNvSpPr>
          <p:nvPr/>
        </p:nvSpPr>
        <p:spPr>
          <a:xfrm xmlns:a="http://schemas.openxmlformats.org/drawingml/2006/main">
            <a:off x="74295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8" name="subject-0-body">
            <a:extLst xmlns:a="http://schemas.openxmlformats.org/drawingml/2006/main">
              <a:ext uri="{FF2B5EF4-FFF2-40B4-BE49-F238E27FC236}">
                <a16:creationId xmlns:a16="http://schemas.microsoft.com/office/drawing/2014/main" id="{85E679A3-C69A-4DAE-B1B4-389497A4140F}"/>
              </a:ext>
            </a:extLst>
          </p:cNvPr>
          <p:cNvSpPr>
            <a:spLocks xmlns:a="http://schemas.openxmlformats.org/drawingml/2006/main" noGrp="1"/>
          </p:cNvSpPr>
          <p:nvPr/>
        </p:nvSpPr>
        <p:spPr>
          <a:xfrm xmlns:a="http://schemas.openxmlformats.org/drawingml/2006/main">
            <a:off x="74295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où, quand,</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conditions routières</a:t>
            </a:r>
          </a:p>
        </p:txBody>
      </p:sp>
      <p:sp>
        <p:nvSpPr>
          <p:cNvPr id="9" name="subject-1-head">
            <a:extLst xmlns:a="http://schemas.openxmlformats.org/drawingml/2006/main">
              <a:ext uri="{FF2B5EF4-FFF2-40B4-BE49-F238E27FC236}">
                <a16:creationId xmlns:a16="http://schemas.microsoft.com/office/drawing/2014/main" id="{AE36142E-6316-4B8E-B5CC-B5556B958924}"/>
              </a:ext>
            </a:extLst>
          </p:cNvPr>
          <p:cNvSpPr>
            <a:spLocks xmlns:a="http://schemas.openxmlformats.org/drawingml/2006/main" noGrp="1"/>
          </p:cNvSpPr>
          <p:nvPr/>
        </p:nvSpPr>
        <p:spPr>
          <a:xfrm xmlns:a="http://schemas.openxmlformats.org/drawingml/2006/main">
            <a:off x="4314825"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76B87"/>
                </a:solidFill>
                <a:latin typeface="Arial"/>
                <a:ea typeface="Arial"/>
                <a:cs typeface="Arial"/>
              </a:defRPr>
            </a:defPPr>
            <a:lvl1pPr algn="l">
              <a:defRPr sz="2250" b="1">
                <a:solidFill>
                  <a:srgbClr val="176B87"/>
                </a:solidFill>
                <a:latin typeface="Arial"/>
                <a:ea typeface="Arial"/>
                <a:cs typeface="Arial"/>
              </a:defRPr>
            </a:lvl1pPr>
            <a:lvl2pPr algn="l">
              <a:defRPr sz="2250" b="1">
                <a:solidFill>
                  <a:srgbClr val="176B87"/>
                </a:solidFill>
                <a:latin typeface="Arial"/>
                <a:ea typeface="Arial"/>
                <a:cs typeface="Arial"/>
              </a:defRPr>
            </a:lvl2pPr>
            <a:lvl3pPr algn="l">
              <a:defRPr sz="2250" b="1">
                <a:solidFill>
                  <a:srgbClr val="176B87"/>
                </a:solidFill>
                <a:latin typeface="Arial"/>
                <a:ea typeface="Arial"/>
                <a:cs typeface="Arial"/>
              </a:defRPr>
            </a:lvl3pPr>
            <a:lvl4pPr algn="l">
              <a:defRPr sz="2250" b="1">
                <a:solidFill>
                  <a:srgbClr val="176B87"/>
                </a:solidFill>
                <a:latin typeface="Arial"/>
                <a:ea typeface="Arial"/>
                <a:cs typeface="Arial"/>
              </a:defRPr>
            </a:lvl4pPr>
            <a:lvl5pPr algn="l">
              <a:defRPr sz="2250" b="1">
                <a:solidFill>
                  <a:srgbClr val="176B87"/>
                </a:solidFill>
                <a:latin typeface="Arial"/>
                <a:ea typeface="Arial"/>
                <a:cs typeface="Arial"/>
              </a:defRPr>
            </a:lvl5pPr>
            <a:lvl6pPr algn="l">
              <a:defRPr sz="2250" b="1">
                <a:solidFill>
                  <a:srgbClr val="176B87"/>
                </a:solidFill>
                <a:latin typeface="Arial"/>
                <a:ea typeface="Arial"/>
                <a:cs typeface="Arial"/>
              </a:defRPr>
            </a:lvl6pPr>
            <a:lvl7pPr algn="l">
              <a:defRPr sz="2250" b="1">
                <a:solidFill>
                  <a:srgbClr val="176B87"/>
                </a:solidFill>
                <a:latin typeface="Arial"/>
                <a:ea typeface="Arial"/>
                <a:cs typeface="Arial"/>
              </a:defRPr>
            </a:lvl7pPr>
            <a:lvl8pPr algn="l">
              <a:defRPr sz="2250" b="1">
                <a:solidFill>
                  <a:srgbClr val="176B87"/>
                </a:solidFill>
                <a:latin typeface="Arial"/>
                <a:ea typeface="Arial"/>
                <a:cs typeface="Arial"/>
              </a:defRPr>
            </a:lvl8pPr>
            <a:lvl9pPr algn="l">
              <a:defRPr sz="2250" b="1">
                <a:solidFill>
                  <a:srgbClr val="176B87"/>
                </a:solidFill>
                <a:latin typeface="Arial"/>
                <a:ea typeface="Arial"/>
                <a:cs typeface="Arial"/>
              </a:defRPr>
            </a:lvl9pPr>
          </a:lstStyle>
          <a:p xmlns:a="http://schemas.openxmlformats.org/drawingml/2006/main">
            <a:pPr algn="l">
              <a:defRPr sz="2250" b="1">
                <a:solidFill>
                  <a:srgbClr val="176B87"/>
                </a:solidFill>
                <a:latin typeface="Arial"/>
                <a:ea typeface="Arial"/>
                <a:cs typeface="Arial"/>
              </a:defRPr>
            </a:pPr>
            <a:r>
              <a:rPr sz="2250" b="1">
                <a:solidFill>
                  <a:srgbClr val="176B87"/>
                </a:solidFill>
                <a:latin typeface="Arial"/>
                <a:ea typeface="Arial"/>
                <a:cs typeface="Arial"/>
              </a:rPr>
              <a:t>Véhicule</a:t>
            </a:r>
          </a:p>
        </p:txBody>
      </p:sp>
      <p:sp>
        <p:nvSpPr>
          <p:cNvPr id="10" name="subject-1-line">
            <a:extLst xmlns:a="http://schemas.openxmlformats.org/drawingml/2006/main">
              <a:ext uri="{FF2B5EF4-FFF2-40B4-BE49-F238E27FC236}">
                <a16:creationId xmlns:a16="http://schemas.microsoft.com/office/drawing/2014/main" id="{DE7D8CE6-1650-43C0-A463-A164F7EE1322}"/>
              </a:ext>
            </a:extLst>
          </p:cNvPr>
          <p:cNvSpPr>
            <a:spLocks xmlns:a="http://schemas.openxmlformats.org/drawingml/2006/main" noGrp="1"/>
          </p:cNvSpPr>
          <p:nvPr/>
        </p:nvSpPr>
        <p:spPr>
          <a:xfrm xmlns:a="http://schemas.openxmlformats.org/drawingml/2006/main">
            <a:off x="4314825" y="4667250"/>
            <a:ext cx="552450" cy="381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1" name="subject-1-body">
            <a:extLst xmlns:a="http://schemas.openxmlformats.org/drawingml/2006/main">
              <a:ext uri="{FF2B5EF4-FFF2-40B4-BE49-F238E27FC236}">
                <a16:creationId xmlns:a16="http://schemas.microsoft.com/office/drawing/2014/main" id="{AE6126F4-B366-4AD4-AA5D-2D2356F2644A}"/>
              </a:ext>
            </a:extLst>
          </p:cNvPr>
          <p:cNvSpPr>
            <a:spLocks xmlns:a="http://schemas.openxmlformats.org/drawingml/2006/main" noGrp="1"/>
          </p:cNvSpPr>
          <p:nvPr/>
        </p:nvSpPr>
        <p:spPr>
          <a:xfrm xmlns:a="http://schemas.openxmlformats.org/drawingml/2006/main">
            <a:off x="4314825"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type et caractéristiques</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véhicules impliqués</a:t>
            </a:r>
          </a:p>
        </p:txBody>
      </p:sp>
      <p:sp>
        <p:nvSpPr>
          <p:cNvPr id="12" name="subject-2-head">
            <a:extLst xmlns:a="http://schemas.openxmlformats.org/drawingml/2006/main">
              <a:ext uri="{FF2B5EF4-FFF2-40B4-BE49-F238E27FC236}">
                <a16:creationId xmlns:a16="http://schemas.microsoft.com/office/drawing/2014/main" id="{3A34DF60-D473-4344-8140-EB093DBA7539}"/>
              </a:ext>
            </a:extLst>
          </p:cNvPr>
          <p:cNvSpPr>
            <a:spLocks xmlns:a="http://schemas.openxmlformats.org/drawingml/2006/main" noGrp="1"/>
          </p:cNvSpPr>
          <p:nvPr/>
        </p:nvSpPr>
        <p:spPr>
          <a:xfrm xmlns:a="http://schemas.openxmlformats.org/drawingml/2006/main">
            <a:off x="788670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Victime</a:t>
            </a:r>
          </a:p>
        </p:txBody>
      </p:sp>
      <p:sp>
        <p:nvSpPr>
          <p:cNvPr id="13" name="subject-2-line">
            <a:extLst xmlns:a="http://schemas.openxmlformats.org/drawingml/2006/main">
              <a:ext uri="{FF2B5EF4-FFF2-40B4-BE49-F238E27FC236}">
                <a16:creationId xmlns:a16="http://schemas.microsoft.com/office/drawing/2014/main" id="{0C70BF6C-888A-4B88-9619-4ED23381DB66}"/>
              </a:ext>
            </a:extLst>
          </p:cNvPr>
          <p:cNvSpPr>
            <a:spLocks xmlns:a="http://schemas.openxmlformats.org/drawingml/2006/main" noGrp="1"/>
          </p:cNvSpPr>
          <p:nvPr/>
        </p:nvSpPr>
        <p:spPr>
          <a:xfrm xmlns:a="http://schemas.openxmlformats.org/drawingml/2006/main">
            <a:off x="788670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4" name="subject-2-body">
            <a:extLst xmlns:a="http://schemas.openxmlformats.org/drawingml/2006/main">
              <a:ext uri="{FF2B5EF4-FFF2-40B4-BE49-F238E27FC236}">
                <a16:creationId xmlns:a16="http://schemas.microsoft.com/office/drawing/2014/main" id="{84E8089B-E33F-4F51-AEAB-2A596BF9F7F9}"/>
              </a:ext>
            </a:extLst>
          </p:cNvPr>
          <p:cNvSpPr>
            <a:spLocks xmlns:a="http://schemas.openxmlformats.org/drawingml/2006/main" noGrp="1"/>
          </p:cNvSpPr>
          <p:nvPr/>
        </p:nvSpPr>
        <p:spPr>
          <a:xfrm xmlns:a="http://schemas.openxmlformats.org/drawingml/2006/main">
            <a:off x="788670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profil et gravité</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blessures enregistrées</a:t>
            </a:r>
          </a:p>
        </p:txBody>
      </p:sp>
      <p:sp>
        <p:nvSpPr>
          <p:cNvPr id="15" name="subject-source">
            <a:extLst xmlns:a="http://schemas.openxmlformats.org/drawingml/2006/main">
              <a:ext uri="{FF2B5EF4-FFF2-40B4-BE49-F238E27FC236}">
                <a16:creationId xmlns:a16="http://schemas.microsoft.com/office/drawing/2014/main" id="{BDFC4D30-04D5-4938-AD61-DEE5DC841F65}"/>
              </a:ext>
            </a:extLst>
          </p:cNvPr>
          <p:cNvSpPr>
            <a:spLocks xmlns:a="http://schemas.openxmlformats.org/drawingml/2006/main" noGrp="1"/>
          </p:cNvSpPr>
          <p:nvPr/>
        </p:nvSpPr>
        <p:spPr>
          <a:xfrm xmlns:a="http://schemas.openxmlformats.org/drawingml/2006/main">
            <a:off x="742950" y="6115050"/>
            <a:ext cx="714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Department for Transport, STATS19 open data</a:t>
            </a:r>
          </a:p>
        </p:txBody>
      </p:sp>
    </p:spTree>
    <p:extLst>
      <p:ext uri="{BB962C8B-B14F-4D97-AF65-F5344CB8AC3E}">
        <p14:creationId xmlns:p14="http://schemas.microsoft.com/office/powerpoint/2010/main" val="1152392485"/>
      </p:ext>
    </p:extLst>
  </p:cSld>
</p:sld>
</file>

<file path=ppt/slides/slide3.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4" name="title-3">
            <a:extLst xmlns:a="http://schemas.openxmlformats.org/drawingml/2006/main">
              <a:ext uri="{FF2B5EF4-FFF2-40B4-BE49-F238E27FC236}">
                <a16:creationId xmlns:a16="http://schemas.microsoft.com/office/drawing/2014/main" id="{B945D0CD-B719-4591-A535-0451A546AD9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Compréhension métier</a:t>
            </a:r>
          </a:p>
        </p:txBody>
      </p:sp>
      <p:sp>
        <p:nvSpPr>
          <p:cNvPr id="2" name="title-rule-3">
            <a:extLst xmlns:a="http://schemas.openxmlformats.org/drawingml/2006/main">
              <a:ext uri="{FF2B5EF4-FFF2-40B4-BE49-F238E27FC236}">
                <a16:creationId xmlns:a16="http://schemas.microsoft.com/office/drawing/2014/main" id="{4E0C0BE0-6A44-47A5-A0A6-F63D4AE2CDF6}"/>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3">
            <a:extLst xmlns:a="http://schemas.openxmlformats.org/drawingml/2006/main">
              <a:ext uri="{FF2B5EF4-FFF2-40B4-BE49-F238E27FC236}">
                <a16:creationId xmlns:a16="http://schemas.microsoft.com/office/drawing/2014/main" id="{C4889FC8-53FD-4114-BE89-026014453346}"/>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03</a:t>
            </a:r>
          </a:p>
        </p:txBody>
      </p:sp>
      <p:sp>
        <p:nvSpPr>
          <p:cNvPr id="4" name="business-lead">
            <a:extLst xmlns:a="http://schemas.openxmlformats.org/drawingml/2006/main">
              <a:ext uri="{FF2B5EF4-FFF2-40B4-BE49-F238E27FC236}">
                <a16:creationId xmlns:a16="http://schemas.microsoft.com/office/drawing/2014/main" id="{B69B6989-5278-4E69-8D37-309096575221}"/>
              </a:ext>
            </a:extLst>
          </p:cNvPr>
          <p:cNvSpPr>
            <a:spLocks xmlns:a="http://schemas.openxmlformats.org/drawingml/2006/main" noGrp="1"/>
          </p:cNvSpPr>
          <p:nvPr/>
        </p:nvSpPr>
        <p:spPr>
          <a:xfrm xmlns:a="http://schemas.openxmlformats.org/drawingml/2006/main">
            <a:off x="742950" y="15811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625" b="1">
                <a:solidFill>
                  <a:srgbClr val="10283F"/>
                </a:solidFill>
                <a:latin typeface="Arial"/>
                <a:ea typeface="Arial"/>
                <a:cs typeface="Arial"/>
              </a:defRPr>
            </a:defPPr>
            <a:lvl1pPr algn="l">
              <a:defRPr sz="2625" b="1">
                <a:solidFill>
                  <a:srgbClr val="10283F"/>
                </a:solidFill>
                <a:latin typeface="Arial"/>
                <a:ea typeface="Arial"/>
                <a:cs typeface="Arial"/>
              </a:defRPr>
            </a:lvl1pPr>
            <a:lvl2pPr algn="l">
              <a:defRPr sz="2625" b="1">
                <a:solidFill>
                  <a:srgbClr val="10283F"/>
                </a:solidFill>
                <a:latin typeface="Arial"/>
                <a:ea typeface="Arial"/>
                <a:cs typeface="Arial"/>
              </a:defRPr>
            </a:lvl2pPr>
            <a:lvl3pPr algn="l">
              <a:defRPr sz="2625" b="1">
                <a:solidFill>
                  <a:srgbClr val="10283F"/>
                </a:solidFill>
                <a:latin typeface="Arial"/>
                <a:ea typeface="Arial"/>
                <a:cs typeface="Arial"/>
              </a:defRPr>
            </a:lvl3pPr>
            <a:lvl4pPr algn="l">
              <a:defRPr sz="2625" b="1">
                <a:solidFill>
                  <a:srgbClr val="10283F"/>
                </a:solidFill>
                <a:latin typeface="Arial"/>
                <a:ea typeface="Arial"/>
                <a:cs typeface="Arial"/>
              </a:defRPr>
            </a:lvl4pPr>
            <a:lvl5pPr algn="l">
              <a:defRPr sz="2625" b="1">
                <a:solidFill>
                  <a:srgbClr val="10283F"/>
                </a:solidFill>
                <a:latin typeface="Arial"/>
                <a:ea typeface="Arial"/>
                <a:cs typeface="Arial"/>
              </a:defRPr>
            </a:lvl5pPr>
            <a:lvl6pPr algn="l">
              <a:defRPr sz="2625" b="1">
                <a:solidFill>
                  <a:srgbClr val="10283F"/>
                </a:solidFill>
                <a:latin typeface="Arial"/>
                <a:ea typeface="Arial"/>
                <a:cs typeface="Arial"/>
              </a:defRPr>
            </a:lvl6pPr>
            <a:lvl7pPr algn="l">
              <a:defRPr sz="2625" b="1">
                <a:solidFill>
                  <a:srgbClr val="10283F"/>
                </a:solidFill>
                <a:latin typeface="Arial"/>
                <a:ea typeface="Arial"/>
                <a:cs typeface="Arial"/>
              </a:defRPr>
            </a:lvl7pPr>
            <a:lvl8pPr algn="l">
              <a:defRPr sz="2625" b="1">
                <a:solidFill>
                  <a:srgbClr val="10283F"/>
                </a:solidFill>
                <a:latin typeface="Arial"/>
                <a:ea typeface="Arial"/>
                <a:cs typeface="Arial"/>
              </a:defRPr>
            </a:lvl8pPr>
            <a:lvl9pPr algn="l">
              <a:defRPr sz="2625" b="1">
                <a:solidFill>
                  <a:srgbClr val="10283F"/>
                </a:solidFill>
                <a:latin typeface="Arial"/>
                <a:ea typeface="Arial"/>
                <a:cs typeface="Arial"/>
              </a:defRPr>
            </a:lvl9pPr>
          </a:lstStyle>
          <a:p xmlns:a="http://schemas.openxmlformats.org/drawingml/2006/main">
            <a:pPr algn="l">
              <a:defRPr sz="2625" b="1">
                <a:solidFill>
                  <a:srgbClr val="10283F"/>
                </a:solidFill>
                <a:latin typeface="Arial"/>
                <a:ea typeface="Arial"/>
                <a:cs typeface="Arial"/>
              </a:defRPr>
            </a:pPr>
            <a:r>
              <a:rPr sz="2625" b="1">
                <a:solidFill>
                  <a:srgbClr val="10283F"/>
                </a:solidFill>
                <a:latin typeface="Arial"/>
                <a:ea typeface="Arial"/>
                <a:cs typeface="Arial"/>
              </a:rPr>
              <a:t>Aider les acteurs à choisir où approfondir l’analyse.</a:t>
            </a:r>
          </a:p>
        </p:txBody>
      </p:sp>
      <p:sp>
        <p:nvSpPr>
          <p:cNvPr id="5" name="business-actors-label">
            <a:extLst xmlns:a="http://schemas.openxmlformats.org/drawingml/2006/main">
              <a:ext uri="{FF2B5EF4-FFF2-40B4-BE49-F238E27FC236}">
                <a16:creationId xmlns:a16="http://schemas.microsoft.com/office/drawing/2014/main" id="{798C1B5C-640D-4741-904F-B7FFF89937A3}"/>
              </a:ext>
            </a:extLst>
          </p:cNvPr>
          <p:cNvSpPr>
            <a:spLocks xmlns:a="http://schemas.openxmlformats.org/drawingml/2006/main" noGrp="1"/>
          </p:cNvSpPr>
          <p:nvPr/>
        </p:nvSpPr>
        <p:spPr>
          <a:xfrm xmlns:a="http://schemas.openxmlformats.org/drawingml/2006/main">
            <a:off x="74295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ACTEURS</a:t>
            </a:r>
          </a:p>
        </p:txBody>
      </p:sp>
      <p:sp>
        <p:nvSpPr>
          <p:cNvPr id="6" name="business-actors">
            <a:extLst xmlns:a="http://schemas.openxmlformats.org/drawingml/2006/main">
              <a:ext uri="{FF2B5EF4-FFF2-40B4-BE49-F238E27FC236}">
                <a16:creationId xmlns:a16="http://schemas.microsoft.com/office/drawing/2014/main" id="{088CB739-455A-49B3-985B-0FCDA2E6A33A}"/>
              </a:ext>
            </a:extLst>
          </p:cNvPr>
          <p:cNvSpPr>
            <a:spLocks xmlns:a="http://schemas.openxmlformats.org/drawingml/2006/main" noGrp="1"/>
          </p:cNvSpPr>
          <p:nvPr/>
        </p:nvSpPr>
        <p:spPr>
          <a:xfrm xmlns:a="http://schemas.openxmlformats.org/drawingml/2006/main">
            <a:off x="742950" y="3076575"/>
            <a:ext cx="285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DfT · autorités locales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Police · chercheurs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Usagers de la route</a:t>
            </a:r>
          </a:p>
        </p:txBody>
      </p:sp>
      <p:sp>
        <p:nvSpPr>
          <p:cNvPr id="7" name="business-divider-a">
            <a:extLst xmlns:a="http://schemas.openxmlformats.org/drawingml/2006/main">
              <a:ext uri="{FF2B5EF4-FFF2-40B4-BE49-F238E27FC236}">
                <a16:creationId xmlns:a16="http://schemas.microsoft.com/office/drawing/2014/main" id="{7A5E6BBC-F7BE-4A0E-A641-18C22955C548}"/>
              </a:ext>
            </a:extLst>
          </p:cNvPr>
          <p:cNvSpPr>
            <a:spLocks xmlns:a="http://schemas.openxmlformats.org/drawingml/2006/main" noGrp="1"/>
          </p:cNvSpPr>
          <p:nvPr/>
        </p:nvSpPr>
        <p:spPr>
          <a:xfrm xmlns:a="http://schemas.openxmlformats.org/drawingml/2006/main">
            <a:off x="394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8" name="business-question-label">
            <a:extLst xmlns:a="http://schemas.openxmlformats.org/drawingml/2006/main">
              <a:ext uri="{FF2B5EF4-FFF2-40B4-BE49-F238E27FC236}">
                <a16:creationId xmlns:a16="http://schemas.microsoft.com/office/drawing/2014/main" id="{42808DFB-4073-48A6-8F24-4250A659A09A}"/>
              </a:ext>
            </a:extLst>
          </p:cNvPr>
          <p:cNvSpPr>
            <a:spLocks xmlns:a="http://schemas.openxmlformats.org/drawingml/2006/main" noGrp="1"/>
          </p:cNvSpPr>
          <p:nvPr/>
        </p:nvSpPr>
        <p:spPr>
          <a:xfrm xmlns:a="http://schemas.openxmlformats.org/drawingml/2006/main">
            <a:off x="445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BESOIN</a:t>
            </a:r>
          </a:p>
        </p:txBody>
      </p:sp>
      <p:sp>
        <p:nvSpPr>
          <p:cNvPr id="9" name="business-question">
            <a:extLst xmlns:a="http://schemas.openxmlformats.org/drawingml/2006/main">
              <a:ext uri="{FF2B5EF4-FFF2-40B4-BE49-F238E27FC236}">
                <a16:creationId xmlns:a16="http://schemas.microsoft.com/office/drawing/2014/main" id="{67B6012C-5B98-4AE8-A82E-E011ED0336D4}"/>
              </a:ext>
            </a:extLst>
          </p:cNvPr>
          <p:cNvSpPr>
            <a:spLocks xmlns:a="http://schemas.openxmlformats.org/drawingml/2006/main" noGrp="1"/>
          </p:cNvSpPr>
          <p:nvPr/>
        </p:nvSpPr>
        <p:spPr>
          <a:xfrm xmlns:a="http://schemas.openxmlformats.org/drawingml/2006/main">
            <a:off x="4457700" y="3076575"/>
            <a:ext cx="295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Repérer les périodes et contextes où les collisions corporelles enregistrées se concentrent.</a:t>
            </a:r>
          </a:p>
        </p:txBody>
      </p:sp>
      <p:sp>
        <p:nvSpPr>
          <p:cNvPr id="10" name="business-divider-b">
            <a:extLst xmlns:a="http://schemas.openxmlformats.org/drawingml/2006/main">
              <a:ext uri="{FF2B5EF4-FFF2-40B4-BE49-F238E27FC236}">
                <a16:creationId xmlns:a16="http://schemas.microsoft.com/office/drawing/2014/main" id="{A804C9BC-FF30-4DC0-A8F1-A64BF4594F49}"/>
              </a:ext>
            </a:extLst>
          </p:cNvPr>
          <p:cNvSpPr>
            <a:spLocks xmlns:a="http://schemas.openxmlformats.org/drawingml/2006/main" noGrp="1"/>
          </p:cNvSpPr>
          <p:nvPr/>
        </p:nvSpPr>
        <p:spPr>
          <a:xfrm xmlns:a="http://schemas.openxmlformats.org/drawingml/2006/main">
            <a:off x="775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1" name="business-output-label">
            <a:extLst xmlns:a="http://schemas.openxmlformats.org/drawingml/2006/main">
              <a:ext uri="{FF2B5EF4-FFF2-40B4-BE49-F238E27FC236}">
                <a16:creationId xmlns:a16="http://schemas.microsoft.com/office/drawing/2014/main" id="{2679C916-2B1F-4BCD-85A8-1980DF0EAAC7}"/>
              </a:ext>
            </a:extLst>
          </p:cNvPr>
          <p:cNvSpPr>
            <a:spLocks xmlns:a="http://schemas.openxmlformats.org/drawingml/2006/main" noGrp="1"/>
          </p:cNvSpPr>
          <p:nvPr/>
        </p:nvSpPr>
        <p:spPr>
          <a:xfrm xmlns:a="http://schemas.openxmlformats.org/drawingml/2006/main">
            <a:off x="826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USAGE</a:t>
            </a:r>
          </a:p>
        </p:txBody>
      </p:sp>
      <p:sp>
        <p:nvSpPr>
          <p:cNvPr id="12" name="business-output">
            <a:extLst xmlns:a="http://schemas.openxmlformats.org/drawingml/2006/main">
              <a:ext uri="{FF2B5EF4-FFF2-40B4-BE49-F238E27FC236}">
                <a16:creationId xmlns:a16="http://schemas.microsoft.com/office/drawing/2014/main" id="{8AB519CD-9CA4-4B51-B29C-86BB132ED083}"/>
              </a:ext>
            </a:extLst>
          </p:cNvPr>
          <p:cNvSpPr>
            <a:spLocks xmlns:a="http://schemas.openxmlformats.org/drawingml/2006/main" noGrp="1"/>
          </p:cNvSpPr>
          <p:nvPr/>
        </p:nvSpPr>
        <p:spPr>
          <a:xfrm xmlns:a="http://schemas.openxmlformats.org/drawingml/2006/main">
            <a:off x="8267700" y="3076575"/>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Orienter une investigation locale et préparer des hypothèses à vérifier avec des données d’exposition.</a:t>
            </a:r>
          </a:p>
        </p:txBody>
      </p:sp>
      <p:sp>
        <p:nvSpPr>
          <p:cNvPr id="13" name="business-caveat">
            <a:extLst xmlns:a="http://schemas.openxmlformats.org/drawingml/2006/main">
              <a:ext uri="{FF2B5EF4-FFF2-40B4-BE49-F238E27FC236}">
                <a16:creationId xmlns:a16="http://schemas.microsoft.com/office/drawing/2014/main" id="{A7570402-2FCB-4ADF-9EBE-C6E076C1B744}"/>
              </a:ext>
            </a:extLst>
          </p:cNvPr>
          <p:cNvSpPr>
            <a:spLocks xmlns:a="http://schemas.openxmlformats.org/drawingml/2006/main" noGrp="1"/>
          </p:cNvSpPr>
          <p:nvPr/>
        </p:nvSpPr>
        <p:spPr>
          <a:xfrm xmlns:a="http://schemas.openxmlformats.org/drawingml/2006/main">
            <a:off x="742950" y="52768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C75A55"/>
                </a:solidFill>
                <a:latin typeface="Arial"/>
                <a:ea typeface="Arial"/>
                <a:cs typeface="Arial"/>
              </a:defRPr>
            </a:defPPr>
            <a:lvl1pPr algn="l">
              <a:defRPr sz="1650" b="1">
                <a:solidFill>
                  <a:srgbClr val="C75A55"/>
                </a:solidFill>
                <a:latin typeface="Arial"/>
                <a:ea typeface="Arial"/>
                <a:cs typeface="Arial"/>
              </a:defRPr>
            </a:lvl1pPr>
            <a:lvl2pPr algn="l">
              <a:defRPr sz="1650" b="1">
                <a:solidFill>
                  <a:srgbClr val="C75A55"/>
                </a:solidFill>
                <a:latin typeface="Arial"/>
                <a:ea typeface="Arial"/>
                <a:cs typeface="Arial"/>
              </a:defRPr>
            </a:lvl2pPr>
            <a:lvl3pPr algn="l">
              <a:defRPr sz="1650" b="1">
                <a:solidFill>
                  <a:srgbClr val="C75A55"/>
                </a:solidFill>
                <a:latin typeface="Arial"/>
                <a:ea typeface="Arial"/>
                <a:cs typeface="Arial"/>
              </a:defRPr>
            </a:lvl3pPr>
            <a:lvl4pPr algn="l">
              <a:defRPr sz="1650" b="1">
                <a:solidFill>
                  <a:srgbClr val="C75A55"/>
                </a:solidFill>
                <a:latin typeface="Arial"/>
                <a:ea typeface="Arial"/>
                <a:cs typeface="Arial"/>
              </a:defRPr>
            </a:lvl4pPr>
            <a:lvl5pPr algn="l">
              <a:defRPr sz="1650" b="1">
                <a:solidFill>
                  <a:srgbClr val="C75A55"/>
                </a:solidFill>
                <a:latin typeface="Arial"/>
                <a:ea typeface="Arial"/>
                <a:cs typeface="Arial"/>
              </a:defRPr>
            </a:lvl5pPr>
            <a:lvl6pPr algn="l">
              <a:defRPr sz="1650" b="1">
                <a:solidFill>
                  <a:srgbClr val="C75A55"/>
                </a:solidFill>
                <a:latin typeface="Arial"/>
                <a:ea typeface="Arial"/>
                <a:cs typeface="Arial"/>
              </a:defRPr>
            </a:lvl6pPr>
            <a:lvl7pPr algn="l">
              <a:defRPr sz="1650" b="1">
                <a:solidFill>
                  <a:srgbClr val="C75A55"/>
                </a:solidFill>
                <a:latin typeface="Arial"/>
                <a:ea typeface="Arial"/>
                <a:cs typeface="Arial"/>
              </a:defRPr>
            </a:lvl7pPr>
            <a:lvl8pPr algn="l">
              <a:defRPr sz="1650" b="1">
                <a:solidFill>
                  <a:srgbClr val="C75A55"/>
                </a:solidFill>
                <a:latin typeface="Arial"/>
                <a:ea typeface="Arial"/>
                <a:cs typeface="Arial"/>
              </a:defRPr>
            </a:lvl8pPr>
            <a:lvl9pPr algn="l">
              <a:defRPr sz="1650" b="1">
                <a:solidFill>
                  <a:srgbClr val="C75A55"/>
                </a:solidFill>
                <a:latin typeface="Arial"/>
                <a:ea typeface="Arial"/>
                <a:cs typeface="Arial"/>
              </a:defRPr>
            </a:lvl9pPr>
          </a:lstStyle>
          <a:p xmlns:a="http://schemas.openxmlformats.org/drawingml/2006/main">
            <a:pPr algn="l">
              <a:defRPr sz="1650" b="1">
                <a:solidFill>
                  <a:srgbClr val="C75A55"/>
                </a:solidFill>
                <a:latin typeface="Arial"/>
                <a:ea typeface="Arial"/>
                <a:cs typeface="Arial"/>
              </a:defRPr>
            </a:pPr>
            <a:r>
              <a:rPr sz="1650" b="1">
                <a:solidFill>
                  <a:srgbClr val="C75A55"/>
                </a:solidFill>
                <a:latin typeface="Arial"/>
                <a:ea typeface="Arial"/>
                <a:cs typeface="Arial"/>
              </a:rPr>
              <a:t>Un volume de collisions décrit les enregistrements, pas le risque par déplacement.</a:t>
            </a:r>
          </a:p>
        </p:txBody>
      </p:sp>
    </p:spTree>
    <p:extLst>
      <p:ext uri="{BB962C8B-B14F-4D97-AF65-F5344CB8AC3E}">
        <p14:creationId xmlns:p14="http://schemas.microsoft.com/office/powerpoint/2010/main" val="17394349"/>
      </p:ext>
    </p:extLst>
  </p:cSld>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5" name="title-4">
            <a:extLst>
              <a:ext uri="{FF2B5EF4-FFF2-40B4-BE49-F238E27FC236}">
                <a16:creationId id="{70DE0857-644E-4097-B160-5E4BD52FE0AB}"/>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Objectifs de machine learning</a:t>
            </a:r>
          </a:p>
        </p:txBody>
      </p:sp>
      <p:sp>
        <p:nvSpPr>
          <p:cNvPr id="2" name="title-rule-4">
            <a:extLst>
              <a:ext uri="{FF2B5EF4-FFF2-40B4-BE49-F238E27FC236}">
                <a16:creationId id="{69F27988-B45E-4004-B2C0-ADFE14CF5FAC}"/>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4">
            <a:extLst>
              <a:ext uri="{FF2B5EF4-FFF2-40B4-BE49-F238E27FC236}">
                <a16:creationId id="{6B578508-C573-4D42-99F0-B1B2A5A4A09B}"/>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04</a:t>
            </a:r>
          </a:p>
        </p:txBody>
      </p:sp>
      <p:sp>
        <p:nvSpPr>
          <p:cNvPr id="4" name="goal-0-number">
            <a:extLst>
              <a:ext uri="{FF2B5EF4-FFF2-40B4-BE49-F238E27FC236}">
                <a16:creationId id="{33B26DB5-F52B-4C65-BCEA-1512CC8B923A}"/>
              </a:ext>
            </a:extLst>
          </p:cNvPr>
          <p:cNvSpPr>
            <a:spLocks noGrp="1"/>
          </p:cNvSpPr>
          <p:nvPr/>
        </p:nvSpPr>
        <p:spPr>
          <a:xfrm>
            <a:off x="742950" y="165735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01</a:t>
            </a:r>
          </a:p>
        </p:txBody>
      </p:sp>
      <p:sp>
        <p:nvSpPr>
          <p:cNvPr id="5" name="goal-0-heading">
            <a:extLst>
              <a:ext uri="{FF2B5EF4-FFF2-40B4-BE49-F238E27FC236}">
                <a16:creationId id="{0D781F94-2983-40CC-91CB-019771A6E2FD}"/>
              </a:ext>
            </a:extLst>
          </p:cNvPr>
          <p:cNvSpPr>
            <a:spLocks noGrp="1"/>
          </p:cNvSpPr>
          <p:nvPr/>
        </p:nvSpPr>
        <p:spPr>
          <a:xfrm>
            <a:off x="2095500" y="169545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Classifier</a:t>
            </a:r>
          </a:p>
        </p:txBody>
      </p:sp>
      <p:sp>
        <p:nvSpPr>
          <p:cNvPr id="6" name="goal-0-body">
            <a:extLst>
              <a:ext uri="{FF2B5EF4-FFF2-40B4-BE49-F238E27FC236}">
                <a16:creationId id="{DA1DC620-7222-4AFB-A275-DED4417B5B05}"/>
              </a:ext>
            </a:extLst>
          </p:cNvPr>
          <p:cNvSpPr>
            <a:spLocks noGrp="1"/>
          </p:cNvSpPr>
          <p:nvPr/>
        </p:nvSpPr>
        <p:spPr>
          <a:xfrm>
            <a:off x="4572000" y="172402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la gravité enregistrée d’une collision : légère, grave ou mortelle.</a:t>
            </a:r>
          </a:p>
        </p:txBody>
      </p:sp>
      <p:sp>
        <p:nvSpPr>
          <p:cNvPr id="7" name="goal-0-divider">
            <a:extLst>
              <a:ext uri="{FF2B5EF4-FFF2-40B4-BE49-F238E27FC236}">
                <a16:creationId id="{EAEB0DEC-5A3D-4E08-A512-14A2E1BA85FD}"/>
              </a:ext>
            </a:extLst>
          </p:cNvPr>
          <p:cNvSpPr>
            <a:spLocks noGrp="1"/>
          </p:cNvSpPr>
          <p:nvPr/>
        </p:nvSpPr>
        <p:spPr>
          <a:xfrm>
            <a:off x="2095500" y="2724150"/>
            <a:ext cx="9048750" cy="9525"/>
          </a:xfrm>
          <a:prstGeom prst="rect">
            <a:avLst/>
          </a:prstGeom>
          <a:solidFill>
            <a:srgbClr val="D5DEE4"/>
          </a:solidFill>
          <a:ln w="0">
            <a:noFill/>
            <a:prstDash val="solid"/>
          </a:ln>
        </p:spPr>
      </p:sp>
      <p:sp>
        <p:nvSpPr>
          <p:cNvPr id="8" name="goal-1-number">
            <a:extLst>
              <a:ext uri="{FF2B5EF4-FFF2-40B4-BE49-F238E27FC236}">
                <a16:creationId id="{229D7A66-F2CF-4364-8A1C-2ACA631E1861}"/>
              </a:ext>
            </a:extLst>
          </p:cNvPr>
          <p:cNvSpPr>
            <a:spLocks noGrp="1"/>
          </p:cNvSpPr>
          <p:nvPr/>
        </p:nvSpPr>
        <p:spPr>
          <a:xfrm>
            <a:off x="742950" y="308610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02</a:t>
            </a:r>
          </a:p>
        </p:txBody>
      </p:sp>
      <p:sp>
        <p:nvSpPr>
          <p:cNvPr id="9" name="goal-1-heading">
            <a:extLst>
              <a:ext uri="{FF2B5EF4-FFF2-40B4-BE49-F238E27FC236}">
                <a16:creationId id="{0CB3F18F-D8AA-439C-996D-30EFEDA58FB9}"/>
              </a:ext>
            </a:extLst>
          </p:cNvPr>
          <p:cNvSpPr>
            <a:spLocks noGrp="1"/>
          </p:cNvSpPr>
          <p:nvPr/>
        </p:nvSpPr>
        <p:spPr>
          <a:xfrm>
            <a:off x="2095500" y="312420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Classifier</a:t>
            </a:r>
          </a:p>
        </p:txBody>
      </p:sp>
      <p:sp>
        <p:nvSpPr>
          <p:cNvPr id="10" name="goal-1-body">
            <a:extLst>
              <a:ext uri="{FF2B5EF4-FFF2-40B4-BE49-F238E27FC236}">
                <a16:creationId id="{6448F5BE-D924-4072-AD93-53F40BC3A3DA}"/>
              </a:ext>
            </a:extLst>
          </p:cNvPr>
          <p:cNvSpPr>
            <a:spLocks noGrp="1"/>
          </p:cNvSpPr>
          <p:nvPr/>
        </p:nvSpPr>
        <p:spPr>
          <a:xfrm>
            <a:off x="4572000" y="315277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la gravité d’une victime : légère ou grave / mortelle.</a:t>
            </a:r>
          </a:p>
        </p:txBody>
      </p:sp>
      <p:sp>
        <p:nvSpPr>
          <p:cNvPr id="11" name="goal-1-divider">
            <a:extLst>
              <a:ext uri="{FF2B5EF4-FFF2-40B4-BE49-F238E27FC236}">
                <a16:creationId id="{791050A3-D3AC-441B-822B-F2E53421B3B7}"/>
              </a:ext>
            </a:extLst>
          </p:cNvPr>
          <p:cNvSpPr>
            <a:spLocks noGrp="1"/>
          </p:cNvSpPr>
          <p:nvPr/>
        </p:nvSpPr>
        <p:spPr>
          <a:xfrm>
            <a:off x="2095500" y="4152900"/>
            <a:ext cx="9048750" cy="9525"/>
          </a:xfrm>
          <a:prstGeom prst="rect">
            <a:avLst/>
          </a:prstGeom>
          <a:solidFill>
            <a:srgbClr val="D5DEE4"/>
          </a:solidFill>
          <a:ln w="0">
            <a:noFill/>
            <a:prstDash val="solid"/>
          </a:ln>
        </p:spPr>
      </p:sp>
      <p:sp>
        <p:nvSpPr>
          <p:cNvPr id="12" name="goal-2-number">
            <a:extLst>
              <a:ext uri="{FF2B5EF4-FFF2-40B4-BE49-F238E27FC236}">
                <a16:creationId id="{EBF61427-BE16-49A3-85C4-0A88795D2F43}"/>
              </a:ext>
            </a:extLst>
          </p:cNvPr>
          <p:cNvSpPr>
            <a:spLocks noGrp="1"/>
          </p:cNvSpPr>
          <p:nvPr/>
        </p:nvSpPr>
        <p:spPr>
          <a:xfrm>
            <a:off x="742950" y="451485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03</a:t>
            </a:r>
          </a:p>
        </p:txBody>
      </p:sp>
      <p:sp>
        <p:nvSpPr>
          <p:cNvPr id="13" name="goal-2-heading">
            <a:extLst>
              <a:ext uri="{FF2B5EF4-FFF2-40B4-BE49-F238E27FC236}">
                <a16:creationId id="{2B2B5994-6F90-4774-9E47-C0D9E0F27C1A}"/>
              </a:ext>
            </a:extLst>
          </p:cNvPr>
          <p:cNvSpPr>
            <a:spLocks noGrp="1"/>
          </p:cNvSpPr>
          <p:nvPr/>
        </p:nvSpPr>
        <p:spPr>
          <a:xfrm>
            <a:off x="2095500" y="455295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Estimer</a:t>
            </a:r>
          </a:p>
        </p:txBody>
      </p:sp>
      <p:sp>
        <p:nvSpPr>
          <p:cNvPr id="14" name="goal-2-body">
            <a:extLst>
              <a:ext uri="{FF2B5EF4-FFF2-40B4-BE49-F238E27FC236}">
                <a16:creationId id="{80C21C6C-3624-446D-B5E1-2801371DD47B}"/>
              </a:ext>
            </a:extLst>
          </p:cNvPr>
          <p:cNvSpPr>
            <a:spLocks noGrp="1"/>
          </p:cNvSpPr>
          <p:nvPr/>
        </p:nvSpPr>
        <p:spPr>
          <a:xfrm>
            <a:off x="4572000" y="458152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le nombre de victimes par collision, selon le contexte routier et les véhicules impliqués.</a:t>
            </a:r>
          </a:p>
        </p:txBody>
      </p:sp>
      <p:sp>
        <p:nvSpPr>
          <p:cNvPr id="16" name="goal-0-status">
            <a:extLst>
              <a:ext uri="{FF2B5EF4-FFF2-40B4-BE49-F238E27FC236}">
                <a16:creationId id="{0D781F94-2983-40CC-91CB-019771A6E2FD}"/>
              </a:ext>
            </a:extLst>
          </p:cNvPr>
          <p:cNvSpPr>
            <a:spLocks noGrp="1"/>
          </p:cNvSpPr>
          <p:nvPr/>
        </p:nvSpPr>
        <p:spPr>
          <a:xfrm>
            <a:off x="2095500" y="2228850"/>
            <a:ext cx="2381250" cy="26670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1400" b="1">
                <a:solidFill>
                  <a:srgbClr val="176B87"/>
                </a:solidFill>
                <a:latin typeface="Arial"/>
                <a:ea typeface="Arial"/>
                <a:cs typeface="Arial"/>
              </a:rPr>
              <a:t>Réalisé</a:t>
            </a:r>
          </a:p>
        </p:txBody>
      </p:sp>
      <p:sp>
        <p:nvSpPr>
          <p:cNvPr id="17" name="goal-1-status">
            <a:extLst>
              <a:ext uri="{FF2B5EF4-FFF2-40B4-BE49-F238E27FC236}">
                <a16:creationId id="{0CB3F18F-D8AA-439C-996D-30EFEDA58FB9}"/>
              </a:ext>
            </a:extLst>
          </p:cNvPr>
          <p:cNvSpPr>
            <a:spLocks noGrp="1"/>
          </p:cNvSpPr>
          <p:nvPr/>
        </p:nvSpPr>
        <p:spPr>
          <a:xfrm>
            <a:off x="2095500" y="3657600"/>
            <a:ext cx="2381250" cy="26670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1400" b="0">
                <a:solidFill>
                  <a:srgbClr val="54697B"/>
                </a:solidFill>
                <a:latin typeface="Arial"/>
                <a:ea typeface="Arial"/>
                <a:cs typeface="Arial"/>
              </a:rPr>
              <a:t>Prévu pour la suite</a:t>
            </a:r>
          </a:p>
        </p:txBody>
      </p:sp>
      <p:sp>
        <p:nvSpPr>
          <p:cNvPr id="18" name="goal-2-status">
            <a:extLst>
              <a:ext uri="{FF2B5EF4-FFF2-40B4-BE49-F238E27FC236}">
                <a16:creationId id="{2B2B5994-6F90-4774-9E47-C0D9E0F27C1A}"/>
              </a:ext>
            </a:extLst>
          </p:cNvPr>
          <p:cNvSpPr>
            <a:spLocks noGrp="1"/>
          </p:cNvSpPr>
          <p:nvPr/>
        </p:nvSpPr>
        <p:spPr>
          <a:xfrm>
            <a:off x="2095500" y="5086350"/>
            <a:ext cx="2381250" cy="26670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1400" b="0">
                <a:solidFill>
                  <a:srgbClr val="54697B"/>
                </a:solidFill>
                <a:latin typeface="Arial"/>
                <a:ea typeface="Arial"/>
                <a:cs typeface="Arial"/>
              </a:rPr>
              <a:t>Prévu pour la suite</a:t>
            </a:r>
          </a:p>
        </p:txBody>
      </p:sp>
    </p:spTree>
    <p:extLst>
      <p:ext uri="{BB962C8B-B14F-4D97-AF65-F5344CB8AC3E}">
        <p14:creationId val="1893014633"/>
      </p:ext>
    </p:extLst>
  </p:cSld>
</p:sld>
</file>

<file path=ppt/slides/slide5.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618B6FBC-4218-495F-A453-5C1D26790252}"/>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Source et couverture</a:t>
            </a:r>
          </a:p>
        </p:txBody>
      </p:sp>
      <p:sp>
        <p:nvSpPr>
          <p:cNvPr id="2" name="title-rule-5">
            <a:extLst xmlns:a="http://schemas.openxmlformats.org/drawingml/2006/main">
              <a:ext uri="{FF2B5EF4-FFF2-40B4-BE49-F238E27FC236}">
                <a16:creationId xmlns:a16="http://schemas.microsoft.com/office/drawing/2014/main" id="{F5E0CEEC-F29E-4003-9618-F058896A3102}"/>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5">
            <a:extLst xmlns:a="http://schemas.openxmlformats.org/drawingml/2006/main">
              <a:ext uri="{FF2B5EF4-FFF2-40B4-BE49-F238E27FC236}">
                <a16:creationId xmlns:a16="http://schemas.microsoft.com/office/drawing/2014/main" id="{89EF4B29-4A89-4615-B83A-C58311966053}"/>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05</a:t>
            </a:r>
          </a:p>
        </p:txBody>
      </p:sp>
      <p:sp>
        <p:nvSpPr>
          <p:cNvPr id="4" name="scope-window">
            <a:extLst xmlns:a="http://schemas.openxmlformats.org/drawingml/2006/main">
              <a:ext uri="{FF2B5EF4-FFF2-40B4-BE49-F238E27FC236}">
                <a16:creationId xmlns:a16="http://schemas.microsoft.com/office/drawing/2014/main" id="{66937572-6206-4C20-9630-C38759E6C658}"/>
              </a:ext>
            </a:extLst>
          </p:cNvPr>
          <p:cNvSpPr>
            <a:spLocks xmlns:a="http://schemas.openxmlformats.org/drawingml/2006/main" noGrp="1"/>
          </p:cNvSpPr>
          <p:nvPr/>
        </p:nvSpPr>
        <p:spPr>
          <a:xfrm xmlns:a="http://schemas.openxmlformats.org/drawingml/2006/main">
            <a:off x="742950" y="171450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2021–2025</a:t>
            </a:r>
          </a:p>
        </p:txBody>
      </p:sp>
      <p:sp>
        <p:nvSpPr>
          <p:cNvPr id="5" name="scope-window-caption">
            <a:extLst xmlns:a="http://schemas.openxmlformats.org/drawingml/2006/main">
              <a:ext uri="{FF2B5EF4-FFF2-40B4-BE49-F238E27FC236}">
                <a16:creationId xmlns:a16="http://schemas.microsoft.com/office/drawing/2014/main" id="{135E250D-AEF6-42FA-9964-0019E5806726}"/>
              </a:ext>
            </a:extLst>
          </p:cNvPr>
          <p:cNvSpPr>
            <a:spLocks xmlns:a="http://schemas.openxmlformats.org/drawingml/2006/main" noGrp="1"/>
          </p:cNvSpPr>
          <p:nvPr/>
        </p:nvSpPr>
        <p:spPr>
          <a:xfrm xmlns:a="http://schemas.openxmlformats.org/drawingml/2006/main">
            <a:off x="781050" y="24003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cinq années finales disponibles dans l’extrait utilisé</a:t>
            </a:r>
          </a:p>
        </p:txBody>
      </p:sp>
      <p:sp>
        <p:nvSpPr>
          <p:cNvPr id="6" name="scope-coverage-heading">
            <a:extLst xmlns:a="http://schemas.openxmlformats.org/drawingml/2006/main">
              <a:ext uri="{FF2B5EF4-FFF2-40B4-BE49-F238E27FC236}">
                <a16:creationId xmlns:a16="http://schemas.microsoft.com/office/drawing/2014/main" id="{8638991D-5287-4F28-9AAB-17E803D5B5BE}"/>
              </a:ext>
            </a:extLst>
          </p:cNvPr>
          <p:cNvSpPr>
            <a:spLocks xmlns:a="http://schemas.openxmlformats.org/drawingml/2006/main" noGrp="1"/>
          </p:cNvSpPr>
          <p:nvPr/>
        </p:nvSpPr>
        <p:spPr>
          <a:xfrm xmlns:a="http://schemas.openxmlformats.org/drawingml/2006/main">
            <a:off x="742950" y="336232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Couvert</a:t>
            </a:r>
          </a:p>
        </p:txBody>
      </p:sp>
      <p:sp>
        <p:nvSpPr>
          <p:cNvPr id="7" name="scope-coverage">
            <a:extLst xmlns:a="http://schemas.openxmlformats.org/drawingml/2006/main">
              <a:ext uri="{FF2B5EF4-FFF2-40B4-BE49-F238E27FC236}">
                <a16:creationId xmlns:a16="http://schemas.microsoft.com/office/drawing/2014/main" id="{3AEE8DC8-B8DB-4DDF-9509-1D742FFBD452}"/>
              </a:ext>
            </a:extLst>
          </p:cNvPr>
          <p:cNvSpPr>
            <a:spLocks xmlns:a="http://schemas.openxmlformats.org/drawingml/2006/main" noGrp="1"/>
          </p:cNvSpPr>
          <p:nvPr/>
        </p:nvSpPr>
        <p:spPr>
          <a:xfrm xmlns:a="http://schemas.openxmlformats.org/drawingml/2006/main">
            <a:off x="742950" y="3857625"/>
            <a:ext cx="4476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Grande-Bretagne</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Voies publiques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Collisions corporelles déclarées à la police</a:t>
            </a:r>
          </a:p>
        </p:txBody>
      </p:sp>
      <p:sp>
        <p:nvSpPr>
          <p:cNvPr id="8" name="scope-divider">
            <a:extLst xmlns:a="http://schemas.openxmlformats.org/drawingml/2006/main">
              <a:ext uri="{FF2B5EF4-FFF2-40B4-BE49-F238E27FC236}">
                <a16:creationId xmlns:a16="http://schemas.microsoft.com/office/drawing/2014/main" id="{1A524263-57F8-43D0-A913-3E7047CEC389}"/>
              </a:ext>
            </a:extLst>
          </p:cNvPr>
          <p:cNvSpPr>
            <a:spLocks xmlns:a="http://schemas.openxmlformats.org/drawingml/2006/main" noGrp="1"/>
          </p:cNvSpPr>
          <p:nvPr/>
        </p:nvSpPr>
        <p:spPr>
          <a:xfrm xmlns:a="http://schemas.openxmlformats.org/drawingml/2006/main">
            <a:off x="5924550" y="1714500"/>
            <a:ext cx="19050" cy="3733800"/>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cope-boundary-heading">
            <a:extLst xmlns:a="http://schemas.openxmlformats.org/drawingml/2006/main">
              <a:ext uri="{FF2B5EF4-FFF2-40B4-BE49-F238E27FC236}">
                <a16:creationId xmlns:a16="http://schemas.microsoft.com/office/drawing/2014/main" id="{999A4D56-2E1E-4732-8C49-C45136B10FAC}"/>
              </a:ext>
            </a:extLst>
          </p:cNvPr>
          <p:cNvSpPr>
            <a:spLocks xmlns:a="http://schemas.openxmlformats.org/drawingml/2006/main" noGrp="1"/>
          </p:cNvSpPr>
          <p:nvPr/>
        </p:nvSpPr>
        <p:spPr>
          <a:xfrm xmlns:a="http://schemas.openxmlformats.org/drawingml/2006/main">
            <a:off x="6572250" y="17145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À garder en tête</a:t>
            </a:r>
          </a:p>
        </p:txBody>
      </p:sp>
      <p:sp>
        <p:nvSpPr>
          <p:cNvPr id="10" name="scope-boundary">
            <a:extLst xmlns:a="http://schemas.openxmlformats.org/drawingml/2006/main">
              <a:ext uri="{FF2B5EF4-FFF2-40B4-BE49-F238E27FC236}">
                <a16:creationId xmlns:a16="http://schemas.microsoft.com/office/drawing/2014/main" id="{F28277DB-D103-4EBD-A2CA-144E5AC54AA9}"/>
              </a:ext>
            </a:extLst>
          </p:cNvPr>
          <p:cNvSpPr>
            <a:spLocks xmlns:a="http://schemas.openxmlformats.org/drawingml/2006/main" noGrp="1"/>
          </p:cNvSpPr>
          <p:nvPr/>
        </p:nvSpPr>
        <p:spPr>
          <a:xfrm xmlns:a="http://schemas.openxmlformats.org/drawingml/2006/main">
            <a:off x="6572250" y="2362200"/>
            <a:ext cx="457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collisions sans blessé, non déclarées ou sur voies privées ne sont pas représentées.</a:t>
            </a:r>
          </a:p>
          <a:p xmlns:a="http://schemas.openxmlformats.org/drawingml/2006/main">
            <a:r>
              <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champs catégoriels sont codés et doivent être décodés avec le guide officiel.</a:t>
            </a:r>
          </a:p>
        </p:txBody>
      </p:sp>
      <p:sp>
        <p:nvSpPr>
          <p:cNvPr id="11" name="scope-source">
            <a:extLst xmlns:a="http://schemas.openxmlformats.org/drawingml/2006/main">
              <a:ext uri="{FF2B5EF4-FFF2-40B4-BE49-F238E27FC236}">
                <a16:creationId xmlns:a16="http://schemas.microsoft.com/office/drawing/2014/main" id="{E65C4B23-0B6F-466E-91C2-24E47269A7ED}"/>
              </a:ext>
            </a:extLst>
          </p:cNvPr>
          <p:cNvSpPr>
            <a:spLocks xmlns:a="http://schemas.openxmlformats.org/drawingml/2006/main" noGrp="1"/>
          </p:cNvSpPr>
          <p:nvPr/>
        </p:nvSpPr>
        <p:spPr>
          <a:xfrm xmlns:a="http://schemas.openxmlformats.org/drawingml/2006/main">
            <a:off x="742950" y="61150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DfT · dernière année finale dans la source consultée : 2025</a:t>
            </a:r>
          </a:p>
        </p:txBody>
      </p:sp>
    </p:spTree>
    <p:extLst>
      <p:ext uri="{BB962C8B-B14F-4D97-AF65-F5344CB8AC3E}">
        <p14:creationId xmlns:p14="http://schemas.microsoft.com/office/powerpoint/2010/main" val="1880642562"/>
      </p:ext>
    </p:extLst>
  </p:cSld>
</p:sld>
</file>

<file path=ppt/slides/slide6.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5" name="title-6">
            <a:extLst xmlns:a="http://schemas.openxmlformats.org/drawingml/2006/main">
              <a:ext uri="{FF2B5EF4-FFF2-40B4-BE49-F238E27FC236}">
                <a16:creationId xmlns:a16="http://schemas.microsoft.com/office/drawing/2014/main" id="{0B6D3B6C-FDA0-4B6C-BA0D-FA81B293D4F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Modèle des données</a:t>
            </a:r>
          </a:p>
        </p:txBody>
      </p:sp>
      <p:sp>
        <p:nvSpPr>
          <p:cNvPr id="2" name="title-rule-6">
            <a:extLst xmlns:a="http://schemas.openxmlformats.org/drawingml/2006/main">
              <a:ext uri="{FF2B5EF4-FFF2-40B4-BE49-F238E27FC236}">
                <a16:creationId xmlns:a16="http://schemas.microsoft.com/office/drawing/2014/main" id="{B6294E00-3B68-4B87-A3A5-EDF4E849B83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6">
            <a:extLst xmlns:a="http://schemas.openxmlformats.org/drawingml/2006/main">
              <a:ext uri="{FF2B5EF4-FFF2-40B4-BE49-F238E27FC236}">
                <a16:creationId xmlns:a16="http://schemas.microsoft.com/office/drawing/2014/main" id="{7F26CEFC-EB42-407B-9285-4B1B09A8BD42}"/>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06</a:t>
            </a:r>
          </a:p>
        </p:txBody>
      </p:sp>
      <p:sp>
        <p:nvSpPr>
          <p:cNvPr id="4" name="model-box-0">
            <a:extLst xmlns:a="http://schemas.openxmlformats.org/drawingml/2006/main">
              <a:ext uri="{FF2B5EF4-FFF2-40B4-BE49-F238E27FC236}">
                <a16:creationId xmlns:a16="http://schemas.microsoft.com/office/drawing/2014/main" id="{4271AB8E-BA0F-4781-94B7-158E9DD461B1}"/>
              </a:ext>
            </a:extLst>
          </p:cNvPr>
          <p:cNvSpPr>
            <a:spLocks xmlns:a="http://schemas.openxmlformats.org/drawingml/2006/main" noGrp="1"/>
          </p:cNvSpPr>
          <p:nvPr/>
        </p:nvSpPr>
        <p:spPr>
          <a:xfrm xmlns:a="http://schemas.openxmlformats.org/drawingml/2006/main">
            <a:off x="7429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5" name="model-accent-0">
            <a:extLst xmlns:a="http://schemas.openxmlformats.org/drawingml/2006/main">
              <a:ext uri="{FF2B5EF4-FFF2-40B4-BE49-F238E27FC236}">
                <a16:creationId xmlns:a16="http://schemas.microsoft.com/office/drawing/2014/main" id="{C3F6C951-D617-4B97-AABD-B9862841B9D5}"/>
              </a:ext>
            </a:extLst>
          </p:cNvPr>
          <p:cNvSpPr>
            <a:spLocks xmlns:a="http://schemas.openxmlformats.org/drawingml/2006/main" noGrp="1"/>
          </p:cNvSpPr>
          <p:nvPr/>
        </p:nvSpPr>
        <p:spPr>
          <a:xfrm xmlns:a="http://schemas.openxmlformats.org/drawingml/2006/main">
            <a:off x="742950" y="2524125"/>
            <a:ext cx="3143250" cy="666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6" name="model-name-0">
            <a:extLst xmlns:a="http://schemas.openxmlformats.org/drawingml/2006/main">
              <a:ext uri="{FF2B5EF4-FFF2-40B4-BE49-F238E27FC236}">
                <a16:creationId xmlns:a16="http://schemas.microsoft.com/office/drawing/2014/main" id="{066972C8-5122-435E-B047-385B1EB915C8}"/>
              </a:ext>
            </a:extLst>
          </p:cNvPr>
          <p:cNvSpPr>
            <a:spLocks xmlns:a="http://schemas.openxmlformats.org/drawingml/2006/main" noGrp="1"/>
          </p:cNvSpPr>
          <p:nvPr/>
        </p:nvSpPr>
        <p:spPr>
          <a:xfrm xmlns:a="http://schemas.openxmlformats.org/drawingml/2006/main">
            <a:off x="9525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COLLISIONS</a:t>
            </a:r>
          </a:p>
        </p:txBody>
      </p:sp>
      <p:sp>
        <p:nvSpPr>
          <p:cNvPr id="7" name="model-rows-0">
            <a:extLst xmlns:a="http://schemas.openxmlformats.org/drawingml/2006/main">
              <a:ext uri="{FF2B5EF4-FFF2-40B4-BE49-F238E27FC236}">
                <a16:creationId xmlns:a16="http://schemas.microsoft.com/office/drawing/2014/main" id="{9FBE3738-B2B7-4662-B7C2-50C742980E59}"/>
              </a:ext>
            </a:extLst>
          </p:cNvPr>
          <p:cNvSpPr>
            <a:spLocks xmlns:a="http://schemas.openxmlformats.org/drawingml/2006/main" noGrp="1"/>
          </p:cNvSpPr>
          <p:nvPr/>
        </p:nvSpPr>
        <p:spPr>
          <a:xfrm xmlns:a="http://schemas.openxmlformats.org/drawingml/2006/main">
            <a:off x="9525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513 801 lignes · 44 champs</a:t>
            </a:r>
          </a:p>
        </p:txBody>
      </p:sp>
      <p:sp>
        <p:nvSpPr>
          <p:cNvPr id="8" name="model-key-0">
            <a:extLst xmlns:a="http://schemas.openxmlformats.org/drawingml/2006/main">
              <a:ext uri="{FF2B5EF4-FFF2-40B4-BE49-F238E27FC236}">
                <a16:creationId xmlns:a16="http://schemas.microsoft.com/office/drawing/2014/main" id="{C6066686-6CA8-4ECF-BEE0-EE3F95599DB5}"/>
              </a:ext>
            </a:extLst>
          </p:cNvPr>
          <p:cNvSpPr>
            <a:spLocks xmlns:a="http://schemas.openxmlformats.org/drawingml/2006/main" noGrp="1"/>
          </p:cNvSpPr>
          <p:nvPr/>
        </p:nvSpPr>
        <p:spPr>
          <a:xfrm xmlns:a="http://schemas.openxmlformats.org/drawingml/2006/main">
            <a:off x="9525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a:t>
            </a:r>
          </a:p>
        </p:txBody>
      </p:sp>
      <p:sp>
        <p:nvSpPr>
          <p:cNvPr id="9" name="model-box-1">
            <a:extLst xmlns:a="http://schemas.openxmlformats.org/drawingml/2006/main">
              <a:ext uri="{FF2B5EF4-FFF2-40B4-BE49-F238E27FC236}">
                <a16:creationId xmlns:a16="http://schemas.microsoft.com/office/drawing/2014/main" id="{24F0C7C5-626D-4F09-9D00-FDB01C4CE833}"/>
              </a:ext>
            </a:extLst>
          </p:cNvPr>
          <p:cNvSpPr>
            <a:spLocks xmlns:a="http://schemas.openxmlformats.org/drawingml/2006/main" noGrp="1"/>
          </p:cNvSpPr>
          <p:nvPr/>
        </p:nvSpPr>
        <p:spPr>
          <a:xfrm xmlns:a="http://schemas.openxmlformats.org/drawingml/2006/main">
            <a:off x="44767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0" name="model-accent-1">
            <a:extLst xmlns:a="http://schemas.openxmlformats.org/drawingml/2006/main">
              <a:ext uri="{FF2B5EF4-FFF2-40B4-BE49-F238E27FC236}">
                <a16:creationId xmlns:a16="http://schemas.microsoft.com/office/drawing/2014/main" id="{05CFF2D3-E488-41C8-AEB6-CC603713DC38}"/>
              </a:ext>
            </a:extLst>
          </p:cNvPr>
          <p:cNvSpPr>
            <a:spLocks xmlns:a="http://schemas.openxmlformats.org/drawingml/2006/main" noGrp="1"/>
          </p:cNvSpPr>
          <p:nvPr/>
        </p:nvSpPr>
        <p:spPr>
          <a:xfrm xmlns:a="http://schemas.openxmlformats.org/drawingml/2006/main">
            <a:off x="4476750" y="2524125"/>
            <a:ext cx="3143250" cy="66675"/>
          </a:xfrm>
          <a:prstGeom xmlns:a="http://schemas.openxmlformats.org/drawingml/2006/main" prst="rect">
            <a:avLst/>
          </a:prstGeom>
          <a:solidFill xmlns:a="http://schemas.openxmlformats.org/drawingml/2006/main">
            <a:srgbClr val="3A8997"/>
          </a:solidFill>
          <a:ln xmlns:a="http://schemas.openxmlformats.org/drawingml/2006/main" w="0">
            <a:noFill/>
            <a:prstDash val="solid"/>
          </a:ln>
        </p:spPr>
      </p:sp>
      <p:sp>
        <p:nvSpPr>
          <p:cNvPr id="11" name="model-name-1">
            <a:extLst xmlns:a="http://schemas.openxmlformats.org/drawingml/2006/main">
              <a:ext uri="{FF2B5EF4-FFF2-40B4-BE49-F238E27FC236}">
                <a16:creationId xmlns:a16="http://schemas.microsoft.com/office/drawing/2014/main" id="{9C8844E1-CBAB-4E04-845C-AA71902AF10E}"/>
              </a:ext>
            </a:extLst>
          </p:cNvPr>
          <p:cNvSpPr>
            <a:spLocks xmlns:a="http://schemas.openxmlformats.org/drawingml/2006/main" noGrp="1"/>
          </p:cNvSpPr>
          <p:nvPr/>
        </p:nvSpPr>
        <p:spPr>
          <a:xfrm xmlns:a="http://schemas.openxmlformats.org/drawingml/2006/main">
            <a:off x="46863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3A8997"/>
                </a:solidFill>
                <a:latin typeface="Arial"/>
                <a:ea typeface="Arial"/>
                <a:cs typeface="Arial"/>
              </a:defRPr>
            </a:defPPr>
            <a:lvl1pPr algn="l">
              <a:defRPr sz="1875" b="1">
                <a:solidFill>
                  <a:srgbClr val="3A8997"/>
                </a:solidFill>
                <a:latin typeface="Arial"/>
                <a:ea typeface="Arial"/>
                <a:cs typeface="Arial"/>
              </a:defRPr>
            </a:lvl1pPr>
            <a:lvl2pPr algn="l">
              <a:defRPr sz="1875" b="1">
                <a:solidFill>
                  <a:srgbClr val="3A8997"/>
                </a:solidFill>
                <a:latin typeface="Arial"/>
                <a:ea typeface="Arial"/>
                <a:cs typeface="Arial"/>
              </a:defRPr>
            </a:lvl2pPr>
            <a:lvl3pPr algn="l">
              <a:defRPr sz="1875" b="1">
                <a:solidFill>
                  <a:srgbClr val="3A8997"/>
                </a:solidFill>
                <a:latin typeface="Arial"/>
                <a:ea typeface="Arial"/>
                <a:cs typeface="Arial"/>
              </a:defRPr>
            </a:lvl3pPr>
            <a:lvl4pPr algn="l">
              <a:defRPr sz="1875" b="1">
                <a:solidFill>
                  <a:srgbClr val="3A8997"/>
                </a:solidFill>
                <a:latin typeface="Arial"/>
                <a:ea typeface="Arial"/>
                <a:cs typeface="Arial"/>
              </a:defRPr>
            </a:lvl4pPr>
            <a:lvl5pPr algn="l">
              <a:defRPr sz="1875" b="1">
                <a:solidFill>
                  <a:srgbClr val="3A8997"/>
                </a:solidFill>
                <a:latin typeface="Arial"/>
                <a:ea typeface="Arial"/>
                <a:cs typeface="Arial"/>
              </a:defRPr>
            </a:lvl5pPr>
            <a:lvl6pPr algn="l">
              <a:defRPr sz="1875" b="1">
                <a:solidFill>
                  <a:srgbClr val="3A8997"/>
                </a:solidFill>
                <a:latin typeface="Arial"/>
                <a:ea typeface="Arial"/>
                <a:cs typeface="Arial"/>
              </a:defRPr>
            </a:lvl6pPr>
            <a:lvl7pPr algn="l">
              <a:defRPr sz="1875" b="1">
                <a:solidFill>
                  <a:srgbClr val="3A8997"/>
                </a:solidFill>
                <a:latin typeface="Arial"/>
                <a:ea typeface="Arial"/>
                <a:cs typeface="Arial"/>
              </a:defRPr>
            </a:lvl7pPr>
            <a:lvl8pPr algn="l">
              <a:defRPr sz="1875" b="1">
                <a:solidFill>
                  <a:srgbClr val="3A8997"/>
                </a:solidFill>
                <a:latin typeface="Arial"/>
                <a:ea typeface="Arial"/>
                <a:cs typeface="Arial"/>
              </a:defRPr>
            </a:lvl8pPr>
            <a:lvl9pPr algn="l">
              <a:defRPr sz="1875" b="1">
                <a:solidFill>
                  <a:srgbClr val="3A8997"/>
                </a:solidFill>
                <a:latin typeface="Arial"/>
                <a:ea typeface="Arial"/>
                <a:cs typeface="Arial"/>
              </a:defRPr>
            </a:lvl9pPr>
          </a:lstStyle>
          <a:p xmlns:a="http://schemas.openxmlformats.org/drawingml/2006/main">
            <a:pPr algn="l">
              <a:defRPr sz="1875" b="1">
                <a:solidFill>
                  <a:srgbClr val="3A8997"/>
                </a:solidFill>
                <a:latin typeface="Arial"/>
                <a:ea typeface="Arial"/>
                <a:cs typeface="Arial"/>
              </a:defRPr>
            </a:pPr>
            <a:r>
              <a:rPr sz="1875" b="1">
                <a:solidFill>
                  <a:srgbClr val="3A8997"/>
                </a:solidFill>
                <a:latin typeface="Arial"/>
                <a:ea typeface="Arial"/>
                <a:cs typeface="Arial"/>
              </a:rPr>
              <a:t>VÉHICULES</a:t>
            </a:r>
          </a:p>
        </p:txBody>
      </p:sp>
      <p:sp>
        <p:nvSpPr>
          <p:cNvPr id="12" name="model-rows-1">
            <a:extLst xmlns:a="http://schemas.openxmlformats.org/drawingml/2006/main">
              <a:ext uri="{FF2B5EF4-FFF2-40B4-BE49-F238E27FC236}">
                <a16:creationId xmlns:a16="http://schemas.microsoft.com/office/drawing/2014/main" id="{AA38C5CF-F660-4A2A-9657-072E7E1A83C2}"/>
              </a:ext>
            </a:extLst>
          </p:cNvPr>
          <p:cNvSpPr>
            <a:spLocks xmlns:a="http://schemas.openxmlformats.org/drawingml/2006/main" noGrp="1"/>
          </p:cNvSpPr>
          <p:nvPr/>
        </p:nvSpPr>
        <p:spPr>
          <a:xfrm xmlns:a="http://schemas.openxmlformats.org/drawingml/2006/main">
            <a:off x="46863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937 265 lignes · 32 champs</a:t>
            </a:r>
          </a:p>
        </p:txBody>
      </p:sp>
      <p:sp>
        <p:nvSpPr>
          <p:cNvPr id="13" name="model-key-1">
            <a:extLst xmlns:a="http://schemas.openxmlformats.org/drawingml/2006/main">
              <a:ext uri="{FF2B5EF4-FFF2-40B4-BE49-F238E27FC236}">
                <a16:creationId xmlns:a16="http://schemas.microsoft.com/office/drawing/2014/main" id="{B33894DE-6A6D-431D-9999-787B3BE9ECD2}"/>
              </a:ext>
            </a:extLst>
          </p:cNvPr>
          <p:cNvSpPr>
            <a:spLocks xmlns:a="http://schemas.openxmlformats.org/drawingml/2006/main" noGrp="1"/>
          </p:cNvSpPr>
          <p:nvPr/>
        </p:nvSpPr>
        <p:spPr>
          <a:xfrm xmlns:a="http://schemas.openxmlformats.org/drawingml/2006/main">
            <a:off x="46863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4" name="model-box-2">
            <a:extLst xmlns:a="http://schemas.openxmlformats.org/drawingml/2006/main">
              <a:ext uri="{FF2B5EF4-FFF2-40B4-BE49-F238E27FC236}">
                <a16:creationId xmlns:a16="http://schemas.microsoft.com/office/drawing/2014/main" id="{F1E41720-7006-4A4B-B4F0-0799849C6241}"/>
              </a:ext>
            </a:extLst>
          </p:cNvPr>
          <p:cNvSpPr>
            <a:spLocks xmlns:a="http://schemas.openxmlformats.org/drawingml/2006/main" noGrp="1"/>
          </p:cNvSpPr>
          <p:nvPr/>
        </p:nvSpPr>
        <p:spPr>
          <a:xfrm xmlns:a="http://schemas.openxmlformats.org/drawingml/2006/main">
            <a:off x="82105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5" name="model-accent-2">
            <a:extLst xmlns:a="http://schemas.openxmlformats.org/drawingml/2006/main">
              <a:ext uri="{FF2B5EF4-FFF2-40B4-BE49-F238E27FC236}">
                <a16:creationId xmlns:a16="http://schemas.microsoft.com/office/drawing/2014/main" id="{1D7A0B44-16FC-465B-8F26-9E59F2FAEF9D}"/>
              </a:ext>
            </a:extLst>
          </p:cNvPr>
          <p:cNvSpPr>
            <a:spLocks xmlns:a="http://schemas.openxmlformats.org/drawingml/2006/main" noGrp="1"/>
          </p:cNvSpPr>
          <p:nvPr/>
        </p:nvSpPr>
        <p:spPr>
          <a:xfrm xmlns:a="http://schemas.openxmlformats.org/drawingml/2006/main">
            <a:off x="8210550" y="2524125"/>
            <a:ext cx="3143250" cy="6667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6" name="model-name-2">
            <a:extLst xmlns:a="http://schemas.openxmlformats.org/drawingml/2006/main">
              <a:ext uri="{FF2B5EF4-FFF2-40B4-BE49-F238E27FC236}">
                <a16:creationId xmlns:a16="http://schemas.microsoft.com/office/drawing/2014/main" id="{91612562-C289-4945-8B5F-A12B2DCD14BF}"/>
              </a:ext>
            </a:extLst>
          </p:cNvPr>
          <p:cNvSpPr>
            <a:spLocks xmlns:a="http://schemas.openxmlformats.org/drawingml/2006/main" noGrp="1"/>
          </p:cNvSpPr>
          <p:nvPr/>
        </p:nvSpPr>
        <p:spPr>
          <a:xfrm xmlns:a="http://schemas.openxmlformats.org/drawingml/2006/main">
            <a:off x="84201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E2A33B"/>
                </a:solidFill>
                <a:latin typeface="Arial"/>
                <a:ea typeface="Arial"/>
                <a:cs typeface="Arial"/>
              </a:defRPr>
            </a:defPPr>
            <a:lvl1pPr algn="l">
              <a:defRPr sz="1875" b="1">
                <a:solidFill>
                  <a:srgbClr val="E2A33B"/>
                </a:solidFill>
                <a:latin typeface="Arial"/>
                <a:ea typeface="Arial"/>
                <a:cs typeface="Arial"/>
              </a:defRPr>
            </a:lvl1pPr>
            <a:lvl2pPr algn="l">
              <a:defRPr sz="1875" b="1">
                <a:solidFill>
                  <a:srgbClr val="E2A33B"/>
                </a:solidFill>
                <a:latin typeface="Arial"/>
                <a:ea typeface="Arial"/>
                <a:cs typeface="Arial"/>
              </a:defRPr>
            </a:lvl2pPr>
            <a:lvl3pPr algn="l">
              <a:defRPr sz="1875" b="1">
                <a:solidFill>
                  <a:srgbClr val="E2A33B"/>
                </a:solidFill>
                <a:latin typeface="Arial"/>
                <a:ea typeface="Arial"/>
                <a:cs typeface="Arial"/>
              </a:defRPr>
            </a:lvl3pPr>
            <a:lvl4pPr algn="l">
              <a:defRPr sz="1875" b="1">
                <a:solidFill>
                  <a:srgbClr val="E2A33B"/>
                </a:solidFill>
                <a:latin typeface="Arial"/>
                <a:ea typeface="Arial"/>
                <a:cs typeface="Arial"/>
              </a:defRPr>
            </a:lvl4pPr>
            <a:lvl5pPr algn="l">
              <a:defRPr sz="1875" b="1">
                <a:solidFill>
                  <a:srgbClr val="E2A33B"/>
                </a:solidFill>
                <a:latin typeface="Arial"/>
                <a:ea typeface="Arial"/>
                <a:cs typeface="Arial"/>
              </a:defRPr>
            </a:lvl5pPr>
            <a:lvl6pPr algn="l">
              <a:defRPr sz="1875" b="1">
                <a:solidFill>
                  <a:srgbClr val="E2A33B"/>
                </a:solidFill>
                <a:latin typeface="Arial"/>
                <a:ea typeface="Arial"/>
                <a:cs typeface="Arial"/>
              </a:defRPr>
            </a:lvl6pPr>
            <a:lvl7pPr algn="l">
              <a:defRPr sz="1875" b="1">
                <a:solidFill>
                  <a:srgbClr val="E2A33B"/>
                </a:solidFill>
                <a:latin typeface="Arial"/>
                <a:ea typeface="Arial"/>
                <a:cs typeface="Arial"/>
              </a:defRPr>
            </a:lvl7pPr>
            <a:lvl8pPr algn="l">
              <a:defRPr sz="1875" b="1">
                <a:solidFill>
                  <a:srgbClr val="E2A33B"/>
                </a:solidFill>
                <a:latin typeface="Arial"/>
                <a:ea typeface="Arial"/>
                <a:cs typeface="Arial"/>
              </a:defRPr>
            </a:lvl8pPr>
            <a:lvl9pPr algn="l">
              <a:defRPr sz="1875" b="1">
                <a:solidFill>
                  <a:srgbClr val="E2A33B"/>
                </a:solidFill>
                <a:latin typeface="Arial"/>
                <a:ea typeface="Arial"/>
                <a:cs typeface="Arial"/>
              </a:defRPr>
            </a:lvl9pPr>
          </a:lstStyle>
          <a:p xmlns:a="http://schemas.openxmlformats.org/drawingml/2006/main">
            <a:pPr algn="l">
              <a:defRPr sz="1875" b="1">
                <a:solidFill>
                  <a:srgbClr val="E2A33B"/>
                </a:solidFill>
                <a:latin typeface="Arial"/>
                <a:ea typeface="Arial"/>
                <a:cs typeface="Arial"/>
              </a:defRPr>
            </a:pPr>
            <a:r>
              <a:rPr sz="1875" b="1">
                <a:solidFill>
                  <a:srgbClr val="E2A33B"/>
                </a:solidFill>
                <a:latin typeface="Arial"/>
                <a:ea typeface="Arial"/>
                <a:cs typeface="Arial"/>
              </a:rPr>
              <a:t>VICTIMES</a:t>
            </a:r>
          </a:p>
        </p:txBody>
      </p:sp>
      <p:sp>
        <p:nvSpPr>
          <p:cNvPr id="17" name="model-rows-2">
            <a:extLst xmlns:a="http://schemas.openxmlformats.org/drawingml/2006/main">
              <a:ext uri="{FF2B5EF4-FFF2-40B4-BE49-F238E27FC236}">
                <a16:creationId xmlns:a16="http://schemas.microsoft.com/office/drawing/2014/main" id="{F3FBEFA9-177D-4DD3-B459-8C08351421DB}"/>
              </a:ext>
            </a:extLst>
          </p:cNvPr>
          <p:cNvSpPr>
            <a:spLocks xmlns:a="http://schemas.openxmlformats.org/drawingml/2006/main" noGrp="1"/>
          </p:cNvSpPr>
          <p:nvPr/>
        </p:nvSpPr>
        <p:spPr>
          <a:xfrm xmlns:a="http://schemas.openxmlformats.org/drawingml/2006/main">
            <a:off x="84201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652 821 lignes · 24 champs</a:t>
            </a:r>
          </a:p>
        </p:txBody>
      </p:sp>
      <p:sp>
        <p:nvSpPr>
          <p:cNvPr id="18" name="model-key-2">
            <a:extLst xmlns:a="http://schemas.openxmlformats.org/drawingml/2006/main">
              <a:ext uri="{FF2B5EF4-FFF2-40B4-BE49-F238E27FC236}">
                <a16:creationId xmlns:a16="http://schemas.microsoft.com/office/drawing/2014/main" id="{C0B6256C-7D35-42DA-A226-346B49249376}"/>
              </a:ext>
            </a:extLst>
          </p:cNvPr>
          <p:cNvSpPr>
            <a:spLocks xmlns:a="http://schemas.openxmlformats.org/drawingml/2006/main" noGrp="1"/>
          </p:cNvSpPr>
          <p:nvPr/>
        </p:nvSpPr>
        <p:spPr>
          <a:xfrm xmlns:a="http://schemas.openxmlformats.org/drawingml/2006/main">
            <a:off x="84201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9" name="model-line-1">
            <a:extLst xmlns:a="http://schemas.openxmlformats.org/drawingml/2006/main">
              <a:ext uri="{FF2B5EF4-FFF2-40B4-BE49-F238E27FC236}">
                <a16:creationId xmlns:a16="http://schemas.microsoft.com/office/drawing/2014/main" id="{1FE54579-6272-4E07-9831-73A59262CF33}"/>
              </a:ext>
            </a:extLst>
          </p:cNvPr>
          <p:cNvSpPr>
            <a:spLocks xmlns:a="http://schemas.openxmlformats.org/drawingml/2006/main" noGrp="1"/>
          </p:cNvSpPr>
          <p:nvPr/>
        </p:nvSpPr>
        <p:spPr>
          <a:xfrm xmlns:a="http://schemas.openxmlformats.org/drawingml/2006/main">
            <a:off x="38862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model-line-2">
            <a:extLst xmlns:a="http://schemas.openxmlformats.org/drawingml/2006/main">
              <a:ext uri="{FF2B5EF4-FFF2-40B4-BE49-F238E27FC236}">
                <a16:creationId xmlns:a16="http://schemas.microsoft.com/office/drawing/2014/main" id="{0E0ED24B-A85E-4431-BC30-D303509BC102}"/>
              </a:ext>
            </a:extLst>
          </p:cNvPr>
          <p:cNvSpPr>
            <a:spLocks xmlns:a="http://schemas.openxmlformats.org/drawingml/2006/main" noGrp="1"/>
          </p:cNvSpPr>
          <p:nvPr/>
        </p:nvSpPr>
        <p:spPr>
          <a:xfrm xmlns:a="http://schemas.openxmlformats.org/drawingml/2006/main">
            <a:off x="76200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1" name="model-relation-1">
            <a:extLst xmlns:a="http://schemas.openxmlformats.org/drawingml/2006/main">
              <a:ext uri="{FF2B5EF4-FFF2-40B4-BE49-F238E27FC236}">
                <a16:creationId xmlns:a16="http://schemas.microsoft.com/office/drawing/2014/main" id="{7FE4BEB4-E5DF-456D-9CA2-08765D615D34}"/>
              </a:ext>
            </a:extLst>
          </p:cNvPr>
          <p:cNvSpPr>
            <a:spLocks xmlns:a="http://schemas.openxmlformats.org/drawingml/2006/main" noGrp="1"/>
          </p:cNvSpPr>
          <p:nvPr/>
        </p:nvSpPr>
        <p:spPr>
          <a:xfrm xmlns:a="http://schemas.openxmlformats.org/drawingml/2006/main">
            <a:off x="39433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2" name="model-relation-2">
            <a:extLst xmlns:a="http://schemas.openxmlformats.org/drawingml/2006/main">
              <a:ext uri="{FF2B5EF4-FFF2-40B4-BE49-F238E27FC236}">
                <a16:creationId xmlns:a16="http://schemas.microsoft.com/office/drawing/2014/main" id="{07E13A98-17FC-4DAE-991A-410D36B4A76C}"/>
              </a:ext>
            </a:extLst>
          </p:cNvPr>
          <p:cNvSpPr>
            <a:spLocks xmlns:a="http://schemas.openxmlformats.org/drawingml/2006/main" noGrp="1"/>
          </p:cNvSpPr>
          <p:nvPr/>
        </p:nvSpPr>
        <p:spPr>
          <a:xfrm xmlns:a="http://schemas.openxmlformats.org/drawingml/2006/main">
            <a:off x="76771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3" name="model-caption">
            <a:extLst xmlns:a="http://schemas.openxmlformats.org/drawingml/2006/main">
              <a:ext uri="{FF2B5EF4-FFF2-40B4-BE49-F238E27FC236}">
                <a16:creationId xmlns:a16="http://schemas.microsoft.com/office/drawing/2014/main" id="{D032211B-DB37-4825-A092-4339842785A9}"/>
              </a:ext>
            </a:extLst>
          </p:cNvPr>
          <p:cNvSpPr>
            <a:spLocks xmlns:a="http://schemas.openxmlformats.org/drawingml/2006/main" noGrp="1"/>
          </p:cNvSpPr>
          <p:nvPr/>
        </p:nvSpPr>
        <p:spPr>
          <a:xfrm xmlns:a="http://schemas.openxmlformats.org/drawingml/2006/main">
            <a:off x="742950" y="50006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Clé de collision commune : collision_index  ·  Une victime est aussi rattachée à un véhicule.</a:t>
            </a:r>
          </a:p>
        </p:txBody>
      </p:sp>
      <p:sp>
        <p:nvSpPr>
          <p:cNvPr id="24" name="model-source">
            <a:extLst xmlns:a="http://schemas.openxmlformats.org/drawingml/2006/main">
              <a:ext uri="{FF2B5EF4-FFF2-40B4-BE49-F238E27FC236}">
                <a16:creationId xmlns:a16="http://schemas.microsoft.com/office/drawing/2014/main" id="{880F0C5B-DA73-4FF0-9102-2A419223BA0C}"/>
              </a:ext>
            </a:extLst>
          </p:cNvPr>
          <p:cNvSpPr>
            <a:spLocks xmlns:a="http://schemas.openxmlformats.org/drawingml/2006/main" noGrp="1"/>
          </p:cNvSpPr>
          <p:nvPr/>
        </p:nvSpPr>
        <p:spPr>
          <a:xfrm xmlns:a="http://schemas.openxmlformats.org/drawingml/2006/main">
            <a:off x="742950" y="6115050"/>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fichiers CSV DfT, extrait 2021–2025</a:t>
            </a:r>
          </a:p>
        </p:txBody>
      </p:sp>
    </p:spTree>
    <p:extLst>
      <p:ext uri="{BB962C8B-B14F-4D97-AF65-F5344CB8AC3E}">
        <p14:creationId xmlns:p14="http://schemas.microsoft.com/office/powerpoint/2010/main" val="853800291"/>
      </p:ext>
    </p:extLst>
  </p:cSld>
</p:sld>
</file>

<file path=ppt/slides/slide7.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7" name="title-7">
            <a:extLst xmlns:a="http://schemas.openxmlformats.org/drawingml/2006/main">
              <a:ext uri="{FF2B5EF4-FFF2-40B4-BE49-F238E27FC236}">
                <a16:creationId xmlns:a16="http://schemas.microsoft.com/office/drawing/2014/main" id="{EAEC0489-89BA-4485-8D9F-E698A8918FC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Jeu de données analysé</a:t>
            </a:r>
          </a:p>
        </p:txBody>
      </p:sp>
      <p:sp>
        <p:nvSpPr>
          <p:cNvPr id="2" name="title-rule-7">
            <a:extLst xmlns:a="http://schemas.openxmlformats.org/drawingml/2006/main">
              <a:ext uri="{FF2B5EF4-FFF2-40B4-BE49-F238E27FC236}">
                <a16:creationId xmlns:a16="http://schemas.microsoft.com/office/drawing/2014/main" id="{7AB4ABCE-D849-4A5B-9860-A35D13979394}"/>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7">
            <a:extLst xmlns:a="http://schemas.openxmlformats.org/drawingml/2006/main">
              <a:ext uri="{FF2B5EF4-FFF2-40B4-BE49-F238E27FC236}">
                <a16:creationId xmlns:a16="http://schemas.microsoft.com/office/drawing/2014/main" id="{DBB5F7B2-D2A4-470F-AD95-2A2444562928}"/>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07</a:t>
            </a:r>
          </a:p>
        </p:txBody>
      </p:sp>
      <p:sp>
        <p:nvSpPr>
          <p:cNvPr id="4" name="metric-0-value">
            <a:extLst xmlns:a="http://schemas.openxmlformats.org/drawingml/2006/main">
              <a:ext uri="{FF2B5EF4-FFF2-40B4-BE49-F238E27FC236}">
                <a16:creationId xmlns:a16="http://schemas.microsoft.com/office/drawing/2014/main" id="{1E695D9F-C20C-487A-B581-6C299EBBB37F}"/>
              </a:ext>
            </a:extLst>
          </p:cNvPr>
          <p:cNvSpPr>
            <a:spLocks xmlns:a="http://schemas.openxmlformats.org/drawingml/2006/main" noGrp="1"/>
          </p:cNvSpPr>
          <p:nvPr/>
        </p:nvSpPr>
        <p:spPr>
          <a:xfrm xmlns:a="http://schemas.openxmlformats.org/drawingml/2006/main">
            <a:off x="7429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513 801</a:t>
            </a:r>
          </a:p>
        </p:txBody>
      </p:sp>
      <p:sp>
        <p:nvSpPr>
          <p:cNvPr id="5" name="metric-0-label">
            <a:extLst xmlns:a="http://schemas.openxmlformats.org/drawingml/2006/main">
              <a:ext uri="{FF2B5EF4-FFF2-40B4-BE49-F238E27FC236}">
                <a16:creationId xmlns:a16="http://schemas.microsoft.com/office/drawing/2014/main" id="{F13CFDAD-E39E-4A74-8714-46F5B2FCE619}"/>
              </a:ext>
            </a:extLst>
          </p:cNvPr>
          <p:cNvSpPr>
            <a:spLocks xmlns:a="http://schemas.openxmlformats.org/drawingml/2006/main" noGrp="1"/>
          </p:cNvSpPr>
          <p:nvPr/>
        </p:nvSpPr>
        <p:spPr>
          <a:xfrm xmlns:a="http://schemas.openxmlformats.org/drawingml/2006/main">
            <a:off x="7429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collisions</a:t>
            </a:r>
          </a:p>
        </p:txBody>
      </p:sp>
      <p:sp>
        <p:nvSpPr>
          <p:cNvPr id="6" name="metric-0-sub">
            <a:extLst xmlns:a="http://schemas.openxmlformats.org/drawingml/2006/main">
              <a:ext uri="{FF2B5EF4-FFF2-40B4-BE49-F238E27FC236}">
                <a16:creationId xmlns:a16="http://schemas.microsoft.com/office/drawing/2014/main" id="{5DA6F435-53B3-41FA-A47A-5E38B32060B4}"/>
              </a:ext>
            </a:extLst>
          </p:cNvPr>
          <p:cNvSpPr>
            <a:spLocks xmlns:a="http://schemas.openxmlformats.org/drawingml/2006/main" noGrp="1"/>
          </p:cNvSpPr>
          <p:nvPr/>
        </p:nvSpPr>
        <p:spPr>
          <a:xfrm xmlns:a="http://schemas.openxmlformats.org/drawingml/2006/main">
            <a:off x="7429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44 champs</a:t>
            </a:r>
          </a:p>
        </p:txBody>
      </p:sp>
      <p:sp>
        <p:nvSpPr>
          <p:cNvPr id="7" name="metric-1-value">
            <a:extLst xmlns:a="http://schemas.openxmlformats.org/drawingml/2006/main">
              <a:ext uri="{FF2B5EF4-FFF2-40B4-BE49-F238E27FC236}">
                <a16:creationId xmlns:a16="http://schemas.microsoft.com/office/drawing/2014/main" id="{DEA6A103-D789-4F4A-B5A8-8C57344D8929}"/>
              </a:ext>
            </a:extLst>
          </p:cNvPr>
          <p:cNvSpPr>
            <a:spLocks xmlns:a="http://schemas.openxmlformats.org/drawingml/2006/main" noGrp="1"/>
          </p:cNvSpPr>
          <p:nvPr/>
        </p:nvSpPr>
        <p:spPr>
          <a:xfrm xmlns:a="http://schemas.openxmlformats.org/drawingml/2006/main">
            <a:off x="438150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76B87"/>
                </a:solidFill>
                <a:latin typeface="Arial"/>
                <a:ea typeface="Arial"/>
                <a:cs typeface="Arial"/>
              </a:defRPr>
            </a:defPPr>
            <a:lvl1pPr algn="l">
              <a:defRPr sz="3675" b="1">
                <a:solidFill>
                  <a:srgbClr val="176B87"/>
                </a:solidFill>
                <a:latin typeface="Arial"/>
                <a:ea typeface="Arial"/>
                <a:cs typeface="Arial"/>
              </a:defRPr>
            </a:lvl1pPr>
            <a:lvl2pPr algn="l">
              <a:defRPr sz="3675" b="1">
                <a:solidFill>
                  <a:srgbClr val="176B87"/>
                </a:solidFill>
                <a:latin typeface="Arial"/>
                <a:ea typeface="Arial"/>
                <a:cs typeface="Arial"/>
              </a:defRPr>
            </a:lvl2pPr>
            <a:lvl3pPr algn="l">
              <a:defRPr sz="3675" b="1">
                <a:solidFill>
                  <a:srgbClr val="176B87"/>
                </a:solidFill>
                <a:latin typeface="Arial"/>
                <a:ea typeface="Arial"/>
                <a:cs typeface="Arial"/>
              </a:defRPr>
            </a:lvl3pPr>
            <a:lvl4pPr algn="l">
              <a:defRPr sz="3675" b="1">
                <a:solidFill>
                  <a:srgbClr val="176B87"/>
                </a:solidFill>
                <a:latin typeface="Arial"/>
                <a:ea typeface="Arial"/>
                <a:cs typeface="Arial"/>
              </a:defRPr>
            </a:lvl4pPr>
            <a:lvl5pPr algn="l">
              <a:defRPr sz="3675" b="1">
                <a:solidFill>
                  <a:srgbClr val="176B87"/>
                </a:solidFill>
                <a:latin typeface="Arial"/>
                <a:ea typeface="Arial"/>
                <a:cs typeface="Arial"/>
              </a:defRPr>
            </a:lvl5pPr>
            <a:lvl6pPr algn="l">
              <a:defRPr sz="3675" b="1">
                <a:solidFill>
                  <a:srgbClr val="176B87"/>
                </a:solidFill>
                <a:latin typeface="Arial"/>
                <a:ea typeface="Arial"/>
                <a:cs typeface="Arial"/>
              </a:defRPr>
            </a:lvl6pPr>
            <a:lvl7pPr algn="l">
              <a:defRPr sz="3675" b="1">
                <a:solidFill>
                  <a:srgbClr val="176B87"/>
                </a:solidFill>
                <a:latin typeface="Arial"/>
                <a:ea typeface="Arial"/>
                <a:cs typeface="Arial"/>
              </a:defRPr>
            </a:lvl7pPr>
            <a:lvl8pPr algn="l">
              <a:defRPr sz="3675" b="1">
                <a:solidFill>
                  <a:srgbClr val="176B87"/>
                </a:solidFill>
                <a:latin typeface="Arial"/>
                <a:ea typeface="Arial"/>
                <a:cs typeface="Arial"/>
              </a:defRPr>
            </a:lvl8pPr>
            <a:lvl9pPr algn="l">
              <a:defRPr sz="3675" b="1">
                <a:solidFill>
                  <a:srgbClr val="176B87"/>
                </a:solidFill>
                <a:latin typeface="Arial"/>
                <a:ea typeface="Arial"/>
                <a:cs typeface="Arial"/>
              </a:defRPr>
            </a:lvl9pPr>
          </a:lstStyle>
          <a:p xmlns:a="http://schemas.openxmlformats.org/drawingml/2006/main">
            <a:pPr algn="l">
              <a:defRPr sz="3675" b="1">
                <a:solidFill>
                  <a:srgbClr val="176B87"/>
                </a:solidFill>
                <a:latin typeface="Arial"/>
                <a:ea typeface="Arial"/>
                <a:cs typeface="Arial"/>
              </a:defRPr>
            </a:pPr>
            <a:r>
              <a:rPr sz="3675" b="1">
                <a:solidFill>
                  <a:srgbClr val="176B87"/>
                </a:solidFill>
                <a:latin typeface="Arial"/>
                <a:ea typeface="Arial"/>
                <a:cs typeface="Arial"/>
              </a:rPr>
              <a:t>937 265</a:t>
            </a:r>
          </a:p>
        </p:txBody>
      </p:sp>
      <p:sp>
        <p:nvSpPr>
          <p:cNvPr id="8" name="metric-1-label">
            <a:extLst xmlns:a="http://schemas.openxmlformats.org/drawingml/2006/main">
              <a:ext uri="{FF2B5EF4-FFF2-40B4-BE49-F238E27FC236}">
                <a16:creationId xmlns:a16="http://schemas.microsoft.com/office/drawing/2014/main" id="{1268CE86-462B-48F7-B559-A1432D1ACFE4}"/>
              </a:ext>
            </a:extLst>
          </p:cNvPr>
          <p:cNvSpPr>
            <a:spLocks xmlns:a="http://schemas.openxmlformats.org/drawingml/2006/main" noGrp="1"/>
          </p:cNvSpPr>
          <p:nvPr/>
        </p:nvSpPr>
        <p:spPr>
          <a:xfrm xmlns:a="http://schemas.openxmlformats.org/drawingml/2006/main">
            <a:off x="438150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véhicules</a:t>
            </a:r>
          </a:p>
        </p:txBody>
      </p:sp>
      <p:sp>
        <p:nvSpPr>
          <p:cNvPr id="9" name="metric-1-sub">
            <a:extLst xmlns:a="http://schemas.openxmlformats.org/drawingml/2006/main">
              <a:ext uri="{FF2B5EF4-FFF2-40B4-BE49-F238E27FC236}">
                <a16:creationId xmlns:a16="http://schemas.microsoft.com/office/drawing/2014/main" id="{3C4AD4B6-D902-4C9E-89EC-AF0285268205}"/>
              </a:ext>
            </a:extLst>
          </p:cNvPr>
          <p:cNvSpPr>
            <a:spLocks xmlns:a="http://schemas.openxmlformats.org/drawingml/2006/main" noGrp="1"/>
          </p:cNvSpPr>
          <p:nvPr/>
        </p:nvSpPr>
        <p:spPr>
          <a:xfrm xmlns:a="http://schemas.openxmlformats.org/drawingml/2006/main">
            <a:off x="438150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32 champs</a:t>
            </a:r>
          </a:p>
        </p:txBody>
      </p:sp>
      <p:sp>
        <p:nvSpPr>
          <p:cNvPr id="10" name="metric-2-value">
            <a:extLst xmlns:a="http://schemas.openxmlformats.org/drawingml/2006/main">
              <a:ext uri="{FF2B5EF4-FFF2-40B4-BE49-F238E27FC236}">
                <a16:creationId xmlns:a16="http://schemas.microsoft.com/office/drawing/2014/main" id="{A0FE5058-4634-416C-A000-5402424009EF}"/>
              </a:ext>
            </a:extLst>
          </p:cNvPr>
          <p:cNvSpPr>
            <a:spLocks xmlns:a="http://schemas.openxmlformats.org/drawingml/2006/main" noGrp="1"/>
          </p:cNvSpPr>
          <p:nvPr/>
        </p:nvSpPr>
        <p:spPr>
          <a:xfrm xmlns:a="http://schemas.openxmlformats.org/drawingml/2006/main">
            <a:off x="80200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652 821</a:t>
            </a:r>
          </a:p>
        </p:txBody>
      </p:sp>
      <p:sp>
        <p:nvSpPr>
          <p:cNvPr id="11" name="metric-2-label">
            <a:extLst xmlns:a="http://schemas.openxmlformats.org/drawingml/2006/main">
              <a:ext uri="{FF2B5EF4-FFF2-40B4-BE49-F238E27FC236}">
                <a16:creationId xmlns:a16="http://schemas.microsoft.com/office/drawing/2014/main" id="{84631C4D-1AAF-40AA-9C73-7824AC01C00B}"/>
              </a:ext>
            </a:extLst>
          </p:cNvPr>
          <p:cNvSpPr>
            <a:spLocks xmlns:a="http://schemas.openxmlformats.org/drawingml/2006/main" noGrp="1"/>
          </p:cNvSpPr>
          <p:nvPr/>
        </p:nvSpPr>
        <p:spPr>
          <a:xfrm xmlns:a="http://schemas.openxmlformats.org/drawingml/2006/main">
            <a:off x="80200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victimes</a:t>
            </a:r>
          </a:p>
        </p:txBody>
      </p:sp>
      <p:sp>
        <p:nvSpPr>
          <p:cNvPr id="12" name="metric-2-sub">
            <a:extLst xmlns:a="http://schemas.openxmlformats.org/drawingml/2006/main">
              <a:ext uri="{FF2B5EF4-FFF2-40B4-BE49-F238E27FC236}">
                <a16:creationId xmlns:a16="http://schemas.microsoft.com/office/drawing/2014/main" id="{BE74DBF9-BE40-4C8C-B121-CE0306957817}"/>
              </a:ext>
            </a:extLst>
          </p:cNvPr>
          <p:cNvSpPr>
            <a:spLocks xmlns:a="http://schemas.openxmlformats.org/drawingml/2006/main" noGrp="1"/>
          </p:cNvSpPr>
          <p:nvPr/>
        </p:nvSpPr>
        <p:spPr>
          <a:xfrm xmlns:a="http://schemas.openxmlformats.org/drawingml/2006/main">
            <a:off x="80200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24 champs</a:t>
            </a:r>
          </a:p>
        </p:txBody>
      </p:sp>
      <p:sp>
        <p:nvSpPr>
          <p:cNvPr id="13" name="dataset-divider">
            <a:extLst xmlns:a="http://schemas.openxmlformats.org/drawingml/2006/main">
              <a:ext uri="{FF2B5EF4-FFF2-40B4-BE49-F238E27FC236}">
                <a16:creationId xmlns:a16="http://schemas.microsoft.com/office/drawing/2014/main" id="{483AF9D1-81B9-48DF-A14A-7382229DA85A}"/>
              </a:ext>
            </a:extLst>
          </p:cNvPr>
          <p:cNvSpPr>
            <a:spLocks xmlns:a="http://schemas.openxmlformats.org/drawingml/2006/main" noGrp="1"/>
          </p:cNvSpPr>
          <p:nvPr/>
        </p:nvSpPr>
        <p:spPr>
          <a:xfrm xmlns:a="http://schemas.openxmlformats.org/drawingml/2006/main">
            <a:off x="742950" y="4295775"/>
            <a:ext cx="10382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4" name="dataset-size">
            <a:extLst xmlns:a="http://schemas.openxmlformats.org/drawingml/2006/main">
              <a:ext uri="{FF2B5EF4-FFF2-40B4-BE49-F238E27FC236}">
                <a16:creationId xmlns:a16="http://schemas.microsoft.com/office/drawing/2014/main" id="{1934263C-13A4-4F89-932A-D6E0CD679128}"/>
              </a:ext>
            </a:extLst>
          </p:cNvPr>
          <p:cNvSpPr>
            <a:spLocks xmlns:a="http://schemas.openxmlformats.org/drawingml/2006/main" noGrp="1"/>
          </p:cNvSpPr>
          <p:nvPr/>
        </p:nvSpPr>
        <p:spPr>
          <a:xfrm xmlns:a="http://schemas.openxmlformats.org/drawingml/2006/main">
            <a:off x="742950" y="464820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1">
                <a:solidFill>
                  <a:srgbClr val="176B87"/>
                </a:solidFill>
                <a:latin typeface="Arial"/>
                <a:ea typeface="Arial"/>
                <a:cs typeface="Arial"/>
              </a:defRPr>
            </a:defPPr>
            <a:lvl1pPr algn="l">
              <a:defRPr sz="3300" b="1">
                <a:solidFill>
                  <a:srgbClr val="176B87"/>
                </a:solidFill>
                <a:latin typeface="Arial"/>
                <a:ea typeface="Arial"/>
                <a:cs typeface="Arial"/>
              </a:defRPr>
            </a:lvl1pPr>
            <a:lvl2pPr algn="l">
              <a:defRPr sz="3300" b="1">
                <a:solidFill>
                  <a:srgbClr val="176B87"/>
                </a:solidFill>
                <a:latin typeface="Arial"/>
                <a:ea typeface="Arial"/>
                <a:cs typeface="Arial"/>
              </a:defRPr>
            </a:lvl2pPr>
            <a:lvl3pPr algn="l">
              <a:defRPr sz="3300" b="1">
                <a:solidFill>
                  <a:srgbClr val="176B87"/>
                </a:solidFill>
                <a:latin typeface="Arial"/>
                <a:ea typeface="Arial"/>
                <a:cs typeface="Arial"/>
              </a:defRPr>
            </a:lvl3pPr>
            <a:lvl4pPr algn="l">
              <a:defRPr sz="3300" b="1">
                <a:solidFill>
                  <a:srgbClr val="176B87"/>
                </a:solidFill>
                <a:latin typeface="Arial"/>
                <a:ea typeface="Arial"/>
                <a:cs typeface="Arial"/>
              </a:defRPr>
            </a:lvl4pPr>
            <a:lvl5pPr algn="l">
              <a:defRPr sz="3300" b="1">
                <a:solidFill>
                  <a:srgbClr val="176B87"/>
                </a:solidFill>
                <a:latin typeface="Arial"/>
                <a:ea typeface="Arial"/>
                <a:cs typeface="Arial"/>
              </a:defRPr>
            </a:lvl5pPr>
            <a:lvl6pPr algn="l">
              <a:defRPr sz="3300" b="1">
                <a:solidFill>
                  <a:srgbClr val="176B87"/>
                </a:solidFill>
                <a:latin typeface="Arial"/>
                <a:ea typeface="Arial"/>
                <a:cs typeface="Arial"/>
              </a:defRPr>
            </a:lvl6pPr>
            <a:lvl7pPr algn="l">
              <a:defRPr sz="3300" b="1">
                <a:solidFill>
                  <a:srgbClr val="176B87"/>
                </a:solidFill>
                <a:latin typeface="Arial"/>
                <a:ea typeface="Arial"/>
                <a:cs typeface="Arial"/>
              </a:defRPr>
            </a:lvl7pPr>
            <a:lvl8pPr algn="l">
              <a:defRPr sz="3300" b="1">
                <a:solidFill>
                  <a:srgbClr val="176B87"/>
                </a:solidFill>
                <a:latin typeface="Arial"/>
                <a:ea typeface="Arial"/>
                <a:cs typeface="Arial"/>
              </a:defRPr>
            </a:lvl8pPr>
            <a:lvl9pPr algn="l">
              <a:defRPr sz="3300" b="1">
                <a:solidFill>
                  <a:srgbClr val="176B87"/>
                </a:solidFill>
                <a:latin typeface="Arial"/>
                <a:ea typeface="Arial"/>
                <a:cs typeface="Arial"/>
              </a:defRPr>
            </a:lvl9pPr>
          </a:lstStyle>
          <a:p xmlns:a="http://schemas.openxmlformats.org/drawingml/2006/main">
            <a:pPr algn="l">
              <a:defRPr sz="3300" b="1">
                <a:solidFill>
                  <a:srgbClr val="176B87"/>
                </a:solidFill>
                <a:latin typeface="Arial"/>
                <a:ea typeface="Arial"/>
                <a:cs typeface="Arial"/>
              </a:defRPr>
            </a:pPr>
            <a:r>
              <a:rPr sz="3300" b="1">
                <a:solidFill>
                  <a:srgbClr val="176B87"/>
                </a:solidFill>
                <a:latin typeface="Arial"/>
                <a:ea typeface="Arial"/>
                <a:cs typeface="Arial"/>
              </a:rPr>
              <a:t>≈255 Mo</a:t>
            </a:r>
          </a:p>
        </p:txBody>
      </p:sp>
      <p:sp>
        <p:nvSpPr>
          <p:cNvPr id="15" name="dataset-size-caption">
            <a:extLst xmlns:a="http://schemas.openxmlformats.org/drawingml/2006/main">
              <a:ext uri="{FF2B5EF4-FFF2-40B4-BE49-F238E27FC236}">
                <a16:creationId xmlns:a16="http://schemas.microsoft.com/office/drawing/2014/main" id="{EE3B1295-18BC-42BC-80F0-D261F4DC2B9F}"/>
              </a:ext>
            </a:extLst>
          </p:cNvPr>
          <p:cNvSpPr>
            <a:spLocks xmlns:a="http://schemas.openxmlformats.org/drawingml/2006/main" noGrp="1"/>
          </p:cNvSpPr>
          <p:nvPr/>
        </p:nvSpPr>
        <p:spPr>
          <a:xfrm xmlns:a="http://schemas.openxmlformats.org/drawingml/2006/main">
            <a:off x="3486150" y="4714875"/>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taille totale des trois CSV téléchargés localement</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(données brutes exclues du dépôt Git)</a:t>
            </a:r>
          </a:p>
        </p:txBody>
      </p:sp>
      <p:sp>
        <p:nvSpPr>
          <p:cNvPr id="16" name="dataset-source">
            <a:extLst xmlns:a="http://schemas.openxmlformats.org/drawingml/2006/main">
              <a:ext uri="{FF2B5EF4-FFF2-40B4-BE49-F238E27FC236}">
                <a16:creationId xmlns:a16="http://schemas.microsoft.com/office/drawing/2014/main" id="{BCE200C8-598F-4010-883E-DE0F23C4BA97}"/>
              </a:ext>
            </a:extLst>
          </p:cNvPr>
          <p:cNvSpPr>
            <a:spLocks xmlns:a="http://schemas.openxmlformats.org/drawingml/2006/main" noGrp="1"/>
          </p:cNvSpPr>
          <p:nvPr/>
        </p:nvSpPr>
        <p:spPr>
          <a:xfrm xmlns:a="http://schemas.openxmlformats.org/drawingml/2006/main">
            <a:off x="742950" y="611505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Tailles calculées depuis les fichiers téléchargés ; volumes de lignes calculés sur les CSV.</a:t>
            </a:r>
          </a:p>
        </p:txBody>
      </p:sp>
    </p:spTree>
    <p:extLst>
      <p:ext uri="{BB962C8B-B14F-4D97-AF65-F5344CB8AC3E}">
        <p14:creationId xmlns:p14="http://schemas.microsoft.com/office/powerpoint/2010/main" val="1793260623"/>
      </p:ext>
    </p:extLst>
  </p:cSld>
</p:sld>
</file>

<file path=ppt/slides/slide8.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3" name="title-8">
            <a:extLst xmlns:a="http://schemas.openxmlformats.org/drawingml/2006/main">
              <a:ext uri="{FF2B5EF4-FFF2-40B4-BE49-F238E27FC236}">
                <a16:creationId xmlns:a16="http://schemas.microsoft.com/office/drawing/2014/main" id="{6008B933-43F2-43AF-B31A-EF9024FC846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Contrôles de cohérence</a:t>
            </a:r>
          </a:p>
        </p:txBody>
      </p:sp>
      <p:sp>
        <p:nvSpPr>
          <p:cNvPr id="2" name="title-rule-8">
            <a:extLst xmlns:a="http://schemas.openxmlformats.org/drawingml/2006/main">
              <a:ext uri="{FF2B5EF4-FFF2-40B4-BE49-F238E27FC236}">
                <a16:creationId xmlns:a16="http://schemas.microsoft.com/office/drawing/2014/main" id="{F1B7453E-D440-4DC1-A76B-96DA9F34B5FF}"/>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8">
            <a:extLst xmlns:a="http://schemas.openxmlformats.org/drawingml/2006/main">
              <a:ext uri="{FF2B5EF4-FFF2-40B4-BE49-F238E27FC236}">
                <a16:creationId xmlns:a16="http://schemas.microsoft.com/office/drawing/2014/main" id="{F31522A8-C1BA-483F-A69B-154BAA294CF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08</a:t>
            </a:r>
          </a:p>
        </p:txBody>
      </p:sp>
      <p:sp>
        <p:nvSpPr>
          <p:cNvPr id="4" name="check-0-metric">
            <a:extLst xmlns:a="http://schemas.openxmlformats.org/drawingml/2006/main">
              <a:ext uri="{FF2B5EF4-FFF2-40B4-BE49-F238E27FC236}">
                <a16:creationId xmlns:a16="http://schemas.microsoft.com/office/drawing/2014/main" id="{0ACAEAF6-0B4D-4C0F-B836-7DAC44837071}"/>
              </a:ext>
            </a:extLst>
          </p:cNvPr>
          <p:cNvSpPr>
            <a:spLocks xmlns:a="http://schemas.openxmlformats.org/drawingml/2006/main" noGrp="1"/>
          </p:cNvSpPr>
          <p:nvPr/>
        </p:nvSpPr>
        <p:spPr>
          <a:xfrm xmlns:a="http://schemas.openxmlformats.org/drawingml/2006/main">
            <a:off x="742950" y="169545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5" name="check-0-desc">
            <a:extLst xmlns:a="http://schemas.openxmlformats.org/drawingml/2006/main">
              <a:ext uri="{FF2B5EF4-FFF2-40B4-BE49-F238E27FC236}">
                <a16:creationId xmlns:a16="http://schemas.microsoft.com/office/drawing/2014/main" id="{9F1D628F-D526-4640-B73A-18334707E03F}"/>
              </a:ext>
            </a:extLst>
          </p:cNvPr>
          <p:cNvSpPr>
            <a:spLocks xmlns:a="http://schemas.openxmlformats.org/drawingml/2006/main" noGrp="1"/>
          </p:cNvSpPr>
          <p:nvPr/>
        </p:nvSpPr>
        <p:spPr>
          <a:xfrm xmlns:a="http://schemas.openxmlformats.org/drawingml/2006/main">
            <a:off x="2857500" y="177165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clé de collision absente ou dupliquée dans la table collisions</a:t>
            </a:r>
          </a:p>
        </p:txBody>
      </p:sp>
      <p:sp>
        <p:nvSpPr>
          <p:cNvPr id="6" name="check-0-divider">
            <a:extLst xmlns:a="http://schemas.openxmlformats.org/drawingml/2006/main">
              <a:ext uri="{FF2B5EF4-FFF2-40B4-BE49-F238E27FC236}">
                <a16:creationId xmlns:a16="http://schemas.microsoft.com/office/drawing/2014/main" id="{57E25CF0-8EBE-4F56-A6AB-A9247E8A522C}"/>
              </a:ext>
            </a:extLst>
          </p:cNvPr>
          <p:cNvSpPr>
            <a:spLocks xmlns:a="http://schemas.openxmlformats.org/drawingml/2006/main" noGrp="1"/>
          </p:cNvSpPr>
          <p:nvPr/>
        </p:nvSpPr>
        <p:spPr>
          <a:xfrm xmlns:a="http://schemas.openxmlformats.org/drawingml/2006/main">
            <a:off x="2857500" y="2609850"/>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7" name="check-1-metric">
            <a:extLst xmlns:a="http://schemas.openxmlformats.org/drawingml/2006/main">
              <a:ext uri="{FF2B5EF4-FFF2-40B4-BE49-F238E27FC236}">
                <a16:creationId xmlns:a16="http://schemas.microsoft.com/office/drawing/2014/main" id="{EE1826C1-1705-4465-8268-EB72AA29FD63}"/>
              </a:ext>
            </a:extLst>
          </p:cNvPr>
          <p:cNvSpPr>
            <a:spLocks xmlns:a="http://schemas.openxmlformats.org/drawingml/2006/main" noGrp="1"/>
          </p:cNvSpPr>
          <p:nvPr/>
        </p:nvSpPr>
        <p:spPr>
          <a:xfrm xmlns:a="http://schemas.openxmlformats.org/drawingml/2006/main">
            <a:off x="742950" y="3000375"/>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8" name="check-1-desc">
            <a:extLst xmlns:a="http://schemas.openxmlformats.org/drawingml/2006/main">
              <a:ext uri="{FF2B5EF4-FFF2-40B4-BE49-F238E27FC236}">
                <a16:creationId xmlns:a16="http://schemas.microsoft.com/office/drawing/2014/main" id="{6032F551-F504-4B6E-8A5B-4A3E47B2C07C}"/>
              </a:ext>
            </a:extLst>
          </p:cNvPr>
          <p:cNvSpPr>
            <a:spLocks xmlns:a="http://schemas.openxmlformats.org/drawingml/2006/main" noGrp="1"/>
          </p:cNvSpPr>
          <p:nvPr/>
        </p:nvSpPr>
        <p:spPr>
          <a:xfrm xmlns:a="http://schemas.openxmlformats.org/drawingml/2006/main">
            <a:off x="2857500" y="3076575"/>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ligne véhicule ou victime sans collision correspondante</a:t>
            </a:r>
          </a:p>
        </p:txBody>
      </p:sp>
      <p:sp>
        <p:nvSpPr>
          <p:cNvPr id="9" name="check-1-divider">
            <a:extLst xmlns:a="http://schemas.openxmlformats.org/drawingml/2006/main">
              <a:ext uri="{FF2B5EF4-FFF2-40B4-BE49-F238E27FC236}">
                <a16:creationId xmlns:a16="http://schemas.microsoft.com/office/drawing/2014/main" id="{E5ABF364-4870-437B-944B-CF7F974FC5AC}"/>
              </a:ext>
            </a:extLst>
          </p:cNvPr>
          <p:cNvSpPr>
            <a:spLocks xmlns:a="http://schemas.openxmlformats.org/drawingml/2006/main" noGrp="1"/>
          </p:cNvSpPr>
          <p:nvPr/>
        </p:nvSpPr>
        <p:spPr>
          <a:xfrm xmlns:a="http://schemas.openxmlformats.org/drawingml/2006/main">
            <a:off x="2857500" y="3914775"/>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0" name="check-2-metric">
            <a:extLst xmlns:a="http://schemas.openxmlformats.org/drawingml/2006/main">
              <a:ext uri="{FF2B5EF4-FFF2-40B4-BE49-F238E27FC236}">
                <a16:creationId xmlns:a16="http://schemas.microsoft.com/office/drawing/2014/main" id="{37E284C0-21DF-4351-B91E-B596A06AB54A}"/>
              </a:ext>
            </a:extLst>
          </p:cNvPr>
          <p:cNvSpPr>
            <a:spLocks xmlns:a="http://schemas.openxmlformats.org/drawingml/2006/main" noGrp="1"/>
          </p:cNvSpPr>
          <p:nvPr/>
        </p:nvSpPr>
        <p:spPr>
          <a:xfrm xmlns:a="http://schemas.openxmlformats.org/drawingml/2006/main">
            <a:off x="742950" y="430530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100 %</a:t>
            </a:r>
          </a:p>
        </p:txBody>
      </p:sp>
      <p:sp>
        <p:nvSpPr>
          <p:cNvPr id="11" name="check-2-desc">
            <a:extLst xmlns:a="http://schemas.openxmlformats.org/drawingml/2006/main">
              <a:ext uri="{FF2B5EF4-FFF2-40B4-BE49-F238E27FC236}">
                <a16:creationId xmlns:a16="http://schemas.microsoft.com/office/drawing/2014/main" id="{6AE13B68-27BA-470A-81AC-1BF99452B2FE}"/>
              </a:ext>
            </a:extLst>
          </p:cNvPr>
          <p:cNvSpPr>
            <a:spLocks xmlns:a="http://schemas.openxmlformats.org/drawingml/2006/main" noGrp="1"/>
          </p:cNvSpPr>
          <p:nvPr/>
        </p:nvSpPr>
        <p:spPr>
          <a:xfrm xmlns:a="http://schemas.openxmlformats.org/drawingml/2006/main">
            <a:off x="2857500" y="438150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concordance entre le compte de victimes et les lignes de la table victimes</a:t>
            </a:r>
          </a:p>
        </p:txBody>
      </p:sp>
      <p:sp>
        <p:nvSpPr>
          <p:cNvPr id="12" name="checks-caveat">
            <a:extLst xmlns:a="http://schemas.openxmlformats.org/drawingml/2006/main">
              <a:ext uri="{FF2B5EF4-FFF2-40B4-BE49-F238E27FC236}">
                <a16:creationId xmlns:a16="http://schemas.microsoft.com/office/drawing/2014/main" id="{EA4105C1-FE23-423C-9AB2-9DA26F50D309}"/>
              </a:ext>
            </a:extLst>
          </p:cNvPr>
          <p:cNvSpPr>
            <a:spLocks xmlns:a="http://schemas.openxmlformats.org/drawingml/2006/main" noGrp="1"/>
          </p:cNvSpPr>
          <p:nvPr/>
        </p:nvSpPr>
        <p:spPr>
          <a:xfrm xmlns:a="http://schemas.openxmlformats.org/drawingml/2006/main">
            <a:off x="742950" y="5810250"/>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Contrôles calculés sur les trois fichiers 2021–2025 ; ils ne valident pas chaque valeur métier.</a:t>
            </a:r>
          </a:p>
        </p:txBody>
      </p:sp>
    </p:spTree>
    <p:extLst>
      <p:ext uri="{BB962C8B-B14F-4D97-AF65-F5344CB8AC3E}">
        <p14:creationId xmlns:p14="http://schemas.microsoft.com/office/powerpoint/2010/main" val="1510854659"/>
      </p:ext>
    </p:extLst>
  </p:cSld>
</p:sld>
</file>

<file path=ppt/slides/slide9.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0" name="title-9">
            <a:extLst xmlns:a="http://schemas.openxmlformats.org/drawingml/2006/main">
              <a:ext uri="{FF2B5EF4-FFF2-40B4-BE49-F238E27FC236}">
                <a16:creationId xmlns:a16="http://schemas.microsoft.com/office/drawing/2014/main" id="{6A449804-B028-4A98-87E5-8FE2D17648B3}"/>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Collisions enregistrées par année</a:t>
            </a:r>
          </a:p>
        </p:txBody>
      </p:sp>
      <p:sp>
        <p:nvSpPr>
          <p:cNvPr id="2" name="title-rule-9">
            <a:extLst xmlns:a="http://schemas.openxmlformats.org/drawingml/2006/main">
              <a:ext uri="{FF2B5EF4-FFF2-40B4-BE49-F238E27FC236}">
                <a16:creationId xmlns:a16="http://schemas.microsoft.com/office/drawing/2014/main" id="{F7B12914-3499-47B3-8843-F0738947761C}"/>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9">
            <a:extLst xmlns:a="http://schemas.openxmlformats.org/drawingml/2006/main">
              <a:ext uri="{FF2B5EF4-FFF2-40B4-BE49-F238E27FC236}">
                <a16:creationId xmlns:a16="http://schemas.microsoft.com/office/drawing/2014/main" id="{39BE77DA-FE78-4089-832B-AF4AC3AC1C6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09</a:t>
            </a:r>
          </a:p>
        </p:txBody>
      </p:sp>
      <p:sp>
        <p:nvSpPr>
          <p:cNvPr id="4" name="annual-lead">
            <a:extLst xmlns:a="http://schemas.openxmlformats.org/drawingml/2006/main">
              <a:ext uri="{FF2B5EF4-FFF2-40B4-BE49-F238E27FC236}">
                <a16:creationId xmlns:a16="http://schemas.microsoft.com/office/drawing/2014/main" id="{80F56ED1-425B-47DF-B7CE-8CEFE04DF969}"/>
              </a:ext>
            </a:extLst>
          </p:cNvPr>
          <p:cNvSpPr>
            <a:spLocks xmlns:a="http://schemas.openxmlformats.org/drawingml/2006/main" noGrp="1"/>
          </p:cNvSpPr>
          <p:nvPr/>
        </p:nvSpPr>
        <p:spPr>
          <a:xfrm xmlns:a="http://schemas.openxmlformats.org/drawingml/2006/main">
            <a:off x="742950" y="1504950"/>
            <a:ext cx="990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 volume annuel reste proche de 100 000 collisions.</a:t>
            </a:r>
          </a:p>
        </p:txBody>
      </p:sp>
      <p:graphicFrame>
        <p:nvGraphicFramePr>
          <p:cNvPr id="5" name="Chart">
            <a:extLst xmlns:a="http://schemas.openxmlformats.org/drawingml/2006/main">
              <a:ext uri="{FF2B5EF4-FFF2-40B4-BE49-F238E27FC236}">
                <a16:creationId xmlns:a16="http://schemas.microsoft.com/office/drawing/2014/main" id="{DC19B177-3F66-40C5-BB30-83DE1D3E8B14}"/>
              </a:ext>
            </a:extLst>
          </p:cNvPr>
          <p:cNvGraphicFramePr/>
          <p:nvPr/>
        </p:nvGraphicFramePr>
        <p:xfrm>
          <a:off xmlns:a="http://schemas.openxmlformats.org/drawingml/2006/main" x="781050" y="2143125"/>
          <a:ext xmlns:a="http://schemas.openxmlformats.org/drawingml/2006/main" cx="8096250" cy="3429000"/>
        </p:xfrm>
        <a:graphic xmlns:a="http://schemas.openxmlformats.org/drawingml/2006/main">
          <a:graphicData uri="http://schemas.openxmlformats.org/drawingml/2006/chart">
            <c:chart xmlns:r="http://schemas.openxmlformats.org/officeDocument/2006/relationships" xmlns:c="http://schemas.openxmlformats.org/drawingml/2006/chart" r:id="Rf937b87ea5174533"/>
          </a:graphicData>
        </a:graphic>
      </p:graphicFrame>
      <p:sp>
        <p:nvSpPr>
          <p:cNvPr id="6" name="annual-callout">
            <a:extLst xmlns:a="http://schemas.openxmlformats.org/drawingml/2006/main">
              <a:ext uri="{FF2B5EF4-FFF2-40B4-BE49-F238E27FC236}">
                <a16:creationId xmlns:a16="http://schemas.microsoft.com/office/drawing/2014/main" id="{86AEA7D7-64FF-4B42-AB58-43241F21262F}"/>
              </a:ext>
            </a:extLst>
          </p:cNvPr>
          <p:cNvSpPr>
            <a:spLocks xmlns:a="http://schemas.openxmlformats.org/drawingml/2006/main" noGrp="1"/>
          </p:cNvSpPr>
          <p:nvPr/>
        </p:nvSpPr>
        <p:spPr>
          <a:xfrm xmlns:a="http://schemas.openxmlformats.org/drawingml/2006/main">
            <a:off x="9277350" y="2705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176B87"/>
                </a:solidFill>
                <a:latin typeface="Arial"/>
                <a:ea typeface="Arial"/>
                <a:cs typeface="Arial"/>
              </a:defRPr>
            </a:defPPr>
            <a:lvl1pPr algn="l">
              <a:defRPr sz="3150" b="1">
                <a:solidFill>
                  <a:srgbClr val="176B87"/>
                </a:solidFill>
                <a:latin typeface="Arial"/>
                <a:ea typeface="Arial"/>
                <a:cs typeface="Arial"/>
              </a:defRPr>
            </a:lvl1pPr>
            <a:lvl2pPr algn="l">
              <a:defRPr sz="3150" b="1">
                <a:solidFill>
                  <a:srgbClr val="176B87"/>
                </a:solidFill>
                <a:latin typeface="Arial"/>
                <a:ea typeface="Arial"/>
                <a:cs typeface="Arial"/>
              </a:defRPr>
            </a:lvl2pPr>
            <a:lvl3pPr algn="l">
              <a:defRPr sz="3150" b="1">
                <a:solidFill>
                  <a:srgbClr val="176B87"/>
                </a:solidFill>
                <a:latin typeface="Arial"/>
                <a:ea typeface="Arial"/>
                <a:cs typeface="Arial"/>
              </a:defRPr>
            </a:lvl3pPr>
            <a:lvl4pPr algn="l">
              <a:defRPr sz="3150" b="1">
                <a:solidFill>
                  <a:srgbClr val="176B87"/>
                </a:solidFill>
                <a:latin typeface="Arial"/>
                <a:ea typeface="Arial"/>
                <a:cs typeface="Arial"/>
              </a:defRPr>
            </a:lvl4pPr>
            <a:lvl5pPr algn="l">
              <a:defRPr sz="3150" b="1">
                <a:solidFill>
                  <a:srgbClr val="176B87"/>
                </a:solidFill>
                <a:latin typeface="Arial"/>
                <a:ea typeface="Arial"/>
                <a:cs typeface="Arial"/>
              </a:defRPr>
            </a:lvl5pPr>
            <a:lvl6pPr algn="l">
              <a:defRPr sz="3150" b="1">
                <a:solidFill>
                  <a:srgbClr val="176B87"/>
                </a:solidFill>
                <a:latin typeface="Arial"/>
                <a:ea typeface="Arial"/>
                <a:cs typeface="Arial"/>
              </a:defRPr>
            </a:lvl6pPr>
            <a:lvl7pPr algn="l">
              <a:defRPr sz="3150" b="1">
                <a:solidFill>
                  <a:srgbClr val="176B87"/>
                </a:solidFill>
                <a:latin typeface="Arial"/>
                <a:ea typeface="Arial"/>
                <a:cs typeface="Arial"/>
              </a:defRPr>
            </a:lvl7pPr>
            <a:lvl8pPr algn="l">
              <a:defRPr sz="3150" b="1">
                <a:solidFill>
                  <a:srgbClr val="176B87"/>
                </a:solidFill>
                <a:latin typeface="Arial"/>
                <a:ea typeface="Arial"/>
                <a:cs typeface="Arial"/>
              </a:defRPr>
            </a:lvl8pPr>
            <a:lvl9pPr algn="l">
              <a:defRPr sz="3150" b="1">
                <a:solidFill>
                  <a:srgbClr val="176B87"/>
                </a:solidFill>
                <a:latin typeface="Arial"/>
                <a:ea typeface="Arial"/>
                <a:cs typeface="Arial"/>
              </a:defRPr>
            </a:lvl9pPr>
          </a:lstStyle>
          <a:p xmlns:a="http://schemas.openxmlformats.org/drawingml/2006/main">
            <a:pPr algn="l">
              <a:defRPr sz="3150" b="1">
                <a:solidFill>
                  <a:srgbClr val="176B87"/>
                </a:solidFill>
                <a:latin typeface="Arial"/>
                <a:ea typeface="Arial"/>
                <a:cs typeface="Arial"/>
              </a:defRPr>
            </a:pPr>
            <a:r>
              <a:rPr sz="3150" b="1">
                <a:solidFill>
                  <a:srgbClr val="176B87"/>
                </a:solidFill>
                <a:latin typeface="Arial"/>
                <a:ea typeface="Arial"/>
                <a:cs typeface="Arial"/>
              </a:rPr>
              <a:t>+0,4 %</a:t>
            </a:r>
          </a:p>
        </p:txBody>
      </p:sp>
      <p:sp>
        <p:nvSpPr>
          <p:cNvPr id="7" name="annual-callout-caption">
            <a:extLst xmlns:a="http://schemas.openxmlformats.org/drawingml/2006/main">
              <a:ext uri="{FF2B5EF4-FFF2-40B4-BE49-F238E27FC236}">
                <a16:creationId xmlns:a16="http://schemas.microsoft.com/office/drawing/2014/main" id="{38DAA109-445E-48DF-B381-5988274ABF95}"/>
              </a:ext>
            </a:extLst>
          </p:cNvPr>
          <p:cNvSpPr>
            <a:spLocks xmlns:a="http://schemas.openxmlformats.org/drawingml/2006/main" noGrp="1"/>
          </p:cNvSpPr>
          <p:nvPr/>
        </p:nvSpPr>
        <p:spPr>
          <a:xfrm xmlns:a="http://schemas.openxmlformats.org/drawingml/2006/main">
            <a:off x="9277350" y="3400425"/>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variation entre 2021 et 2025</a:t>
            </a:r>
          </a:p>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(101 087 → 101 525)</a:t>
            </a:r>
          </a:p>
        </p:txBody>
      </p:sp>
      <p:sp>
        <p:nvSpPr>
          <p:cNvPr id="8" name="annual-limit">
            <a:extLst xmlns:a="http://schemas.openxmlformats.org/drawingml/2006/main">
              <a:ext uri="{FF2B5EF4-FFF2-40B4-BE49-F238E27FC236}">
                <a16:creationId xmlns:a16="http://schemas.microsoft.com/office/drawing/2014/main" id="{23FB5B31-9C7B-476F-8B41-1C4C1F3BD990}"/>
              </a:ext>
            </a:extLst>
          </p:cNvPr>
          <p:cNvSpPr>
            <a:spLocks xmlns:a="http://schemas.openxmlformats.org/drawingml/2006/main" noGrp="1"/>
          </p:cNvSpPr>
          <p:nvPr/>
        </p:nvSpPr>
        <p:spPr>
          <a:xfrm xmlns:a="http://schemas.openxmlformats.org/drawingml/2006/main">
            <a:off x="9277350" y="46672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C75A55"/>
                </a:solidFill>
                <a:latin typeface="Arial"/>
                <a:ea typeface="Arial"/>
                <a:cs typeface="Arial"/>
              </a:defRPr>
            </a:defPPr>
            <a:lvl1pPr algn="l">
              <a:defRPr sz="1500" b="1">
                <a:solidFill>
                  <a:srgbClr val="C75A55"/>
                </a:solidFill>
                <a:latin typeface="Arial"/>
                <a:ea typeface="Arial"/>
                <a:cs typeface="Arial"/>
              </a:defRPr>
            </a:lvl1pPr>
            <a:lvl2pPr algn="l">
              <a:defRPr sz="1500" b="1">
                <a:solidFill>
                  <a:srgbClr val="C75A55"/>
                </a:solidFill>
                <a:latin typeface="Arial"/>
                <a:ea typeface="Arial"/>
                <a:cs typeface="Arial"/>
              </a:defRPr>
            </a:lvl2pPr>
            <a:lvl3pPr algn="l">
              <a:defRPr sz="1500" b="1">
                <a:solidFill>
                  <a:srgbClr val="C75A55"/>
                </a:solidFill>
                <a:latin typeface="Arial"/>
                <a:ea typeface="Arial"/>
                <a:cs typeface="Arial"/>
              </a:defRPr>
            </a:lvl3pPr>
            <a:lvl4pPr algn="l">
              <a:defRPr sz="1500" b="1">
                <a:solidFill>
                  <a:srgbClr val="C75A55"/>
                </a:solidFill>
                <a:latin typeface="Arial"/>
                <a:ea typeface="Arial"/>
                <a:cs typeface="Arial"/>
              </a:defRPr>
            </a:lvl4pPr>
            <a:lvl5pPr algn="l">
              <a:defRPr sz="1500" b="1">
                <a:solidFill>
                  <a:srgbClr val="C75A55"/>
                </a:solidFill>
                <a:latin typeface="Arial"/>
                <a:ea typeface="Arial"/>
                <a:cs typeface="Arial"/>
              </a:defRPr>
            </a:lvl5pPr>
            <a:lvl6pPr algn="l">
              <a:defRPr sz="1500" b="1">
                <a:solidFill>
                  <a:srgbClr val="C75A55"/>
                </a:solidFill>
                <a:latin typeface="Arial"/>
                <a:ea typeface="Arial"/>
                <a:cs typeface="Arial"/>
              </a:defRPr>
            </a:lvl6pPr>
            <a:lvl7pPr algn="l">
              <a:defRPr sz="1500" b="1">
                <a:solidFill>
                  <a:srgbClr val="C75A55"/>
                </a:solidFill>
                <a:latin typeface="Arial"/>
                <a:ea typeface="Arial"/>
                <a:cs typeface="Arial"/>
              </a:defRPr>
            </a:lvl7pPr>
            <a:lvl8pPr algn="l">
              <a:defRPr sz="1500" b="1">
                <a:solidFill>
                  <a:srgbClr val="C75A55"/>
                </a:solidFill>
                <a:latin typeface="Arial"/>
                <a:ea typeface="Arial"/>
                <a:cs typeface="Arial"/>
              </a:defRPr>
            </a:lvl8pPr>
            <a:lvl9pPr algn="l">
              <a:defRPr sz="1500" b="1">
                <a:solidFill>
                  <a:srgbClr val="C75A55"/>
                </a:solidFill>
                <a:latin typeface="Arial"/>
                <a:ea typeface="Arial"/>
                <a:cs typeface="Arial"/>
              </a:defRPr>
            </a:lvl9pPr>
          </a:lstStyle>
          <a:p xmlns:a="http://schemas.openxmlformats.org/drawingml/2006/main">
            <a:pPr algn="l">
              <a:defRPr sz="1500" b="1">
                <a:solidFill>
                  <a:srgbClr val="C75A55"/>
                </a:solidFill>
                <a:latin typeface="Arial"/>
                <a:ea typeface="Arial"/>
                <a:cs typeface="Arial"/>
              </a:defRPr>
            </a:pPr>
            <a:r>
              <a:rPr sz="1500" b="1">
                <a:solidFill>
                  <a:srgbClr val="C75A55"/>
                </a:solidFill>
                <a:latin typeface="Arial"/>
                <a:ea typeface="Arial"/>
                <a:cs typeface="Arial"/>
              </a:rPr>
              <a:t>Comptes observés, sans dénominateur de trafic.</a:t>
            </a:r>
          </a:p>
        </p:txBody>
      </p:sp>
      <p:sp>
        <p:nvSpPr>
          <p:cNvPr id="9" name="annual-source">
            <a:extLst xmlns:a="http://schemas.openxmlformats.org/drawingml/2006/main">
              <a:ext uri="{FF2B5EF4-FFF2-40B4-BE49-F238E27FC236}">
                <a16:creationId xmlns:a16="http://schemas.microsoft.com/office/drawing/2014/main" id="{77C905E8-60B9-496E-8925-B320FB15D65B}"/>
              </a:ext>
            </a:extLst>
          </p:cNvPr>
          <p:cNvSpPr>
            <a:spLocks xmlns:a="http://schemas.openxmlformats.org/drawingml/2006/main" noGrp="1"/>
          </p:cNvSpPr>
          <p:nvPr/>
        </p:nvSpPr>
        <p:spPr>
          <a:xfrm xmlns:a="http://schemas.openxmlformats.org/drawingml/2006/main">
            <a:off x="742950" y="6115050"/>
            <a:ext cx="762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DfT · STATS19, CSV collisions 2021–2025</a:t>
            </a:r>
          </a:p>
        </p:txBody>
      </p:sp>
    </p:spTree>
    <p:extLst>
      <p:ext uri="{BB962C8B-B14F-4D97-AF65-F5344CB8AC3E}">
        <p14:creationId xmlns:p14="http://schemas.microsoft.com/office/powerpoint/2010/main" val="974752277"/>
      </p:ext>
    </p:extLst>
  </p:cSld>
</p:sld>
</file>

<file path=ppt/slides/slide10.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9" name="title-10">
            <a:extLst xmlns:a="http://schemas.openxmlformats.org/drawingml/2006/main">
              <a:ext uri="{FF2B5EF4-FFF2-40B4-BE49-F238E27FC236}">
                <a16:creationId xmlns:a16="http://schemas.microsoft.com/office/drawing/2014/main" id="{62F0B46B-3866-452E-A61F-3B55ED9F0E2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Gravité : lire les ajustements</a:t>
            </a:r>
          </a:p>
        </p:txBody>
      </p:sp>
      <p:sp>
        <p:nvSpPr>
          <p:cNvPr id="2" name="title-rule-10">
            <a:extLst xmlns:a="http://schemas.openxmlformats.org/drawingml/2006/main">
              <a:ext uri="{FF2B5EF4-FFF2-40B4-BE49-F238E27FC236}">
                <a16:creationId xmlns:a16="http://schemas.microsoft.com/office/drawing/2014/main" id="{7AF6E649-F6A3-4D1D-8895-9D23631621AB}"/>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0">
            <a:extLst xmlns:a="http://schemas.openxmlformats.org/drawingml/2006/main">
              <a:ext uri="{FF2B5EF4-FFF2-40B4-BE49-F238E27FC236}">
                <a16:creationId xmlns:a16="http://schemas.microsoft.com/office/drawing/2014/main" id="{9A730614-738E-4403-B070-10DDE873A93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10</a:t>
            </a:r>
          </a:p>
        </p:txBody>
      </p:sp>
      <p:sp>
        <p:nvSpPr>
          <p:cNvPr id="4" name="severity-lead">
            <a:extLst xmlns:a="http://schemas.openxmlformats.org/drawingml/2006/main">
              <a:ext uri="{FF2B5EF4-FFF2-40B4-BE49-F238E27FC236}">
                <a16:creationId xmlns:a16="http://schemas.microsoft.com/office/drawing/2014/main" id="{00543C20-3F97-4303-A0FF-472C76445308}"/>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La mesure des blessures a changé selon les forces de police.</a:t>
            </a:r>
          </a:p>
        </p:txBody>
      </p:sp>
      <p:graphicFrame>
        <p:nvGraphicFramePr>
          <p:cNvPr id="5" name="Chart">
            <a:extLst xmlns:a="http://schemas.openxmlformats.org/drawingml/2006/main">
              <a:ext uri="{FF2B5EF4-FFF2-40B4-BE49-F238E27FC236}">
                <a16:creationId xmlns:a16="http://schemas.microsoft.com/office/drawing/2014/main" id="{8CAC216A-7B82-4456-8748-EF40DAC5C6A1}"/>
              </a:ext>
            </a:extLst>
          </p:cNvPr>
          <p:cNvGraphicFramePr/>
          <p:nvPr/>
        </p:nvGraphicFramePr>
        <p:xfrm>
          <a:off xmlns:a="http://schemas.openxmlformats.org/drawingml/2006/main" x="742950" y="2181225"/>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0a667882aeb1437b"/>
          </a:graphicData>
        </a:graphic>
      </p:graphicFrame>
      <p:sp>
        <p:nvSpPr>
          <p:cNvPr id="6" name="severity-note-head">
            <a:extLst xmlns:a="http://schemas.openxmlformats.org/drawingml/2006/main">
              <a:ext uri="{FF2B5EF4-FFF2-40B4-BE49-F238E27FC236}">
                <a16:creationId xmlns:a16="http://schemas.microsoft.com/office/drawing/2014/main" id="{BC730D8D-BCD6-47A8-9D1F-CD81670702CF}"/>
              </a:ext>
            </a:extLst>
          </p:cNvPr>
          <p:cNvSpPr>
            <a:spLocks xmlns:a="http://schemas.openxmlformats.org/drawingml/2006/main" noGrp="1"/>
          </p:cNvSpPr>
          <p:nvPr/>
        </p:nvSpPr>
        <p:spPr>
          <a:xfrm xmlns:a="http://schemas.openxmlformats.org/drawingml/2006/main">
            <a:off x="8496300" y="232410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Pourquoi ajuster ?</a:t>
            </a:r>
          </a:p>
        </p:txBody>
      </p:sp>
      <p:sp>
        <p:nvSpPr>
          <p:cNvPr id="7" name="severity-note">
            <a:extLst xmlns:a="http://schemas.openxmlformats.org/drawingml/2006/main">
              <a:ext uri="{FF2B5EF4-FFF2-40B4-BE49-F238E27FC236}">
                <a16:creationId xmlns:a16="http://schemas.microsoft.com/office/drawing/2014/main" id="{27EE0771-B040-41BA-843E-2977A9B16806}"/>
              </a:ext>
            </a:extLst>
          </p:cNvPr>
          <p:cNvSpPr>
            <a:spLocks xmlns:a="http://schemas.openxmlformats.org/drawingml/2006/main" noGrp="1"/>
          </p:cNvSpPr>
          <p:nvPr/>
        </p:nvSpPr>
        <p:spPr>
          <a:xfrm xmlns:a="http://schemas.openxmlformats.org/drawingml/2006/main">
            <a:off x="8496300" y="28194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 DfT fournit des estimations ajustées pour tenir compte du passage de certaines forces à une déclaration fondée sur les blessures.</a:t>
            </a:r>
          </a:p>
          <a:p xmlns:a="http://schemas.openxmlformats.org/drawingml/2006/main">
            <a:r>
              <a:t/>
            </a:r>
          </a:p>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Les courbes sont des sommes d’estimations, pas des taux de risque.</a:t>
            </a:r>
          </a:p>
        </p:txBody>
      </p:sp>
      <p:sp>
        <p:nvSpPr>
          <p:cNvPr id="8" name="severity-source">
            <a:extLst xmlns:a="http://schemas.openxmlformats.org/drawingml/2006/main">
              <a:ext uri="{FF2B5EF4-FFF2-40B4-BE49-F238E27FC236}">
                <a16:creationId xmlns:a16="http://schemas.microsoft.com/office/drawing/2014/main" id="{235FD6D0-84FE-41C3-8795-31ACC9D59C62}"/>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Variables d’ajustement présentes dans le CSV collisions ; guide DfT sur la gravité</a:t>
            </a:r>
          </a:p>
        </p:txBody>
      </p:sp>
    </p:spTree>
    <p:extLst>
      <p:ext uri="{BB962C8B-B14F-4D97-AF65-F5344CB8AC3E}">
        <p14:creationId xmlns:p14="http://schemas.microsoft.com/office/powerpoint/2010/main" val="1716991243"/>
      </p:ext>
    </p:extLst>
  </p:cSld>
</p:sld>
</file>

<file path=ppt/slides/slide11.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11">
            <a:extLst xmlns:a="http://schemas.openxmlformats.org/drawingml/2006/main">
              <a:ext uri="{FF2B5EF4-FFF2-40B4-BE49-F238E27FC236}">
                <a16:creationId xmlns:a16="http://schemas.microsoft.com/office/drawing/2014/main" id="{8A42EEF9-267D-4367-B2A5-28B1653F3DD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Périodes et routes</a:t>
            </a:r>
          </a:p>
        </p:txBody>
      </p:sp>
      <p:sp>
        <p:nvSpPr>
          <p:cNvPr id="2" name="title-rule-11">
            <a:extLst xmlns:a="http://schemas.openxmlformats.org/drawingml/2006/main">
              <a:ext uri="{FF2B5EF4-FFF2-40B4-BE49-F238E27FC236}">
                <a16:creationId xmlns:a16="http://schemas.microsoft.com/office/drawing/2014/main" id="{BCB527ED-5A78-4F77-9CFC-D513D44E9F79}"/>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1">
            <a:extLst xmlns:a="http://schemas.openxmlformats.org/drawingml/2006/main">
              <a:ext uri="{FF2B5EF4-FFF2-40B4-BE49-F238E27FC236}">
                <a16:creationId xmlns:a16="http://schemas.microsoft.com/office/drawing/2014/main" id="{4560149E-1746-4197-BF13-DDC0DBC9953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11</a:t>
            </a:r>
          </a:p>
        </p:txBody>
      </p:sp>
      <p:sp>
        <p:nvSpPr>
          <p:cNvPr id="4" name="time-lead">
            <a:extLst xmlns:a="http://schemas.openxmlformats.org/drawingml/2006/main">
              <a:ext uri="{FF2B5EF4-FFF2-40B4-BE49-F238E27FC236}">
                <a16:creationId xmlns:a16="http://schemas.microsoft.com/office/drawing/2014/main" id="{8F78CFB4-DE70-4257-A098-A8DEB15FF154}"/>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Les enregistrements se concentrent en fin d’après-midi.</a:t>
            </a:r>
          </a:p>
        </p:txBody>
      </p:sp>
      <p:graphicFrame>
        <p:nvGraphicFramePr>
          <p:cNvPr id="5" name="Chart">
            <a:extLst xmlns:a="http://schemas.openxmlformats.org/drawingml/2006/main">
              <a:ext uri="{FF2B5EF4-FFF2-40B4-BE49-F238E27FC236}">
                <a16:creationId xmlns:a16="http://schemas.microsoft.com/office/drawing/2014/main" id="{7F4986F2-0CD6-4A4A-B1B6-372BFAF04B90}"/>
              </a:ext>
            </a:extLst>
          </p:cNvPr>
          <p:cNvGraphicFramePr/>
          <p:nvPr/>
        </p:nvGraphicFramePr>
        <p:xfrm>
          <a:off xmlns:a="http://schemas.openxmlformats.org/drawingml/2006/main" x="742950" y="2200275"/>
          <a:ext xmlns:a="http://schemas.openxmlformats.org/drawingml/2006/main" cx="6191250" cy="3476625"/>
        </p:xfrm>
        <a:graphic xmlns:a="http://schemas.openxmlformats.org/drawingml/2006/main">
          <a:graphicData uri="http://schemas.openxmlformats.org/drawingml/2006/chart">
            <c:chart xmlns:r="http://schemas.openxmlformats.org/officeDocument/2006/relationships" xmlns:c="http://schemas.openxmlformats.org/drawingml/2006/chart" r:id="Rcfe4c18f0d2f42a6"/>
          </a:graphicData>
        </a:graphic>
      </p:graphicFrame>
      <p:sp>
        <p:nvSpPr>
          <p:cNvPr id="6" name="time-highlight">
            <a:extLst xmlns:a="http://schemas.openxmlformats.org/drawingml/2006/main">
              <a:ext uri="{FF2B5EF4-FFF2-40B4-BE49-F238E27FC236}">
                <a16:creationId xmlns:a16="http://schemas.microsoft.com/office/drawing/2014/main" id="{D4F05C21-B87E-45FF-B3BA-3B4FE8E234C5}"/>
              </a:ext>
            </a:extLst>
          </p:cNvPr>
          <p:cNvSpPr>
            <a:spLocks xmlns:a="http://schemas.openxmlformats.org/drawingml/2006/main" noGrp="1"/>
          </p:cNvSpPr>
          <p:nvPr/>
        </p:nvSpPr>
        <p:spPr>
          <a:xfrm xmlns:a="http://schemas.openxmlformats.org/drawingml/2006/main">
            <a:off x="7715250" y="2400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17 h</a:t>
            </a:r>
          </a:p>
        </p:txBody>
      </p:sp>
      <p:sp>
        <p:nvSpPr>
          <p:cNvPr id="7" name="time-highlight-caption">
            <a:extLst xmlns:a="http://schemas.openxmlformats.org/drawingml/2006/main">
              <a:ext uri="{FF2B5EF4-FFF2-40B4-BE49-F238E27FC236}">
                <a16:creationId xmlns:a16="http://schemas.microsoft.com/office/drawing/2014/main" id="{8B3C4CBF-BDDC-4BA4-A512-EE825C8D1060}"/>
              </a:ext>
            </a:extLst>
          </p:cNvPr>
          <p:cNvSpPr>
            <a:spLocks xmlns:a="http://schemas.openxmlformats.org/drawingml/2006/main" noGrp="1"/>
          </p:cNvSpPr>
          <p:nvPr/>
        </p:nvSpPr>
        <p:spPr>
          <a:xfrm xmlns:a="http://schemas.openxmlformats.org/drawingml/2006/main">
            <a:off x="775335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44 792 collisions</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8,7 % du total</a:t>
            </a:r>
          </a:p>
        </p:txBody>
      </p:sp>
      <p:sp>
        <p:nvSpPr>
          <p:cNvPr id="8" name="speed-divider">
            <a:extLst xmlns:a="http://schemas.openxmlformats.org/drawingml/2006/main">
              <a:ext uri="{FF2B5EF4-FFF2-40B4-BE49-F238E27FC236}">
                <a16:creationId xmlns:a16="http://schemas.microsoft.com/office/drawing/2014/main" id="{2279F572-CB75-4226-88BA-03FE28E5EE70}"/>
              </a:ext>
            </a:extLst>
          </p:cNvPr>
          <p:cNvSpPr>
            <a:spLocks xmlns:a="http://schemas.openxmlformats.org/drawingml/2006/main" noGrp="1"/>
          </p:cNvSpPr>
          <p:nvPr/>
        </p:nvSpPr>
        <p:spPr>
          <a:xfrm xmlns:a="http://schemas.openxmlformats.org/drawingml/2006/main">
            <a:off x="7734300" y="4057650"/>
            <a:ext cx="285750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peed-share">
            <a:extLst xmlns:a="http://schemas.openxmlformats.org/drawingml/2006/main">
              <a:ext uri="{FF2B5EF4-FFF2-40B4-BE49-F238E27FC236}">
                <a16:creationId xmlns:a16="http://schemas.microsoft.com/office/drawing/2014/main" id="{AB134298-DD7A-4C56-B897-31611A69B48C}"/>
              </a:ext>
            </a:extLst>
          </p:cNvPr>
          <p:cNvSpPr>
            <a:spLocks xmlns:a="http://schemas.openxmlformats.org/drawingml/2006/main" noGrp="1"/>
          </p:cNvSpPr>
          <p:nvPr/>
        </p:nvSpPr>
        <p:spPr>
          <a:xfrm xmlns:a="http://schemas.openxmlformats.org/drawingml/2006/main">
            <a:off x="7715250" y="4286250"/>
            <a:ext cx="285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E2A33B"/>
                </a:solidFill>
                <a:latin typeface="Arial"/>
                <a:ea typeface="Arial"/>
                <a:cs typeface="Arial"/>
              </a:defRPr>
            </a:defPPr>
            <a:lvl1pPr algn="l">
              <a:defRPr sz="3150" b="1">
                <a:solidFill>
                  <a:srgbClr val="E2A33B"/>
                </a:solidFill>
                <a:latin typeface="Arial"/>
                <a:ea typeface="Arial"/>
                <a:cs typeface="Arial"/>
              </a:defRPr>
            </a:lvl1pPr>
            <a:lvl2pPr algn="l">
              <a:defRPr sz="3150" b="1">
                <a:solidFill>
                  <a:srgbClr val="E2A33B"/>
                </a:solidFill>
                <a:latin typeface="Arial"/>
                <a:ea typeface="Arial"/>
                <a:cs typeface="Arial"/>
              </a:defRPr>
            </a:lvl2pPr>
            <a:lvl3pPr algn="l">
              <a:defRPr sz="3150" b="1">
                <a:solidFill>
                  <a:srgbClr val="E2A33B"/>
                </a:solidFill>
                <a:latin typeface="Arial"/>
                <a:ea typeface="Arial"/>
                <a:cs typeface="Arial"/>
              </a:defRPr>
            </a:lvl3pPr>
            <a:lvl4pPr algn="l">
              <a:defRPr sz="3150" b="1">
                <a:solidFill>
                  <a:srgbClr val="E2A33B"/>
                </a:solidFill>
                <a:latin typeface="Arial"/>
                <a:ea typeface="Arial"/>
                <a:cs typeface="Arial"/>
              </a:defRPr>
            </a:lvl4pPr>
            <a:lvl5pPr algn="l">
              <a:defRPr sz="3150" b="1">
                <a:solidFill>
                  <a:srgbClr val="E2A33B"/>
                </a:solidFill>
                <a:latin typeface="Arial"/>
                <a:ea typeface="Arial"/>
                <a:cs typeface="Arial"/>
              </a:defRPr>
            </a:lvl5pPr>
            <a:lvl6pPr algn="l">
              <a:defRPr sz="3150" b="1">
                <a:solidFill>
                  <a:srgbClr val="E2A33B"/>
                </a:solidFill>
                <a:latin typeface="Arial"/>
                <a:ea typeface="Arial"/>
                <a:cs typeface="Arial"/>
              </a:defRPr>
            </a:lvl6pPr>
            <a:lvl7pPr algn="l">
              <a:defRPr sz="3150" b="1">
                <a:solidFill>
                  <a:srgbClr val="E2A33B"/>
                </a:solidFill>
                <a:latin typeface="Arial"/>
                <a:ea typeface="Arial"/>
                <a:cs typeface="Arial"/>
              </a:defRPr>
            </a:lvl7pPr>
            <a:lvl8pPr algn="l">
              <a:defRPr sz="3150" b="1">
                <a:solidFill>
                  <a:srgbClr val="E2A33B"/>
                </a:solidFill>
                <a:latin typeface="Arial"/>
                <a:ea typeface="Arial"/>
                <a:cs typeface="Arial"/>
              </a:defRPr>
            </a:lvl8pPr>
            <a:lvl9pPr algn="l">
              <a:defRPr sz="3150" b="1">
                <a:solidFill>
                  <a:srgbClr val="E2A33B"/>
                </a:solidFill>
                <a:latin typeface="Arial"/>
                <a:ea typeface="Arial"/>
                <a:cs typeface="Arial"/>
              </a:defRPr>
            </a:lvl9pPr>
          </a:lstStyle>
          <a:p xmlns:a="http://schemas.openxmlformats.org/drawingml/2006/main">
            <a:pPr algn="l">
              <a:defRPr sz="3150" b="1">
                <a:solidFill>
                  <a:srgbClr val="E2A33B"/>
                </a:solidFill>
                <a:latin typeface="Arial"/>
                <a:ea typeface="Arial"/>
                <a:cs typeface="Arial"/>
              </a:defRPr>
            </a:pPr>
            <a:r>
              <a:rPr sz="3150" b="1">
                <a:solidFill>
                  <a:srgbClr val="E2A33B"/>
                </a:solidFill>
                <a:latin typeface="Arial"/>
                <a:ea typeface="Arial"/>
                <a:cs typeface="Arial"/>
              </a:rPr>
              <a:t>52,0 %</a:t>
            </a:r>
          </a:p>
        </p:txBody>
      </p:sp>
      <p:sp>
        <p:nvSpPr>
          <p:cNvPr id="10" name="speed-share-caption">
            <a:extLst xmlns:a="http://schemas.openxmlformats.org/drawingml/2006/main">
              <a:ext uri="{FF2B5EF4-FFF2-40B4-BE49-F238E27FC236}">
                <a16:creationId xmlns:a16="http://schemas.microsoft.com/office/drawing/2014/main" id="{311DBA4A-523A-4D51-BE69-842039AB9B90}"/>
              </a:ext>
            </a:extLst>
          </p:cNvPr>
          <p:cNvSpPr>
            <a:spLocks xmlns:a="http://schemas.openxmlformats.org/drawingml/2006/main" noGrp="1"/>
          </p:cNvSpPr>
          <p:nvPr/>
        </p:nvSpPr>
        <p:spPr>
          <a:xfrm xmlns:a="http://schemas.openxmlformats.org/drawingml/2006/main">
            <a:off x="7753350" y="4953000"/>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des collisions sont enregistrées sur une route limitée à 30 mph</a:t>
            </a:r>
          </a:p>
        </p:txBody>
      </p:sp>
      <p:sp>
        <p:nvSpPr>
          <p:cNvPr id="11" name="time-caveat">
            <a:extLst xmlns:a="http://schemas.openxmlformats.org/drawingml/2006/main">
              <a:ext uri="{FF2B5EF4-FFF2-40B4-BE49-F238E27FC236}">
                <a16:creationId xmlns:a16="http://schemas.microsoft.com/office/drawing/2014/main" id="{D85F7D78-EECE-4E8D-84E1-611DF63DC60F}"/>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Fréquences absolues · exposition et volumes de circulation non disponibles</a:t>
            </a:r>
          </a:p>
        </p:txBody>
      </p:sp>
    </p:spTree>
    <p:extLst>
      <p:ext uri="{BB962C8B-B14F-4D97-AF65-F5344CB8AC3E}">
        <p14:creationId xmlns:p14="http://schemas.microsoft.com/office/powerpoint/2010/main" val="1963007825"/>
      </p:ext>
    </p:extLst>
  </p:cSld>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Interprétation et limites</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16</a:t>
            </a:r>
          </a:p>
        </p:txBody>
      </p:sp>
      <p:sp>
        <p:nvSpPr>
          <p:cNvPr id="4" name="interpret-supported-head">
            <a:extLst>
              <a:ext uri="{FF2B5EF4-FFF2-40B4-BE49-F238E27FC236}">
                <a16:creationId id="{25F971AC-CDBA-4E21-BB0E-4C90AE31BD8D}"/>
              </a:ext>
            </a:extLst>
          </p:cNvPr>
          <p:cNvSpPr>
            <a:spLocks noGrp="1"/>
          </p:cNvSpPr>
          <p:nvPr/>
        </p:nvSpPr>
        <p:spPr>
          <a:xfrm>
            <a:off x="742950" y="1704975"/>
            <a:ext cx="4476750" cy="381000"/>
          </a:xfrm>
          <a:prstGeom prst="rect">
            <a:avLst/>
          </a:prstGeom>
          <a:noFill/>
          <a:ln w="0">
            <a:noFill/>
            <a:prstDash val="solid"/>
          </a:ln>
        </p:spPr>
        <p:txBody>
          <a:bodyPr wrap="square" lIns="0" tIns="0" rIns="0" bIns="0" anchor="t"/>
          <a:lstStyle>
            <a:defPPr algn="l">
              <a:defRPr sz="2175" b="1">
                <a:solidFill>
                  <a:srgbClr val="176B87"/>
                </a:solidFill>
                <a:latin typeface="Arial"/>
                <a:ea typeface="Arial"/>
                <a:cs typeface="Arial"/>
              </a:defRPr>
            </a:defPPr>
            <a:lvl1pPr algn="l">
              <a:defRPr sz="2175" b="1">
                <a:solidFill>
                  <a:srgbClr val="176B87"/>
                </a:solidFill>
                <a:latin typeface="Arial"/>
                <a:ea typeface="Arial"/>
                <a:cs typeface="Arial"/>
              </a:defRPr>
            </a:lvl1pPr>
            <a:lvl2pPr algn="l">
              <a:defRPr sz="2175" b="1">
                <a:solidFill>
                  <a:srgbClr val="176B87"/>
                </a:solidFill>
                <a:latin typeface="Arial"/>
                <a:ea typeface="Arial"/>
                <a:cs typeface="Arial"/>
              </a:defRPr>
            </a:lvl2pPr>
            <a:lvl3pPr algn="l">
              <a:defRPr sz="2175" b="1">
                <a:solidFill>
                  <a:srgbClr val="176B87"/>
                </a:solidFill>
                <a:latin typeface="Arial"/>
                <a:ea typeface="Arial"/>
                <a:cs typeface="Arial"/>
              </a:defRPr>
            </a:lvl3pPr>
            <a:lvl4pPr algn="l">
              <a:defRPr sz="2175" b="1">
                <a:solidFill>
                  <a:srgbClr val="176B87"/>
                </a:solidFill>
                <a:latin typeface="Arial"/>
                <a:ea typeface="Arial"/>
                <a:cs typeface="Arial"/>
              </a:defRPr>
            </a:lvl4pPr>
            <a:lvl5pPr algn="l">
              <a:defRPr sz="2175" b="1">
                <a:solidFill>
                  <a:srgbClr val="176B87"/>
                </a:solidFill>
                <a:latin typeface="Arial"/>
                <a:ea typeface="Arial"/>
                <a:cs typeface="Arial"/>
              </a:defRPr>
            </a:lvl5pPr>
            <a:lvl6pPr algn="l">
              <a:defRPr sz="2175" b="1">
                <a:solidFill>
                  <a:srgbClr val="176B87"/>
                </a:solidFill>
                <a:latin typeface="Arial"/>
                <a:ea typeface="Arial"/>
                <a:cs typeface="Arial"/>
              </a:defRPr>
            </a:lvl6pPr>
            <a:lvl7pPr algn="l">
              <a:defRPr sz="2175" b="1">
                <a:solidFill>
                  <a:srgbClr val="176B87"/>
                </a:solidFill>
                <a:latin typeface="Arial"/>
                <a:ea typeface="Arial"/>
                <a:cs typeface="Arial"/>
              </a:defRPr>
            </a:lvl7pPr>
            <a:lvl8pPr algn="l">
              <a:defRPr sz="2175" b="1">
                <a:solidFill>
                  <a:srgbClr val="176B87"/>
                </a:solidFill>
                <a:latin typeface="Arial"/>
                <a:ea typeface="Arial"/>
                <a:cs typeface="Arial"/>
              </a:defRPr>
            </a:lvl8pPr>
            <a:lvl9pPr algn="l">
              <a:defRPr sz="2175" b="1">
                <a:solidFill>
                  <a:srgbClr val="176B87"/>
                </a:solidFill>
                <a:latin typeface="Arial"/>
                <a:ea typeface="Arial"/>
                <a:cs typeface="Arial"/>
              </a:defRPr>
            </a:lvl9pPr>
          </a:lstStyle>
          <a:p>
            <a:pPr algn="l">
              <a:defRPr sz="2175" b="1">
                <a:solidFill>
                  <a:srgbClr val="176B87"/>
                </a:solidFill>
                <a:latin typeface="Arial"/>
                <a:ea typeface="Arial"/>
                <a:cs typeface="Arial"/>
              </a:defRPr>
            </a:pPr>
            <a:r>
              <a:rPr sz="2175" b="1">
                <a:solidFill>
                  <a:srgbClr val="176B87"/>
                </a:solidFill>
                <a:latin typeface="Arial"/>
                <a:ea typeface="Arial"/>
                <a:cs typeface="Arial"/>
              </a:rPr>
              <a:t>L’analyse peut</a:t>
            </a:r>
          </a:p>
        </p:txBody>
      </p:sp>
      <p:sp>
        <p:nvSpPr>
          <p:cNvPr id="5" name="interpret-supported">
            <a:extLst>
              <a:ext uri="{FF2B5EF4-FFF2-40B4-BE49-F238E27FC236}">
                <a16:creationId id="{572A527E-2D93-4A64-A25E-49DEB63C6819}"/>
              </a:ext>
            </a:extLst>
          </p:cNvPr>
          <p:cNvSpPr>
            <a:spLocks noGrp="1"/>
          </p:cNvSpPr>
          <p:nvPr/>
        </p:nvSpPr>
        <p:spPr>
          <a:xfrm>
            <a:off x="742950" y="2286000"/>
            <a:ext cx="4762500" cy="18097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0">
                <a:solidFill>
                  <a:srgbClr val="10283F"/>
                </a:solidFill>
                <a:latin typeface="Arial"/>
                <a:ea typeface="Arial"/>
                <a:cs typeface="Arial"/>
              </a:rPr>
              <a:t>Décrire les volumes enregistrés.</a:t>
            </a:r>
          </a:p>
          <a:p>
            <a:pPr algn="l">
              <a:defRPr sz="1725" b="0">
                <a:solidFill>
                  <a:srgbClr val="10283F"/>
                </a:solidFill>
                <a:latin typeface="Arial"/>
                <a:ea typeface="Arial"/>
                <a:cs typeface="Arial"/>
              </a:defRPr>
            </a:pPr>
            <a:r>
              <a:rPr sz="1725" b="0">
                <a:solidFill>
                  <a:srgbClr val="10283F"/>
                </a:solidFill>
                <a:latin typeface="Arial"/>
                <a:ea typeface="Arial"/>
                <a:cs typeface="Arial"/>
              </a:rPr>
              <a:t>Comparer les distributions et les périodes.</a:t>
            </a:r>
          </a:p>
          <a:p>
            <a:pPr algn="l">
              <a:defRPr sz="1725" b="0">
                <a:solidFill>
                  <a:srgbClr val="10283F"/>
                </a:solidFill>
                <a:latin typeface="Arial"/>
                <a:ea typeface="Arial"/>
                <a:cs typeface="Arial"/>
              </a:defRPr>
            </a:pPr>
            <a:r>
              <a:rPr sz="1725" b="0">
                <a:solidFill>
                  <a:srgbClr val="10283F"/>
                </a:solidFill>
                <a:latin typeface="Arial"/>
                <a:ea typeface="Arial"/>
                <a:cs typeface="Arial"/>
              </a:rPr>
              <a:t>Repérer des pistes à examiner localement.</a:t>
            </a:r>
          </a:p>
        </p:txBody>
      </p:sp>
      <p:sp>
        <p:nvSpPr>
          <p:cNvPr id="6" name="interpret-divider">
            <a:extLst>
              <a:ext uri="{FF2B5EF4-FFF2-40B4-BE49-F238E27FC236}">
                <a16:creationId id="{0578C8B0-70F0-4C84-B14D-8BF7571872F6}"/>
              </a:ext>
            </a:extLst>
          </p:cNvPr>
          <p:cNvSpPr>
            <a:spLocks noGrp="1"/>
          </p:cNvSpPr>
          <p:nvPr/>
        </p:nvSpPr>
        <p:spPr>
          <a:xfrm>
            <a:off x="5953125" y="1685925"/>
            <a:ext cx="19050" cy="3476625"/>
          </a:xfrm>
          <a:prstGeom prst="rect">
            <a:avLst/>
          </a:prstGeom>
          <a:solidFill>
            <a:srgbClr val="D5DEE4"/>
          </a:solidFill>
          <a:ln w="0">
            <a:noFill/>
            <a:prstDash val="solid"/>
          </a:ln>
        </p:spPr>
      </p:sp>
      <p:sp>
        <p:nvSpPr>
          <p:cNvPr id="7" name="interpret-limits-head">
            <a:extLst>
              <a:ext uri="{FF2B5EF4-FFF2-40B4-BE49-F238E27FC236}">
                <a16:creationId id="{80832BEC-87CF-4E47-88F2-6A316D58CF4E}"/>
              </a:ext>
            </a:extLst>
          </p:cNvPr>
          <p:cNvSpPr>
            <a:spLocks noGrp="1"/>
          </p:cNvSpPr>
          <p:nvPr/>
        </p:nvSpPr>
        <p:spPr>
          <a:xfrm>
            <a:off x="6572250" y="1704975"/>
            <a:ext cx="4572000" cy="381000"/>
          </a:xfrm>
          <a:prstGeom prst="rect">
            <a:avLst/>
          </a:prstGeom>
          <a:noFill/>
          <a:ln w="0">
            <a:noFill/>
            <a:prstDash val="solid"/>
          </a:ln>
        </p:spPr>
        <p:txBody>
          <a:bodyPr wrap="square" lIns="0" tIns="0" rIns="0" bIns="0" anchor="t"/>
          <a:lstStyle>
            <a:defPPr algn="l">
              <a:defRPr sz="2175" b="1">
                <a:solidFill>
                  <a:srgbClr val="C75A55"/>
                </a:solidFill>
                <a:latin typeface="Arial"/>
                <a:ea typeface="Arial"/>
                <a:cs typeface="Arial"/>
              </a:defRPr>
            </a:defPPr>
            <a:lvl1pPr algn="l">
              <a:defRPr sz="2175" b="1">
                <a:solidFill>
                  <a:srgbClr val="C75A55"/>
                </a:solidFill>
                <a:latin typeface="Arial"/>
                <a:ea typeface="Arial"/>
                <a:cs typeface="Arial"/>
              </a:defRPr>
            </a:lvl1pPr>
            <a:lvl2pPr algn="l">
              <a:defRPr sz="2175" b="1">
                <a:solidFill>
                  <a:srgbClr val="C75A55"/>
                </a:solidFill>
                <a:latin typeface="Arial"/>
                <a:ea typeface="Arial"/>
                <a:cs typeface="Arial"/>
              </a:defRPr>
            </a:lvl2pPr>
            <a:lvl3pPr algn="l">
              <a:defRPr sz="2175" b="1">
                <a:solidFill>
                  <a:srgbClr val="C75A55"/>
                </a:solidFill>
                <a:latin typeface="Arial"/>
                <a:ea typeface="Arial"/>
                <a:cs typeface="Arial"/>
              </a:defRPr>
            </a:lvl3pPr>
            <a:lvl4pPr algn="l">
              <a:defRPr sz="2175" b="1">
                <a:solidFill>
                  <a:srgbClr val="C75A55"/>
                </a:solidFill>
                <a:latin typeface="Arial"/>
                <a:ea typeface="Arial"/>
                <a:cs typeface="Arial"/>
              </a:defRPr>
            </a:lvl4pPr>
            <a:lvl5pPr algn="l">
              <a:defRPr sz="2175" b="1">
                <a:solidFill>
                  <a:srgbClr val="C75A55"/>
                </a:solidFill>
                <a:latin typeface="Arial"/>
                <a:ea typeface="Arial"/>
                <a:cs typeface="Arial"/>
              </a:defRPr>
            </a:lvl5pPr>
            <a:lvl6pPr algn="l">
              <a:defRPr sz="2175" b="1">
                <a:solidFill>
                  <a:srgbClr val="C75A55"/>
                </a:solidFill>
                <a:latin typeface="Arial"/>
                <a:ea typeface="Arial"/>
                <a:cs typeface="Arial"/>
              </a:defRPr>
            </a:lvl6pPr>
            <a:lvl7pPr algn="l">
              <a:defRPr sz="2175" b="1">
                <a:solidFill>
                  <a:srgbClr val="C75A55"/>
                </a:solidFill>
                <a:latin typeface="Arial"/>
                <a:ea typeface="Arial"/>
                <a:cs typeface="Arial"/>
              </a:defRPr>
            </a:lvl7pPr>
            <a:lvl8pPr algn="l">
              <a:defRPr sz="2175" b="1">
                <a:solidFill>
                  <a:srgbClr val="C75A55"/>
                </a:solidFill>
                <a:latin typeface="Arial"/>
                <a:ea typeface="Arial"/>
                <a:cs typeface="Arial"/>
              </a:defRPr>
            </a:lvl8pPr>
            <a:lvl9pPr algn="l">
              <a:defRPr sz="2175" b="1">
                <a:solidFill>
                  <a:srgbClr val="C75A55"/>
                </a:solidFill>
                <a:latin typeface="Arial"/>
                <a:ea typeface="Arial"/>
                <a:cs typeface="Arial"/>
              </a:defRPr>
            </a:lvl9pPr>
          </a:lstStyle>
          <a:p>
            <a:pPr algn="l">
              <a:defRPr sz="2175" b="1">
                <a:solidFill>
                  <a:srgbClr val="C75A55"/>
                </a:solidFill>
                <a:latin typeface="Arial"/>
                <a:ea typeface="Arial"/>
                <a:cs typeface="Arial"/>
              </a:defRPr>
            </a:pPr>
            <a:r>
              <a:rPr sz="2175" b="1">
                <a:solidFill>
                  <a:srgbClr val="C75A55"/>
                </a:solidFill>
                <a:latin typeface="Arial"/>
                <a:ea typeface="Arial"/>
                <a:cs typeface="Arial"/>
              </a:rPr>
              <a:t>Elle ne suffit pas à</a:t>
            </a:r>
          </a:p>
        </p:txBody>
      </p:sp>
      <p:sp>
        <p:nvSpPr>
          <p:cNvPr id="8" name="interpret-limits">
            <a:extLst>
              <a:ext uri="{FF2B5EF4-FFF2-40B4-BE49-F238E27FC236}">
                <a16:creationId id="{F26DC80E-DB66-4549-9BD5-2079FC9A884A}"/>
              </a:ext>
            </a:extLst>
          </p:cNvPr>
          <p:cNvSpPr>
            <a:spLocks noGrp="1"/>
          </p:cNvSpPr>
          <p:nvPr/>
        </p:nvSpPr>
        <p:spPr>
          <a:xfrm>
            <a:off x="6572250" y="2286000"/>
            <a:ext cx="4810125" cy="204787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0">
                <a:solidFill>
                  <a:srgbClr val="10283F"/>
                </a:solidFill>
                <a:latin typeface="Arial"/>
                <a:ea typeface="Arial"/>
                <a:cs typeface="Arial"/>
              </a:rPr>
              <a:t>Mesurer un risque sans exposition au trafic.</a:t>
            </a:r>
          </a:p>
          <a:p>
            <a:pPr algn="l">
              <a:defRPr sz="1725" b="0">
                <a:solidFill>
                  <a:srgbClr val="10283F"/>
                </a:solidFill>
                <a:latin typeface="Arial"/>
                <a:ea typeface="Arial"/>
                <a:cs typeface="Arial"/>
              </a:defRPr>
            </a:pPr>
            <a:r>
              <a:rPr sz="1725" b="0">
                <a:solidFill>
                  <a:srgbClr val="10283F"/>
                </a:solidFill>
                <a:latin typeface="Arial"/>
                <a:ea typeface="Arial"/>
                <a:cs typeface="Arial"/>
              </a:rPr>
              <a:t>Attribuer une cause à une collision.</a:t>
            </a:r>
          </a:p>
          <a:p>
            <a:pPr algn="l">
              <a:defRPr sz="1725" b="0">
                <a:solidFill>
                  <a:srgbClr val="10283F"/>
                </a:solidFill>
                <a:latin typeface="Arial"/>
                <a:ea typeface="Arial"/>
                <a:cs typeface="Arial"/>
              </a:defRPr>
            </a:pPr>
            <a:r>
              <a:rPr sz="1725" b="0">
                <a:solidFill>
                  <a:srgbClr val="10283F"/>
                </a:solidFill>
                <a:latin typeface="Arial"/>
                <a:ea typeface="Arial"/>
                <a:cs typeface="Arial"/>
              </a:rPr>
              <a:t>Représenter les incidents non déclarés ou sans blessé.</a:t>
            </a:r>
          </a:p>
        </p:txBody>
      </p:sp>
      <p:sp>
        <p:nvSpPr>
          <p:cNvPr id="9" name="interpret-next">
            <a:extLst>
              <a:ext uri="{FF2B5EF4-FFF2-40B4-BE49-F238E27FC236}">
                <a16:creationId id="{34B948E4-D8AA-4FA8-91CA-25540B7868D9}"/>
              </a:ext>
            </a:extLst>
          </p:cNvPr>
          <p:cNvSpPr>
            <a:spLocks noGrp="1"/>
          </p:cNvSpPr>
          <p:nvPr/>
        </p:nvSpPr>
        <p:spPr>
          <a:xfrm>
            <a:off x="742950" y="5257800"/>
            <a:ext cx="10477500" cy="723900"/>
          </a:xfrm>
          <a:prstGeom prst="rect">
            <a:avLst/>
          </a:prstGeom>
          <a:noFill/>
          <a:ln w="0">
            <a:noFill/>
            <a:prstDash val="solid"/>
          </a:ln>
        </p:spPr>
        <p:txBody>
          <a:bodyPr wrap="square" lIns="0" tIns="0" rIns="0" bIns="0" anchor="t"/>
          <a:lstStyle>
            <a:defPPr algn="l">
              <a:defRPr sz="1650" b="1">
                <a:solidFill>
                  <a:srgbClr val="10283F"/>
                </a:solidFill>
                <a:latin typeface="Arial"/>
                <a:ea typeface="Arial"/>
                <a:cs typeface="Arial"/>
              </a:defRPr>
            </a:defPPr>
            <a:lvl1pPr algn="l">
              <a:defRPr sz="1650" b="1">
                <a:solidFill>
                  <a:srgbClr val="10283F"/>
                </a:solidFill>
                <a:latin typeface="Arial"/>
                <a:ea typeface="Arial"/>
                <a:cs typeface="Arial"/>
              </a:defRPr>
            </a:lvl1pPr>
            <a:lvl2pPr algn="l">
              <a:defRPr sz="1650" b="1">
                <a:solidFill>
                  <a:srgbClr val="10283F"/>
                </a:solidFill>
                <a:latin typeface="Arial"/>
                <a:ea typeface="Arial"/>
                <a:cs typeface="Arial"/>
              </a:defRPr>
            </a:lvl2pPr>
            <a:lvl3pPr algn="l">
              <a:defRPr sz="1650" b="1">
                <a:solidFill>
                  <a:srgbClr val="10283F"/>
                </a:solidFill>
                <a:latin typeface="Arial"/>
                <a:ea typeface="Arial"/>
                <a:cs typeface="Arial"/>
              </a:defRPr>
            </a:lvl3pPr>
            <a:lvl4pPr algn="l">
              <a:defRPr sz="1650" b="1">
                <a:solidFill>
                  <a:srgbClr val="10283F"/>
                </a:solidFill>
                <a:latin typeface="Arial"/>
                <a:ea typeface="Arial"/>
                <a:cs typeface="Arial"/>
              </a:defRPr>
            </a:lvl4pPr>
            <a:lvl5pPr algn="l">
              <a:defRPr sz="1650" b="1">
                <a:solidFill>
                  <a:srgbClr val="10283F"/>
                </a:solidFill>
                <a:latin typeface="Arial"/>
                <a:ea typeface="Arial"/>
                <a:cs typeface="Arial"/>
              </a:defRPr>
            </a:lvl5pPr>
            <a:lvl6pPr algn="l">
              <a:defRPr sz="1650" b="1">
                <a:solidFill>
                  <a:srgbClr val="10283F"/>
                </a:solidFill>
                <a:latin typeface="Arial"/>
                <a:ea typeface="Arial"/>
                <a:cs typeface="Arial"/>
              </a:defRPr>
            </a:lvl6pPr>
            <a:lvl7pPr algn="l">
              <a:defRPr sz="1650" b="1">
                <a:solidFill>
                  <a:srgbClr val="10283F"/>
                </a:solidFill>
                <a:latin typeface="Arial"/>
                <a:ea typeface="Arial"/>
                <a:cs typeface="Arial"/>
              </a:defRPr>
            </a:lvl7pPr>
            <a:lvl8pPr algn="l">
              <a:defRPr sz="1650" b="1">
                <a:solidFill>
                  <a:srgbClr val="10283F"/>
                </a:solidFill>
                <a:latin typeface="Arial"/>
                <a:ea typeface="Arial"/>
                <a:cs typeface="Arial"/>
              </a:defRPr>
            </a:lvl8pPr>
            <a:lvl9pPr algn="l">
              <a:defRPr sz="1650" b="1">
                <a:solidFill>
                  <a:srgbClr val="10283F"/>
                </a:solidFill>
                <a:latin typeface="Arial"/>
                <a:ea typeface="Arial"/>
                <a:cs typeface="Arial"/>
              </a:defRPr>
            </a:lvl9pPr>
          </a:lstStyle>
          <a:p>
            <a:pPr algn="l">
              <a:defRPr sz="1650" b="1">
                <a:solidFill>
                  <a:srgbClr val="10283F"/>
                </a:solidFill>
                <a:latin typeface="Arial"/>
                <a:ea typeface="Arial"/>
                <a:cs typeface="Arial"/>
              </a:defRPr>
            </a:pPr>
            <a:r>
              <a:rPr sz="1650" b="1">
                <a:solidFill>
                  <a:srgbClr val="10283F"/>
                </a:solidFill>
                <a:latin typeface="Arial"/>
                <a:ea typeface="Arial"/>
                <a:cs typeface="Arial"/>
              </a:rPr>
              <a:t>Suite du projet : classifier la gravité individuelle des victimes, puis estimer leur nombre par collision.</a:t>
            </a:r>
          </a:p>
        </p:txBody>
      </p:sp>
    </p:spTree>
    <p:extLst>
      <p:ext uri="{BB962C8B-B14F-4D97-AF65-F5344CB8AC3E}">
        <p14:creationId val="757959548"/>
      </p:ext>
    </p:extLst>
  </p:cSld>
</p:sld>
</file>

<file path=ppt/slides/slide13.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0B1D30"/>
        </a:solidFill>
      </p:bgPr>
    </p:bg>
    <p:spTree>
      <p:nvGrpSpPr>
        <p:cNvPr id="1" name=""/>
        <p:cNvGrpSpPr/>
        <p:nvPr/>
      </p:nvGrpSpPr>
      <p:grpSpPr>
        <a:xfrm/>
      </p:grpSpPr>
      <p:sp>
        <p:nvSpPr>
          <p:cNvPr id="17" name="team-title">
            <a:extLst>
              <a:ext uri="{FF2B5EF4-FFF2-40B4-BE49-F238E27FC236}">
                <a16:creationId id="{7C1F55B0-87C8-43B5-A841-4A0B44E14A47}"/>
              </a:ext>
            </a:extLst>
          </p:cNvPr>
          <p:cNvSpPr>
            <a:spLocks noGrp="1"/>
          </p:cNvSpPr>
          <p:nvPr/>
        </p:nvSpPr>
        <p:spPr>
          <a:xfrm>
            <a:off x="742950" y="609600"/>
            <a:ext cx="8382000" cy="609600"/>
          </a:xfrm>
          <a:prstGeom prst="rect">
            <a:avLst/>
          </a:prstGeom>
          <a:noFill/>
          <a:ln w="0">
            <a:noFill/>
            <a:prstDash val="solid"/>
          </a:ln>
        </p:spPr>
        <p:txBody>
          <a:bodyPr wrap="square" lIns="0" tIns="0" rIns="0" bIns="0" anchor="t"/>
          <a:lstStyle>
            <a:defPPr algn="l">
              <a:defRPr sz="3525" b="1">
                <a:solidFill>
                  <a:srgbClr val="FFFFFF"/>
                </a:solidFill>
                <a:latin typeface="Arial"/>
                <a:ea typeface="Arial"/>
                <a:cs typeface="Arial"/>
              </a:defRPr>
            </a:defPPr>
            <a:lvl1pPr algn="l">
              <a:defRPr sz="3525" b="1">
                <a:solidFill>
                  <a:srgbClr val="FFFFFF"/>
                </a:solidFill>
                <a:latin typeface="Arial"/>
                <a:ea typeface="Arial"/>
                <a:cs typeface="Arial"/>
              </a:defRPr>
            </a:lvl1pPr>
            <a:lvl2pPr algn="l">
              <a:defRPr sz="3525" b="1">
                <a:solidFill>
                  <a:srgbClr val="FFFFFF"/>
                </a:solidFill>
                <a:latin typeface="Arial"/>
                <a:ea typeface="Arial"/>
                <a:cs typeface="Arial"/>
              </a:defRPr>
            </a:lvl2pPr>
            <a:lvl3pPr algn="l">
              <a:defRPr sz="3525" b="1">
                <a:solidFill>
                  <a:srgbClr val="FFFFFF"/>
                </a:solidFill>
                <a:latin typeface="Arial"/>
                <a:ea typeface="Arial"/>
                <a:cs typeface="Arial"/>
              </a:defRPr>
            </a:lvl3pPr>
            <a:lvl4pPr algn="l">
              <a:defRPr sz="3525" b="1">
                <a:solidFill>
                  <a:srgbClr val="FFFFFF"/>
                </a:solidFill>
                <a:latin typeface="Arial"/>
                <a:ea typeface="Arial"/>
                <a:cs typeface="Arial"/>
              </a:defRPr>
            </a:lvl4pPr>
            <a:lvl5pPr algn="l">
              <a:defRPr sz="3525" b="1">
                <a:solidFill>
                  <a:srgbClr val="FFFFFF"/>
                </a:solidFill>
                <a:latin typeface="Arial"/>
                <a:ea typeface="Arial"/>
                <a:cs typeface="Arial"/>
              </a:defRPr>
            </a:lvl5pPr>
            <a:lvl6pPr algn="l">
              <a:defRPr sz="3525" b="1">
                <a:solidFill>
                  <a:srgbClr val="FFFFFF"/>
                </a:solidFill>
                <a:latin typeface="Arial"/>
                <a:ea typeface="Arial"/>
                <a:cs typeface="Arial"/>
              </a:defRPr>
            </a:lvl6pPr>
            <a:lvl7pPr algn="l">
              <a:defRPr sz="3525" b="1">
                <a:solidFill>
                  <a:srgbClr val="FFFFFF"/>
                </a:solidFill>
                <a:latin typeface="Arial"/>
                <a:ea typeface="Arial"/>
                <a:cs typeface="Arial"/>
              </a:defRPr>
            </a:lvl7pPr>
            <a:lvl8pPr algn="l">
              <a:defRPr sz="3525" b="1">
                <a:solidFill>
                  <a:srgbClr val="FFFFFF"/>
                </a:solidFill>
                <a:latin typeface="Arial"/>
                <a:ea typeface="Arial"/>
                <a:cs typeface="Arial"/>
              </a:defRPr>
            </a:lvl8pPr>
            <a:lvl9pPr algn="l">
              <a:defRPr sz="3525" b="1">
                <a:solidFill>
                  <a:srgbClr val="FFFFFF"/>
                </a:solidFill>
                <a:latin typeface="Arial"/>
                <a:ea typeface="Arial"/>
                <a:cs typeface="Arial"/>
              </a:defRPr>
            </a:lvl9pPr>
          </a:lstStyle>
          <a:p>
            <a:pPr algn="l">
              <a:defRPr sz="3525" b="1">
                <a:solidFill>
                  <a:srgbClr val="FFFFFF"/>
                </a:solidFill>
                <a:latin typeface="Arial"/>
                <a:ea typeface="Arial"/>
                <a:cs typeface="Arial"/>
              </a:defRPr>
            </a:pPr>
            <a:r>
              <a:rPr sz="3525" b="1">
                <a:solidFill>
                  <a:srgbClr val="FFFFFF"/>
                </a:solidFill>
                <a:latin typeface="Arial"/>
                <a:ea typeface="Arial"/>
                <a:cs typeface="Arial"/>
              </a:rPr>
              <a:t>Équipe du projet</a:t>
            </a:r>
          </a:p>
        </p:txBody>
      </p:sp>
      <p:sp>
        <p:nvSpPr>
          <p:cNvPr id="2" name="team-rule">
            <a:extLst>
              <a:ext uri="{FF2B5EF4-FFF2-40B4-BE49-F238E27FC236}">
                <a16:creationId id="{AB680D13-0A24-4E8C-A480-A8A9E5D4E36A}"/>
              </a:ext>
            </a:extLst>
          </p:cNvPr>
          <p:cNvSpPr>
            <a:spLocks noGrp="1"/>
          </p:cNvSpPr>
          <p:nvPr/>
        </p:nvSpPr>
        <p:spPr>
          <a:xfrm>
            <a:off x="742950" y="1381125"/>
            <a:ext cx="714375" cy="47625"/>
          </a:xfrm>
          <a:prstGeom prst="rect">
            <a:avLst/>
          </a:prstGeom>
          <a:solidFill>
            <a:srgbClr val="E2A33B"/>
          </a:solidFill>
          <a:ln w="0">
            <a:noFill/>
            <a:prstDash val="solid"/>
          </a:ln>
        </p:spPr>
      </p:sp>
      <p:sp>
        <p:nvSpPr>
          <p:cNvPr id="3" name="team-number-0">
            <a:extLst>
              <a:ext uri="{FF2B5EF4-FFF2-40B4-BE49-F238E27FC236}">
                <a16:creationId id="{A860B29F-5EE8-46CB-9EE2-E096B06B3700}"/>
              </a:ext>
            </a:extLst>
          </p:cNvPr>
          <p:cNvSpPr>
            <a:spLocks noGrp="1"/>
          </p:cNvSpPr>
          <p:nvPr/>
        </p:nvSpPr>
        <p:spPr>
          <a:xfrm>
            <a:off x="762000" y="19431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01</a:t>
            </a:r>
          </a:p>
        </p:txBody>
      </p:sp>
      <p:sp>
        <p:nvSpPr>
          <p:cNvPr id="4" name="team-name-0">
            <a:extLst>
              <a:ext uri="{FF2B5EF4-FFF2-40B4-BE49-F238E27FC236}">
                <a16:creationId id="{82A7CF42-8E8B-4B51-9D9B-6F4BB329398E}"/>
              </a:ext>
            </a:extLst>
          </p:cNvPr>
          <p:cNvSpPr>
            <a:spLocks noGrp="1"/>
          </p:cNvSpPr>
          <p:nvPr/>
        </p:nvSpPr>
        <p:spPr>
          <a:xfrm>
            <a:off x="1524000" y="19145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Oussema Sahbeni</a:t>
            </a:r>
          </a:p>
        </p:txBody>
      </p:sp>
      <p:sp>
        <p:nvSpPr>
          <p:cNvPr id="5" name="team-number-1">
            <a:extLst>
              <a:ext uri="{FF2B5EF4-FFF2-40B4-BE49-F238E27FC236}">
                <a16:creationId id="{58B1AD65-827C-485D-BD58-736DD9C50964}"/>
              </a:ext>
            </a:extLst>
          </p:cNvPr>
          <p:cNvSpPr>
            <a:spLocks noGrp="1"/>
          </p:cNvSpPr>
          <p:nvPr/>
        </p:nvSpPr>
        <p:spPr>
          <a:xfrm>
            <a:off x="762000" y="268605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02</a:t>
            </a:r>
          </a:p>
        </p:txBody>
      </p:sp>
      <p:sp>
        <p:nvSpPr>
          <p:cNvPr id="6" name="team-name-1">
            <a:extLst>
              <a:ext uri="{FF2B5EF4-FFF2-40B4-BE49-F238E27FC236}">
                <a16:creationId id="{8A47B45C-4410-40FB-960F-99ABE69BC624}"/>
              </a:ext>
            </a:extLst>
          </p:cNvPr>
          <p:cNvSpPr>
            <a:spLocks noGrp="1"/>
          </p:cNvSpPr>
          <p:nvPr/>
        </p:nvSpPr>
        <p:spPr>
          <a:xfrm>
            <a:off x="1524000" y="265747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Aziz Zina</a:t>
            </a:r>
          </a:p>
        </p:txBody>
      </p:sp>
      <p:sp>
        <p:nvSpPr>
          <p:cNvPr id="7" name="team-number-2">
            <a:extLst>
              <a:ext uri="{FF2B5EF4-FFF2-40B4-BE49-F238E27FC236}">
                <a16:creationId id="{B1DD4409-F24A-42A2-8CCA-B3BB3A09C179}"/>
              </a:ext>
            </a:extLst>
          </p:cNvPr>
          <p:cNvSpPr>
            <a:spLocks noGrp="1"/>
          </p:cNvSpPr>
          <p:nvPr/>
        </p:nvSpPr>
        <p:spPr>
          <a:xfrm>
            <a:off x="762000" y="34290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03</a:t>
            </a:r>
          </a:p>
        </p:txBody>
      </p:sp>
      <p:sp>
        <p:nvSpPr>
          <p:cNvPr id="8" name="team-name-2">
            <a:extLst>
              <a:ext uri="{FF2B5EF4-FFF2-40B4-BE49-F238E27FC236}">
                <a16:creationId id="{65139A8B-98F2-4460-B9D0-B510956C4B35}"/>
              </a:ext>
            </a:extLst>
          </p:cNvPr>
          <p:cNvSpPr>
            <a:spLocks noGrp="1"/>
          </p:cNvSpPr>
          <p:nvPr/>
        </p:nvSpPr>
        <p:spPr>
          <a:xfrm>
            <a:off x="1524000" y="34004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Mahdi Zaied</a:t>
            </a:r>
          </a:p>
        </p:txBody>
      </p:sp>
      <p:sp>
        <p:nvSpPr>
          <p:cNvPr id="9" name="team-number-3">
            <a:extLst>
              <a:ext uri="{FF2B5EF4-FFF2-40B4-BE49-F238E27FC236}">
                <a16:creationId id="{A7F786EA-4EA7-47C2-B1DD-2C744523AAC6}"/>
              </a:ext>
            </a:extLst>
          </p:cNvPr>
          <p:cNvSpPr>
            <a:spLocks noGrp="1"/>
          </p:cNvSpPr>
          <p:nvPr/>
        </p:nvSpPr>
        <p:spPr>
          <a:xfrm>
            <a:off x="762000" y="417195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04</a:t>
            </a:r>
          </a:p>
        </p:txBody>
      </p:sp>
      <p:sp>
        <p:nvSpPr>
          <p:cNvPr id="10" name="team-name-3">
            <a:extLst>
              <a:ext uri="{FF2B5EF4-FFF2-40B4-BE49-F238E27FC236}">
                <a16:creationId id="{5AC1EC3F-7941-4FB9-972E-8E584221A25A}"/>
              </a:ext>
            </a:extLst>
          </p:cNvPr>
          <p:cNvSpPr>
            <a:spLocks noGrp="1"/>
          </p:cNvSpPr>
          <p:nvPr/>
        </p:nvSpPr>
        <p:spPr>
          <a:xfrm>
            <a:off x="1524000" y="414337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Omar Mseddi</a:t>
            </a:r>
          </a:p>
        </p:txBody>
      </p:sp>
      <p:sp>
        <p:nvSpPr>
          <p:cNvPr id="11" name="team-number-4">
            <a:extLst>
              <a:ext uri="{FF2B5EF4-FFF2-40B4-BE49-F238E27FC236}">
                <a16:creationId id="{0302966F-F4FD-4D0B-8530-2852B8F9931C}"/>
              </a:ext>
            </a:extLst>
          </p:cNvPr>
          <p:cNvSpPr>
            <a:spLocks noGrp="1"/>
          </p:cNvSpPr>
          <p:nvPr/>
        </p:nvSpPr>
        <p:spPr>
          <a:xfrm>
            <a:off x="762000" y="49149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05</a:t>
            </a:r>
          </a:p>
        </p:txBody>
      </p:sp>
      <p:sp>
        <p:nvSpPr>
          <p:cNvPr id="12" name="team-name-4">
            <a:extLst>
              <a:ext uri="{FF2B5EF4-FFF2-40B4-BE49-F238E27FC236}">
                <a16:creationId id="{EC87FF35-CE04-4BA6-988E-F430698C7C1D}"/>
              </a:ext>
            </a:extLst>
          </p:cNvPr>
          <p:cNvSpPr>
            <a:spLocks noGrp="1"/>
          </p:cNvSpPr>
          <p:nvPr/>
        </p:nvSpPr>
        <p:spPr>
          <a:xfrm>
            <a:off x="1524000" y="48863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Youssef Takeli</a:t>
            </a:r>
          </a:p>
        </p:txBody>
      </p:sp>
      <p:sp>
        <p:nvSpPr>
          <p:cNvPr id="13" name="team-divider">
            <a:extLst>
              <a:ext uri="{FF2B5EF4-FFF2-40B4-BE49-F238E27FC236}">
                <a16:creationId id="{844AF622-AB6A-48C1-9B36-89B97FB23771}"/>
              </a:ext>
            </a:extLst>
          </p:cNvPr>
          <p:cNvSpPr>
            <a:spLocks noGrp="1"/>
          </p:cNvSpPr>
          <p:nvPr/>
        </p:nvSpPr>
        <p:spPr>
          <a:xfrm>
            <a:off x="6858000" y="1895475"/>
            <a:ext cx="19050" cy="3619500"/>
          </a:xfrm>
          <a:prstGeom prst="rect">
            <a:avLst/>
          </a:prstGeom>
          <a:solidFill>
            <a:srgbClr val="486073"/>
          </a:solidFill>
          <a:ln w="0">
            <a:noFill/>
            <a:prstDash val="solid"/>
          </a:ln>
        </p:spPr>
      </p:sp>
      <p:sp>
        <p:nvSpPr>
          <p:cNvPr id="14" name="team-deliverables-heading">
            <a:extLst>
              <a:ext uri="{FF2B5EF4-FFF2-40B4-BE49-F238E27FC236}">
                <a16:creationId id="{0E7C848E-DEF1-406E-947E-84616EC7D79E}"/>
              </a:ext>
            </a:extLst>
          </p:cNvPr>
          <p:cNvSpPr>
            <a:spLocks noGrp="1"/>
          </p:cNvSpPr>
          <p:nvPr/>
        </p:nvSpPr>
        <p:spPr>
          <a:xfrm>
            <a:off x="7429500" y="1952625"/>
            <a:ext cx="3143250" cy="381000"/>
          </a:xfrm>
          <a:prstGeom prst="rect">
            <a:avLst/>
          </a:prstGeom>
          <a:noFill/>
          <a:ln w="0">
            <a:noFill/>
            <a:prstDash val="solid"/>
          </a:ln>
        </p:spPr>
        <p:txBody>
          <a:bodyPr wrap="square" lIns="0" tIns="0" rIns="0" bIns="0" anchor="t"/>
          <a:lstStyle>
            <a:defPPr algn="l">
              <a:defRPr sz="2025" b="1">
                <a:solidFill>
                  <a:srgbClr val="E7EEF2"/>
                </a:solidFill>
                <a:latin typeface="Arial"/>
                <a:ea typeface="Arial"/>
                <a:cs typeface="Arial"/>
              </a:defRPr>
            </a:defPPr>
            <a:lvl1pPr algn="l">
              <a:defRPr sz="2025" b="1">
                <a:solidFill>
                  <a:srgbClr val="E7EEF2"/>
                </a:solidFill>
                <a:latin typeface="Arial"/>
                <a:ea typeface="Arial"/>
                <a:cs typeface="Arial"/>
              </a:defRPr>
            </a:lvl1pPr>
            <a:lvl2pPr algn="l">
              <a:defRPr sz="2025" b="1">
                <a:solidFill>
                  <a:srgbClr val="E7EEF2"/>
                </a:solidFill>
                <a:latin typeface="Arial"/>
                <a:ea typeface="Arial"/>
                <a:cs typeface="Arial"/>
              </a:defRPr>
            </a:lvl2pPr>
            <a:lvl3pPr algn="l">
              <a:defRPr sz="2025" b="1">
                <a:solidFill>
                  <a:srgbClr val="E7EEF2"/>
                </a:solidFill>
                <a:latin typeface="Arial"/>
                <a:ea typeface="Arial"/>
                <a:cs typeface="Arial"/>
              </a:defRPr>
            </a:lvl3pPr>
            <a:lvl4pPr algn="l">
              <a:defRPr sz="2025" b="1">
                <a:solidFill>
                  <a:srgbClr val="E7EEF2"/>
                </a:solidFill>
                <a:latin typeface="Arial"/>
                <a:ea typeface="Arial"/>
                <a:cs typeface="Arial"/>
              </a:defRPr>
            </a:lvl4pPr>
            <a:lvl5pPr algn="l">
              <a:defRPr sz="2025" b="1">
                <a:solidFill>
                  <a:srgbClr val="E7EEF2"/>
                </a:solidFill>
                <a:latin typeface="Arial"/>
                <a:ea typeface="Arial"/>
                <a:cs typeface="Arial"/>
              </a:defRPr>
            </a:lvl5pPr>
            <a:lvl6pPr algn="l">
              <a:defRPr sz="2025" b="1">
                <a:solidFill>
                  <a:srgbClr val="E7EEF2"/>
                </a:solidFill>
                <a:latin typeface="Arial"/>
                <a:ea typeface="Arial"/>
                <a:cs typeface="Arial"/>
              </a:defRPr>
            </a:lvl6pPr>
            <a:lvl7pPr algn="l">
              <a:defRPr sz="2025" b="1">
                <a:solidFill>
                  <a:srgbClr val="E7EEF2"/>
                </a:solidFill>
                <a:latin typeface="Arial"/>
                <a:ea typeface="Arial"/>
                <a:cs typeface="Arial"/>
              </a:defRPr>
            </a:lvl7pPr>
            <a:lvl8pPr algn="l">
              <a:defRPr sz="2025" b="1">
                <a:solidFill>
                  <a:srgbClr val="E7EEF2"/>
                </a:solidFill>
                <a:latin typeface="Arial"/>
                <a:ea typeface="Arial"/>
                <a:cs typeface="Arial"/>
              </a:defRPr>
            </a:lvl8pPr>
            <a:lvl9pPr algn="l">
              <a:defRPr sz="2025" b="1">
                <a:solidFill>
                  <a:srgbClr val="E7EEF2"/>
                </a:solidFill>
                <a:latin typeface="Arial"/>
                <a:ea typeface="Arial"/>
                <a:cs typeface="Arial"/>
              </a:defRPr>
            </a:lvl9pPr>
          </a:lstStyle>
          <a:p>
            <a:pPr algn="l">
              <a:defRPr sz="2025" b="1">
                <a:solidFill>
                  <a:srgbClr val="E7EEF2"/>
                </a:solidFill>
                <a:latin typeface="Arial"/>
                <a:ea typeface="Arial"/>
                <a:cs typeface="Arial"/>
              </a:defRPr>
            </a:pPr>
            <a:r>
              <a:rPr sz="2025" b="1">
                <a:solidFill>
                  <a:srgbClr val="E7EEF2"/>
                </a:solidFill>
                <a:latin typeface="Arial"/>
                <a:ea typeface="Arial"/>
                <a:cs typeface="Arial"/>
              </a:rPr>
              <a:t>Livrables</a:t>
            </a:r>
          </a:p>
        </p:txBody>
      </p:sp>
      <p:sp>
        <p:nvSpPr>
          <p:cNvPr id="15" name="team-deliverables">
            <a:extLst>
              <a:ext uri="{FF2B5EF4-FFF2-40B4-BE49-F238E27FC236}">
                <a16:creationId id="{628BA930-04F7-4B33-B996-FC715BF48617}"/>
              </a:ext>
            </a:extLst>
          </p:cNvPr>
          <p:cNvSpPr>
            <a:spLocks noGrp="1"/>
          </p:cNvSpPr>
          <p:nvPr/>
        </p:nvSpPr>
        <p:spPr>
          <a:xfrm>
            <a:off x="7429500" y="2505075"/>
            <a:ext cx="3714750" cy="2190750"/>
          </a:xfrm>
          <a:prstGeom prst="rect">
            <a:avLst/>
          </a:prstGeom>
          <a:noFill/>
          <a:ln w="0">
            <a:noFill/>
            <a:prstDash val="solid"/>
          </a:ln>
        </p:spPr>
        <p:txBody>
          <a:bodyPr wrap="square" lIns="0" tIns="0" rIns="0" bIns="0" anchor="t"/>
          <a:lstStyle>
            <a:defPPr algn="l">
              <a:defRPr sz="1575" b="0">
                <a:solidFill>
                  <a:srgbClr val="D3DEE5"/>
                </a:solidFill>
                <a:latin typeface="Arial"/>
                <a:ea typeface="Arial"/>
                <a:cs typeface="Arial"/>
              </a:defRPr>
            </a:defPPr>
            <a:lvl1pPr algn="l">
              <a:defRPr sz="1575" b="0">
                <a:solidFill>
                  <a:srgbClr val="D3DEE5"/>
                </a:solidFill>
                <a:latin typeface="Arial"/>
                <a:ea typeface="Arial"/>
                <a:cs typeface="Arial"/>
              </a:defRPr>
            </a:lvl1pPr>
            <a:lvl2pPr algn="l">
              <a:defRPr sz="1575" b="0">
                <a:solidFill>
                  <a:srgbClr val="D3DEE5"/>
                </a:solidFill>
                <a:latin typeface="Arial"/>
                <a:ea typeface="Arial"/>
                <a:cs typeface="Arial"/>
              </a:defRPr>
            </a:lvl2pPr>
            <a:lvl3pPr algn="l">
              <a:defRPr sz="1575" b="0">
                <a:solidFill>
                  <a:srgbClr val="D3DEE5"/>
                </a:solidFill>
                <a:latin typeface="Arial"/>
                <a:ea typeface="Arial"/>
                <a:cs typeface="Arial"/>
              </a:defRPr>
            </a:lvl3pPr>
            <a:lvl4pPr algn="l">
              <a:defRPr sz="1575" b="0">
                <a:solidFill>
                  <a:srgbClr val="D3DEE5"/>
                </a:solidFill>
                <a:latin typeface="Arial"/>
                <a:ea typeface="Arial"/>
                <a:cs typeface="Arial"/>
              </a:defRPr>
            </a:lvl4pPr>
            <a:lvl5pPr algn="l">
              <a:defRPr sz="1575" b="0">
                <a:solidFill>
                  <a:srgbClr val="D3DEE5"/>
                </a:solidFill>
                <a:latin typeface="Arial"/>
                <a:ea typeface="Arial"/>
                <a:cs typeface="Arial"/>
              </a:defRPr>
            </a:lvl5pPr>
            <a:lvl6pPr algn="l">
              <a:defRPr sz="1575" b="0">
                <a:solidFill>
                  <a:srgbClr val="D3DEE5"/>
                </a:solidFill>
                <a:latin typeface="Arial"/>
                <a:ea typeface="Arial"/>
                <a:cs typeface="Arial"/>
              </a:defRPr>
            </a:lvl6pPr>
            <a:lvl7pPr algn="l">
              <a:defRPr sz="1575" b="0">
                <a:solidFill>
                  <a:srgbClr val="D3DEE5"/>
                </a:solidFill>
                <a:latin typeface="Arial"/>
                <a:ea typeface="Arial"/>
                <a:cs typeface="Arial"/>
              </a:defRPr>
            </a:lvl7pPr>
            <a:lvl8pPr algn="l">
              <a:defRPr sz="1575" b="0">
                <a:solidFill>
                  <a:srgbClr val="D3DEE5"/>
                </a:solidFill>
                <a:latin typeface="Arial"/>
                <a:ea typeface="Arial"/>
                <a:cs typeface="Arial"/>
              </a:defRPr>
            </a:lvl8pPr>
            <a:lvl9pPr algn="l">
              <a:defRPr sz="1575" b="0">
                <a:solidFill>
                  <a:srgbClr val="D3DEE5"/>
                </a:solidFill>
                <a:latin typeface="Arial"/>
                <a:ea typeface="Arial"/>
                <a:cs typeface="Arial"/>
              </a:defRPr>
            </a:lvl9pPr>
          </a:lstStyle>
          <a:p>
            <a:pPr algn="l">
              <a:defRPr sz="1575" b="0">
                <a:solidFill>
                  <a:srgbClr val="D3DEE5"/>
                </a:solidFill>
                <a:latin typeface="Arial"/>
                <a:ea typeface="Arial"/>
                <a:cs typeface="Arial"/>
              </a:defRPr>
            </a:pPr>
            <a:r>
              <a:rPr sz="1575" b="0">
                <a:solidFill>
                  <a:srgbClr val="D3DEE5"/>
                </a:solidFill>
                <a:latin typeface="Arial"/>
                <a:ea typeface="Arial"/>
                <a:cs typeface="Arial"/>
              </a:rPr>
              <a:t>Dépôt GitHub public</a:t>
            </a:r>
          </a:p>
          <a:p>
            <a:pPr algn="l">
              <a:defRPr sz="1575" b="0">
                <a:solidFill>
                  <a:srgbClr val="D3DEE5"/>
                </a:solidFill>
                <a:latin typeface="Arial"/>
                <a:ea typeface="Arial"/>
                <a:cs typeface="Arial"/>
              </a:defRPr>
            </a:pPr>
            <a:r>
              <a:rPr sz="1575" b="0">
                <a:solidFill>
                  <a:srgbClr val="D3DEE5"/>
                </a:solidFill>
                <a:latin typeface="Arial"/>
                <a:ea typeface="Arial"/>
                <a:cs typeface="Arial"/>
              </a:rPr>
              <a:t>Notebooks : données, préparation, modèles</a:t>
            </a:r>
          </a:p>
          <a:p>
            <a:pPr algn="l">
              <a:defRPr sz="1575" b="0">
                <a:solidFill>
                  <a:srgbClr val="D3DEE5"/>
                </a:solidFill>
                <a:latin typeface="Arial"/>
                <a:ea typeface="Arial"/>
                <a:cs typeface="Arial"/>
              </a:defRPr>
            </a:pPr>
            <a:r>
              <a:rPr sz="1575" b="0">
                <a:solidFill>
                  <a:srgbClr val="D3DEE5"/>
                </a:solidFill>
                <a:latin typeface="Arial"/>
                <a:ea typeface="Arial"/>
                <a:cs typeface="Arial"/>
              </a:rPr>
              <a:t>Présentation en français</a:t>
            </a:r>
          </a:p>
          <a:p>
            <a:r>
              <a:t/>
            </a:r>
          </a:p>
          <a:p>
            <a:pPr algn="l">
              <a:defRPr sz="1575" b="0">
                <a:solidFill>
                  <a:srgbClr val="D3DEE5"/>
                </a:solidFill>
                <a:latin typeface="Arial"/>
                <a:ea typeface="Arial"/>
                <a:cs typeface="Arial"/>
              </a:defRPr>
            </a:pPr>
            <a:r>
              <a:rPr sz="1575" b="0">
                <a:solidFill>
                  <a:srgbClr val="D3DEE5"/>
                </a:solidFill>
                <a:latin typeface="Arial"/>
                <a:ea typeface="Arial"/>
                <a:cs typeface="Arial"/>
              </a:rPr>
              <a:t>Accès Write requis pour contribuer.</a:t>
            </a:r>
          </a:p>
        </p:txBody>
      </p:sp>
      <p:sp>
        <p:nvSpPr>
          <p:cNvPr id="16" name="team-footer">
            <a:extLst>
              <a:ext uri="{FF2B5EF4-FFF2-40B4-BE49-F238E27FC236}">
                <a16:creationId id="{2ACF038D-5265-498C-96FF-65155C970495}"/>
              </a:ext>
            </a:extLst>
          </p:cNvPr>
          <p:cNvSpPr>
            <a:spLocks noGrp="1"/>
          </p:cNvSpPr>
          <p:nvPr/>
        </p:nvSpPr>
        <p:spPr>
          <a:xfrm>
            <a:off x="742950" y="6238875"/>
            <a:ext cx="6858000" cy="247650"/>
          </a:xfrm>
          <a:prstGeom prst="rect">
            <a:avLst/>
          </a:prstGeom>
          <a:noFill/>
          <a:ln w="0">
            <a:noFill/>
            <a:prstDash val="solid"/>
          </a:ln>
        </p:spPr>
        <p:txBody>
          <a:bodyPr wrap="square" lIns="0" tIns="0" rIns="0" bIns="0" anchor="t"/>
          <a:lstStyle>
            <a:defPPr algn="l">
              <a:defRPr sz="1200" b="0">
                <a:solidFill>
                  <a:srgbClr val="B9C8D2"/>
                </a:solidFill>
                <a:latin typeface="Arial"/>
                <a:ea typeface="Arial"/>
                <a:cs typeface="Arial"/>
              </a:defRPr>
            </a:defPPr>
            <a:lvl1pPr algn="l">
              <a:defRPr sz="1200" b="0">
                <a:solidFill>
                  <a:srgbClr val="B9C8D2"/>
                </a:solidFill>
                <a:latin typeface="Arial"/>
                <a:ea typeface="Arial"/>
                <a:cs typeface="Arial"/>
              </a:defRPr>
            </a:lvl1pPr>
            <a:lvl2pPr algn="l">
              <a:defRPr sz="1200" b="0">
                <a:solidFill>
                  <a:srgbClr val="B9C8D2"/>
                </a:solidFill>
                <a:latin typeface="Arial"/>
                <a:ea typeface="Arial"/>
                <a:cs typeface="Arial"/>
              </a:defRPr>
            </a:lvl2pPr>
            <a:lvl3pPr algn="l">
              <a:defRPr sz="1200" b="0">
                <a:solidFill>
                  <a:srgbClr val="B9C8D2"/>
                </a:solidFill>
                <a:latin typeface="Arial"/>
                <a:ea typeface="Arial"/>
                <a:cs typeface="Arial"/>
              </a:defRPr>
            </a:lvl3pPr>
            <a:lvl4pPr algn="l">
              <a:defRPr sz="1200" b="0">
                <a:solidFill>
                  <a:srgbClr val="B9C8D2"/>
                </a:solidFill>
                <a:latin typeface="Arial"/>
                <a:ea typeface="Arial"/>
                <a:cs typeface="Arial"/>
              </a:defRPr>
            </a:lvl4pPr>
            <a:lvl5pPr algn="l">
              <a:defRPr sz="1200" b="0">
                <a:solidFill>
                  <a:srgbClr val="B9C8D2"/>
                </a:solidFill>
                <a:latin typeface="Arial"/>
                <a:ea typeface="Arial"/>
                <a:cs typeface="Arial"/>
              </a:defRPr>
            </a:lvl5pPr>
            <a:lvl6pPr algn="l">
              <a:defRPr sz="1200" b="0">
                <a:solidFill>
                  <a:srgbClr val="B9C8D2"/>
                </a:solidFill>
                <a:latin typeface="Arial"/>
                <a:ea typeface="Arial"/>
                <a:cs typeface="Arial"/>
              </a:defRPr>
            </a:lvl6pPr>
            <a:lvl7pPr algn="l">
              <a:defRPr sz="1200" b="0">
                <a:solidFill>
                  <a:srgbClr val="B9C8D2"/>
                </a:solidFill>
                <a:latin typeface="Arial"/>
                <a:ea typeface="Arial"/>
                <a:cs typeface="Arial"/>
              </a:defRPr>
            </a:lvl7pPr>
            <a:lvl8pPr algn="l">
              <a:defRPr sz="1200" b="0">
                <a:solidFill>
                  <a:srgbClr val="B9C8D2"/>
                </a:solidFill>
                <a:latin typeface="Arial"/>
                <a:ea typeface="Arial"/>
                <a:cs typeface="Arial"/>
              </a:defRPr>
            </a:lvl8pPr>
            <a:lvl9pPr algn="l">
              <a:defRPr sz="1200" b="0">
                <a:solidFill>
                  <a:srgbClr val="B9C8D2"/>
                </a:solidFill>
                <a:latin typeface="Arial"/>
                <a:ea typeface="Arial"/>
                <a:cs typeface="Arial"/>
              </a:defRPr>
            </a:lvl9pPr>
          </a:lstStyle>
          <a:p>
            <a:pPr algn="l">
              <a:defRPr sz="1200" b="0">
                <a:solidFill>
                  <a:srgbClr val="B9C8D2"/>
                </a:solidFill>
                <a:latin typeface="Arial"/>
                <a:ea typeface="Arial"/>
                <a:cs typeface="Arial"/>
              </a:defRPr>
            </a:pPr>
            <a:r>
              <a:rPr sz="1200" b="0">
                <a:solidFill>
                  <a:srgbClr val="B9C8D2"/>
                </a:solidFill>
                <a:latin typeface="Arial"/>
                <a:ea typeface="Arial"/>
                <a:cs typeface="Arial"/>
              </a:rPr>
              <a:t>Sécurité routière · STATS19 · 2021–2025</a:t>
            </a:r>
          </a:p>
        </p:txBody>
      </p:sp>
    </p:spTree>
    <p:extLst>
      <p:ext uri="{BB962C8B-B14F-4D97-AF65-F5344CB8AC3E}">
        <p14:creationId val="1769071457"/>
      </p:ext>
    </p:extLst>
  </p:cSld>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Préparation de l’objectif 1</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12</a:t>
            </a:r>
          </a:p>
        </p:txBody>
      </p:sp>
      <p:sp>
        <p:nvSpPr>
          <p:cNvPr id="11" name="prep-lead">
            <a:extLst>
              <a:ext uri="{FF2B5EF4-FFF2-40B4-BE49-F238E27FC236}">
                <a16:creationId id="{572A527E-2D93-4A64-A25E-49DEB63C6819}"/>
              </a:ext>
            </a:extLst>
          </p:cNvPr>
          <p:cNvSpPr>
            <a:spLocks noGrp="1"/>
          </p:cNvSpPr>
          <p:nvPr/>
        </p:nvSpPr>
        <p:spPr>
          <a:xfrm>
            <a:off x="742950" y="1543050"/>
            <a:ext cx="10477500" cy="4572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75" b="1">
                <a:solidFill>
                  <a:srgbClr val="10283F"/>
                </a:solidFill>
                <a:latin typeface="Arial"/>
                <a:ea typeface="Arial"/>
                <a:cs typeface="Arial"/>
              </a:rPr>
              <a:t>Une ligne par collision, enrichie avec les véhicules.</a:t>
            </a:r>
          </a:p>
        </p:txBody>
      </p:sp>
      <p:sp>
        <p:nvSpPr>
          <p:cNvPr id="12" name="prep-clean-head">
            <a:extLst>
              <a:ext uri="{FF2B5EF4-FFF2-40B4-BE49-F238E27FC236}">
                <a16:creationId id="{572A527E-2D93-4A64-A25E-49DEB63C6819}"/>
              </a:ext>
            </a:extLst>
          </p:cNvPr>
          <p:cNvSpPr>
            <a:spLocks noGrp="1"/>
          </p:cNvSpPr>
          <p:nvPr/>
        </p:nvSpPr>
        <p:spPr>
          <a:xfrm>
            <a:off x="742950" y="2381250"/>
            <a:ext cx="4953000" cy="4000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76B87"/>
                </a:solidFill>
                <a:latin typeface="Arial"/>
                <a:ea typeface="Arial"/>
                <a:cs typeface="Arial"/>
              </a:rPr>
              <a:t>Nettoyage et jointures</a:t>
            </a:r>
          </a:p>
        </p:txBody>
      </p:sp>
      <p:sp>
        <p:nvSpPr>
          <p:cNvPr id="13" name="prep-clean">
            <a:extLst>
              <a:ext uri="{FF2B5EF4-FFF2-40B4-BE49-F238E27FC236}">
                <a16:creationId id="{572A527E-2D93-4A64-A25E-49DEB63C6819}"/>
              </a:ext>
            </a:extLst>
          </p:cNvPr>
          <p:cNvSpPr>
            <a:spLocks noGrp="1"/>
          </p:cNvSpPr>
          <p:nvPr/>
        </p:nvSpPr>
        <p:spPr>
          <a:xfrm>
            <a:off x="742950" y="2952750"/>
            <a:ext cx="4953000" cy="20002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800" b="0">
                <a:solidFill>
                  <a:srgbClr val="10283F"/>
                </a:solidFill>
                <a:latin typeface="Arial"/>
                <a:ea typeface="Arial"/>
                <a:cs typeface="Arial"/>
              </a:rPr>
              <a:t>Clés et doublons contrôlés.</a:t>
            </a:r>
          </a:p>
          <a:p>
            <a:pPr algn="l">
              <a:defRPr sz="1725" b="0">
                <a:solidFill>
                  <a:srgbClr val="10283F"/>
                </a:solidFill>
                <a:latin typeface="Arial"/>
                <a:ea typeface="Arial"/>
                <a:cs typeface="Arial"/>
              </a:defRPr>
            </a:pPr>
            <a:r>
              <a:rPr sz="1800" b="0">
                <a:solidFill>
                  <a:srgbClr val="10283F"/>
                </a:solidFill>
                <a:latin typeface="Arial"/>
                <a:ea typeface="Arial"/>
                <a:cs typeface="Arial"/>
              </a:rPr>
              <a:t>Codes DfT traduits ; inconnues conservées.</a:t>
            </a:r>
          </a:p>
          <a:p>
            <a:pPr algn="l">
              <a:defRPr sz="1725" b="0">
                <a:solidFill>
                  <a:srgbClr val="10283F"/>
                </a:solidFill>
                <a:latin typeface="Arial"/>
                <a:ea typeface="Arial"/>
                <a:cs typeface="Arial"/>
              </a:defRPr>
            </a:pPr>
            <a:r>
              <a:rPr sz="1800" b="0">
                <a:solidFill>
                  <a:srgbClr val="10283F"/>
                </a:solidFill>
                <a:latin typeface="Arial"/>
                <a:ea typeface="Arial"/>
                <a:cs typeface="Arial"/>
              </a:rPr>
              <a:t>Âges invalides marqués manquants.</a:t>
            </a:r>
          </a:p>
          <a:p>
            <a:pPr algn="l">
              <a:defRPr sz="1725" b="0">
                <a:solidFill>
                  <a:srgbClr val="10283F"/>
                </a:solidFill>
                <a:latin typeface="Arial"/>
                <a:ea typeface="Arial"/>
                <a:cs typeface="Arial"/>
              </a:defRPr>
            </a:pPr>
            <a:r>
              <a:rPr sz="1800" b="0">
                <a:solidFill>
                  <a:srgbClr val="10283F"/>
                </a:solidFill>
                <a:latin typeface="Arial"/>
                <a:ea typeface="Arial"/>
                <a:cs typeface="Arial"/>
              </a:rPr>
              <a:t>Véhicules regroupés par collision.</a:t>
            </a:r>
          </a:p>
        </p:txBody>
      </p:sp>
      <p:sp>
        <p:nvSpPr>
          <p:cNvPr id="14" name="prep-features-head">
            <a:extLst>
              <a:ext uri="{FF2B5EF4-FFF2-40B4-BE49-F238E27FC236}">
                <a16:creationId id="{572A527E-2D93-4A64-A25E-49DEB63C6819}"/>
              </a:ext>
            </a:extLst>
          </p:cNvPr>
          <p:cNvSpPr>
            <a:spLocks noGrp="1"/>
          </p:cNvSpPr>
          <p:nvPr/>
        </p:nvSpPr>
        <p:spPr>
          <a:xfrm>
            <a:off x="6572250" y="2381250"/>
            <a:ext cx="4857750" cy="4000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76B87"/>
                </a:solidFill>
                <a:latin typeface="Arial"/>
                <a:ea typeface="Arial"/>
                <a:cs typeface="Arial"/>
              </a:rPr>
              <a:t>24 variables pour le modèle</a:t>
            </a:r>
          </a:p>
        </p:txBody>
      </p:sp>
      <p:sp>
        <p:nvSpPr>
          <p:cNvPr id="15" name="prep-features">
            <a:extLst>
              <a:ext uri="{FF2B5EF4-FFF2-40B4-BE49-F238E27FC236}">
                <a16:creationId id="{572A527E-2D93-4A64-A25E-49DEB63C6819}"/>
              </a:ext>
            </a:extLst>
          </p:cNvPr>
          <p:cNvSpPr>
            <a:spLocks noGrp="1"/>
          </p:cNvSpPr>
          <p:nvPr/>
        </p:nvSpPr>
        <p:spPr>
          <a:xfrm>
            <a:off x="6572250" y="2952750"/>
            <a:ext cx="4857750" cy="20002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800" b="0">
                <a:solidFill>
                  <a:srgbClr val="10283F"/>
                </a:solidFill>
                <a:latin typeface="Arial"/>
                <a:ea typeface="Arial"/>
                <a:cs typeface="Arial"/>
              </a:rPr>
              <a:t>Heure et mois en sinus/cosinus.</a:t>
            </a:r>
          </a:p>
          <a:p>
            <a:pPr algn="l">
              <a:defRPr sz="1725" b="0">
                <a:solidFill>
                  <a:srgbClr val="10283F"/>
                </a:solidFill>
                <a:latin typeface="Arial"/>
                <a:ea typeface="Arial"/>
                <a:cs typeface="Arial"/>
              </a:defRPr>
            </a:pPr>
            <a:r>
              <a:rPr sz="1800" b="0">
                <a:solidFill>
                  <a:srgbClr val="10283F"/>
                </a:solidFill>
                <a:latin typeface="Arial"/>
                <a:ea typeface="Arial"/>
                <a:cs typeface="Arial"/>
              </a:rPr>
              <a:t>Route, météo, lumière et surface.</a:t>
            </a:r>
          </a:p>
          <a:p>
            <a:pPr algn="l">
              <a:defRPr sz="1725" b="0">
                <a:solidFill>
                  <a:srgbClr val="10283F"/>
                </a:solidFill>
                <a:latin typeface="Arial"/>
                <a:ea typeface="Arial"/>
                <a:cs typeface="Arial"/>
              </a:defRPr>
            </a:pPr>
            <a:r>
              <a:rPr sz="1800" b="0">
                <a:solidFill>
                  <a:srgbClr val="10283F"/>
                </a:solidFill>
                <a:latin typeface="Arial"/>
                <a:ea typeface="Arial"/>
                <a:cs typeface="Arial"/>
              </a:rPr>
              <a:t>Types de véhicules présents.</a:t>
            </a:r>
          </a:p>
          <a:p>
            <a:pPr algn="l">
              <a:defRPr sz="1725" b="0">
                <a:solidFill>
                  <a:srgbClr val="10283F"/>
                </a:solidFill>
                <a:latin typeface="Arial"/>
                <a:ea typeface="Arial"/>
                <a:cs typeface="Arial"/>
              </a:defRPr>
            </a:pPr>
            <a:r>
              <a:rPr sz="1800" b="0">
                <a:solidFill>
                  <a:srgbClr val="10283F"/>
                </a:solidFill>
                <a:latin typeface="Arial"/>
                <a:ea typeface="Arial"/>
                <a:cs typeface="Arial"/>
              </a:rPr>
              <a:t>Âges des conducteurs et véhicules agrégés.</a:t>
            </a:r>
          </a:p>
        </p:txBody>
      </p:sp>
      <p:sp>
        <p:nvSpPr>
          <p:cNvPr id="16" name="prep-exclusion">
            <a:extLst>
              <a:ext uri="{FF2B5EF4-FFF2-40B4-BE49-F238E27FC236}">
                <a16:creationId id="{572A527E-2D93-4A64-A25E-49DEB63C6819}"/>
              </a:ext>
            </a:extLst>
          </p:cNvPr>
          <p:cNvSpPr>
            <a:spLocks noGrp="1"/>
          </p:cNvSpPr>
          <p:nvPr/>
        </p:nvSpPr>
        <p:spPr>
          <a:xfrm>
            <a:off x="742950" y="5381625"/>
            <a:ext cx="10668000" cy="52387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650" b="1">
                <a:solidFill>
                  <a:srgbClr val="C75A55"/>
                </a:solidFill>
                <a:latin typeface="Arial"/>
                <a:ea typeface="Arial"/>
                <a:cs typeface="Arial"/>
              </a:rPr>
              <a:t>Exclus : nombre de victimes, champs de gravité, identifiants et année.</a:t>
            </a:r>
          </a:p>
        </p:txBody>
      </p:sp>
      <p:sp>
        <p:nvSpPr>
          <p:cNvPr id="17" name="prep-source">
            <a:extLst>
              <a:ext uri="{FF2B5EF4-FFF2-40B4-BE49-F238E27FC236}">
                <a16:creationId id="{572A527E-2D93-4A64-A25E-49DEB63C6819}"/>
              </a:ext>
            </a:extLst>
          </p:cNvPr>
          <p:cNvSpPr>
            <a:spLocks noGrp="1"/>
          </p:cNvSpPr>
          <p:nvPr/>
        </p:nvSpPr>
        <p:spPr>
          <a:xfrm>
            <a:off x="742950" y="6115050"/>
            <a:ext cx="10477500" cy="2286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125" b="0">
                <a:solidFill>
                  <a:srgbClr val="54697B"/>
                </a:solidFill>
                <a:latin typeface="Arial"/>
                <a:ea typeface="Arial"/>
                <a:cs typeface="Arial"/>
              </a:rPr>
              <a:t>Source : notebook 02 · Contexte et véhicules d’un événement déjà déclaré.</a:t>
            </a:r>
          </a:p>
        </p:txBody>
      </p:sp>
    </p:spTree>
    <p:extLst>
      <p:ext uri="{BB962C8B-B14F-4D97-AF65-F5344CB8AC3E}">
        <p14:creationId val="757959548"/>
      </p:ext>
    </p:extLst>
  </p:cSld>
</p:sld>
</file>

<file path=ppt/slides/slide15.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Comparer et choisir les modèles</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13</a:t>
            </a:r>
          </a:p>
        </p:txBody>
      </p:sp>
      <p:sp>
        <p:nvSpPr>
          <p:cNvPr id="11" name="model-lead">
            <a:extLst>
              <a:ext uri="{FF2B5EF4-FFF2-40B4-BE49-F238E27FC236}">
                <a16:creationId id="{572A527E-2D93-4A64-A25E-49DEB63C6819}"/>
              </a:ext>
            </a:extLst>
          </p:cNvPr>
          <p:cNvSpPr>
            <a:spLocks noGrp="1"/>
          </p:cNvSpPr>
          <p:nvPr/>
        </p:nvSpPr>
        <p:spPr>
          <a:xfrm>
            <a:off x="742950" y="1524000"/>
            <a:ext cx="10668000" cy="4572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0283F"/>
                </a:solidFill>
                <a:latin typeface="Arial"/>
                <a:ea typeface="Arial"/>
                <a:cs typeface="Arial"/>
              </a:rPr>
              <a:t>12 configurations comparées sur un découpage temporel commun.</a:t>
            </a:r>
          </a:p>
        </p:txBody>
      </p:sp>
      <p:sp>
        <p:nvSpPr>
          <p:cNvPr id="12" name="split-0">
            <a:extLst>
              <a:ext uri="{FF2B5EF4-FFF2-40B4-BE49-F238E27FC236}">
                <a16:creationId id="{572A527E-2D93-4A64-A25E-49DEB63C6819}"/>
              </a:ext>
            </a:extLst>
          </p:cNvPr>
          <p:cNvSpPr>
            <a:spLocks noGrp="1"/>
          </p:cNvSpPr>
          <p:nvPr/>
        </p:nvSpPr>
        <p:spPr>
          <a:xfrm>
            <a:off x="742950" y="2333625"/>
            <a:ext cx="3286125" cy="61912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3300" b="1">
                <a:solidFill>
                  <a:srgbClr val="176B87"/>
                </a:solidFill>
                <a:latin typeface="Arial"/>
                <a:ea typeface="Arial"/>
                <a:cs typeface="Arial"/>
              </a:rPr>
              <a:t>311 349</a:t>
            </a:r>
          </a:p>
        </p:txBody>
      </p:sp>
      <p:sp>
        <p:nvSpPr>
          <p:cNvPr id="13" name="split-label-0">
            <a:extLst>
              <a:ext uri="{FF2B5EF4-FFF2-40B4-BE49-F238E27FC236}">
                <a16:creationId id="{572A527E-2D93-4A64-A25E-49DEB63C6819}"/>
              </a:ext>
            </a:extLst>
          </p:cNvPr>
          <p:cNvSpPr>
            <a:spLocks noGrp="1"/>
          </p:cNvSpPr>
          <p:nvPr/>
        </p:nvSpPr>
        <p:spPr>
          <a:xfrm>
            <a:off x="742950" y="3028950"/>
            <a:ext cx="3286125" cy="3429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650" b="0">
                <a:solidFill>
                  <a:srgbClr val="54697B"/>
                </a:solidFill>
                <a:latin typeface="Arial"/>
                <a:ea typeface="Arial"/>
                <a:cs typeface="Arial"/>
              </a:rPr>
              <a:t>Train · 2021–2023</a:t>
            </a:r>
          </a:p>
        </p:txBody>
      </p:sp>
      <p:sp>
        <p:nvSpPr>
          <p:cNvPr id="14" name="split-1">
            <a:extLst>
              <a:ext uri="{FF2B5EF4-FFF2-40B4-BE49-F238E27FC236}">
                <a16:creationId id="{572A527E-2D93-4A64-A25E-49DEB63C6819}"/>
              </a:ext>
            </a:extLst>
          </p:cNvPr>
          <p:cNvSpPr>
            <a:spLocks noGrp="1"/>
          </p:cNvSpPr>
          <p:nvPr/>
        </p:nvSpPr>
        <p:spPr>
          <a:xfrm>
            <a:off x="4381500" y="2333625"/>
            <a:ext cx="3286125" cy="61912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3300" b="1">
                <a:solidFill>
                  <a:srgbClr val="176B87"/>
                </a:solidFill>
                <a:latin typeface="Arial"/>
                <a:ea typeface="Arial"/>
                <a:cs typeface="Arial"/>
              </a:rPr>
              <a:t>100 927</a:t>
            </a:r>
          </a:p>
        </p:txBody>
      </p:sp>
      <p:sp>
        <p:nvSpPr>
          <p:cNvPr id="15" name="split-label-1">
            <a:extLst>
              <a:ext uri="{FF2B5EF4-FFF2-40B4-BE49-F238E27FC236}">
                <a16:creationId id="{572A527E-2D93-4A64-A25E-49DEB63C6819}"/>
              </a:ext>
            </a:extLst>
          </p:cNvPr>
          <p:cNvSpPr>
            <a:spLocks noGrp="1"/>
          </p:cNvSpPr>
          <p:nvPr/>
        </p:nvSpPr>
        <p:spPr>
          <a:xfrm>
            <a:off x="4381500" y="3028950"/>
            <a:ext cx="3286125" cy="3429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650" b="0">
                <a:solidFill>
                  <a:srgbClr val="54697B"/>
                </a:solidFill>
                <a:latin typeface="Arial"/>
                <a:ea typeface="Arial"/>
                <a:cs typeface="Arial"/>
              </a:rPr>
              <a:t>Validation · 2024</a:t>
            </a:r>
          </a:p>
        </p:txBody>
      </p:sp>
      <p:sp>
        <p:nvSpPr>
          <p:cNvPr id="16" name="split-2">
            <a:extLst>
              <a:ext uri="{FF2B5EF4-FFF2-40B4-BE49-F238E27FC236}">
                <a16:creationId id="{572A527E-2D93-4A64-A25E-49DEB63C6819}"/>
              </a:ext>
            </a:extLst>
          </p:cNvPr>
          <p:cNvSpPr>
            <a:spLocks noGrp="1"/>
          </p:cNvSpPr>
          <p:nvPr/>
        </p:nvSpPr>
        <p:spPr>
          <a:xfrm>
            <a:off x="8020050" y="2333625"/>
            <a:ext cx="3286125" cy="61912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3300" b="1">
                <a:solidFill>
                  <a:srgbClr val="176B87"/>
                </a:solidFill>
                <a:latin typeface="Arial"/>
                <a:ea typeface="Arial"/>
                <a:cs typeface="Arial"/>
              </a:rPr>
              <a:t>101 525</a:t>
            </a:r>
          </a:p>
        </p:txBody>
      </p:sp>
      <p:sp>
        <p:nvSpPr>
          <p:cNvPr id="17" name="split-label-2">
            <a:extLst>
              <a:ext uri="{FF2B5EF4-FFF2-40B4-BE49-F238E27FC236}">
                <a16:creationId id="{572A527E-2D93-4A64-A25E-49DEB63C6819}"/>
              </a:ext>
            </a:extLst>
          </p:cNvPr>
          <p:cNvSpPr>
            <a:spLocks noGrp="1"/>
          </p:cNvSpPr>
          <p:nvPr/>
        </p:nvSpPr>
        <p:spPr>
          <a:xfrm>
            <a:off x="8020050" y="3028950"/>
            <a:ext cx="3286125" cy="3429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650" b="0">
                <a:solidFill>
                  <a:srgbClr val="54697B"/>
                </a:solidFill>
                <a:latin typeface="Arial"/>
                <a:ea typeface="Arial"/>
                <a:cs typeface="Arial"/>
              </a:rPr>
              <a:t>Test · 2025</a:t>
            </a:r>
          </a:p>
        </p:txBody>
      </p:sp>
      <p:sp>
        <p:nvSpPr>
          <p:cNvPr id="18" name="model-families">
            <a:extLst>
              <a:ext uri="{FF2B5EF4-FFF2-40B4-BE49-F238E27FC236}">
                <a16:creationId id="{572A527E-2D93-4A64-A25E-49DEB63C6819}"/>
              </a:ext>
            </a:extLst>
          </p:cNvPr>
          <p:cNvSpPr>
            <a:spLocks noGrp="1"/>
          </p:cNvSpPr>
          <p:nvPr/>
        </p:nvSpPr>
        <p:spPr>
          <a:xfrm>
            <a:off x="742950" y="3952875"/>
            <a:ext cx="4857750" cy="13335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800" b="0">
                <a:solidFill>
                  <a:srgbClr val="10283F"/>
                </a:solidFill>
                <a:latin typeface="Arial"/>
                <a:ea typeface="Arial"/>
                <a:cs typeface="Arial"/>
              </a:rPr>
              <a:t>1 référence majoritaire</a:t>
            </a:r>
          </a:p>
          <a:p>
            <a:pPr algn="l">
              <a:defRPr sz="1725" b="0">
                <a:solidFill>
                  <a:srgbClr val="10283F"/>
                </a:solidFill>
                <a:latin typeface="Arial"/>
                <a:ea typeface="Arial"/>
                <a:cs typeface="Arial"/>
              </a:defRPr>
            </a:pPr>
            <a:r>
              <a:rPr sz="1800" b="0">
                <a:solidFill>
                  <a:srgbClr val="10283F"/>
                </a:solidFill>
                <a:latin typeface="Arial"/>
                <a:ea typeface="Arial"/>
                <a:cs typeface="Arial"/>
              </a:rPr>
              <a:t>5 régressions logistiques</a:t>
            </a:r>
          </a:p>
          <a:p>
            <a:pPr algn="l">
              <a:defRPr sz="1725" b="0">
                <a:solidFill>
                  <a:srgbClr val="10283F"/>
                </a:solidFill>
                <a:latin typeface="Arial"/>
                <a:ea typeface="Arial"/>
                <a:cs typeface="Arial"/>
              </a:defRPr>
            </a:pPr>
            <a:r>
              <a:rPr sz="1800" b="0">
                <a:solidFill>
                  <a:srgbClr val="10283F"/>
                </a:solidFill>
                <a:latin typeface="Arial"/>
                <a:ea typeface="Arial"/>
                <a:cs typeface="Arial"/>
              </a:rPr>
              <a:t>5 configurations de gradient boosting</a:t>
            </a:r>
          </a:p>
          <a:p>
            <a:pPr algn="l">
              <a:defRPr sz="1725" b="0">
                <a:solidFill>
                  <a:srgbClr val="10283F"/>
                </a:solidFill>
                <a:latin typeface="Arial"/>
                <a:ea typeface="Arial"/>
                <a:cs typeface="Arial"/>
              </a:defRPr>
            </a:pPr>
            <a:r>
              <a:rPr sz="1800" b="0">
                <a:solidFill>
                  <a:srgbClr val="10283F"/>
                </a:solidFill>
                <a:latin typeface="Arial"/>
                <a:ea typeface="Arial"/>
                <a:cs typeface="Arial"/>
              </a:rPr>
              <a:t>1 Extra Trees</a:t>
            </a:r>
          </a:p>
        </p:txBody>
      </p:sp>
      <p:sp>
        <p:nvSpPr>
          <p:cNvPr id="19" name="model-rule">
            <a:extLst>
              <a:ext uri="{FF2B5EF4-FFF2-40B4-BE49-F238E27FC236}">
                <a16:creationId id="{572A527E-2D93-4A64-A25E-49DEB63C6819}"/>
              </a:ext>
            </a:extLst>
          </p:cNvPr>
          <p:cNvSpPr>
            <a:spLocks noGrp="1"/>
          </p:cNvSpPr>
          <p:nvPr/>
        </p:nvSpPr>
        <p:spPr>
          <a:xfrm>
            <a:off x="6667500" y="3933825"/>
            <a:ext cx="4762500" cy="40957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025" b="1">
                <a:solidFill>
                  <a:srgbClr val="176B87"/>
                </a:solidFill>
                <a:latin typeface="Arial"/>
                <a:ea typeface="Arial"/>
                <a:cs typeface="Arial"/>
              </a:rPr>
              <a:t>Choix : F1 macro sur 2024</a:t>
            </a:r>
          </a:p>
        </p:txBody>
      </p:sp>
      <p:sp>
        <p:nvSpPr>
          <p:cNvPr id="20" name="model-choice">
            <a:extLst>
              <a:ext uri="{FF2B5EF4-FFF2-40B4-BE49-F238E27FC236}">
                <a16:creationId id="{572A527E-2D93-4A64-A25E-49DEB63C6819}"/>
              </a:ext>
            </a:extLst>
          </p:cNvPr>
          <p:cNvSpPr>
            <a:spLocks noGrp="1"/>
          </p:cNvSpPr>
          <p:nvPr/>
        </p:nvSpPr>
        <p:spPr>
          <a:xfrm>
            <a:off x="6667500" y="4476750"/>
            <a:ext cx="4762500" cy="138112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650" b="0">
                <a:solidFill>
                  <a:srgbClr val="10283F"/>
                </a:solidFill>
                <a:latin typeface="Arial"/>
                <a:ea typeface="Arial"/>
                <a:cs typeface="Arial"/>
              </a:rPr>
              <a:t>Histogram Gradient Boosting</a:t>
            </a:r>
          </a:p>
          <a:p>
            <a:pPr algn="l">
              <a:defRPr sz="1725" b="0">
                <a:solidFill>
                  <a:srgbClr val="10283F"/>
                </a:solidFill>
                <a:latin typeface="Arial"/>
                <a:ea typeface="Arial"/>
                <a:cs typeface="Arial"/>
              </a:defRPr>
            </a:pPr>
            <a:r>
              <a:rPr sz="1650" b="0">
                <a:solidFill>
                  <a:srgbClr val="10283F"/>
                </a:solidFill>
                <a:latin typeface="Arial"/>
                <a:ea typeface="Arial"/>
                <a:cs typeface="Arial"/>
              </a:rPr>
              <a:t>220 itérations · 31 feuilles max. par arbre</a:t>
            </a:r>
          </a:p>
          <a:p>
            <a:pPr algn="l">
              <a:defRPr sz="1725" b="0">
                <a:solidFill>
                  <a:srgbClr val="10283F"/>
                </a:solidFill>
                <a:latin typeface="Arial"/>
                <a:ea typeface="Arial"/>
                <a:cs typeface="Arial"/>
              </a:defRPr>
            </a:pPr>
            <a:r>
              <a:rPr sz="1650" b="0">
                <a:solidFill>
                  <a:srgbClr val="10283F"/>
                </a:solidFill>
                <a:latin typeface="Arial"/>
                <a:ea typeface="Arial"/>
                <a:cs typeface="Arial"/>
              </a:rPr>
              <a:t>Pondération intermédiaire (puissance 0,5)</a:t>
            </a:r>
          </a:p>
          <a:p>
            <a:pPr algn="l">
              <a:defRPr sz="1725" b="0">
                <a:solidFill>
                  <a:srgbClr val="10283F"/>
                </a:solidFill>
                <a:latin typeface="Arial"/>
                <a:ea typeface="Arial"/>
                <a:cs typeface="Arial"/>
              </a:defRPr>
            </a:pPr>
            <a:r>
              <a:rPr sz="1650" b="0">
                <a:solidFill>
                  <a:srgbClr val="10283F"/>
                </a:solidFill>
                <a:latin typeface="Arial"/>
                <a:ea typeface="Arial"/>
                <a:cs typeface="Arial"/>
              </a:rPr>
              <a:t>F1 macro validation : 0,4095</a:t>
            </a:r>
          </a:p>
        </p:txBody>
      </p:sp>
      <p:sp>
        <p:nvSpPr>
          <p:cNvPr id="21" name="model-source">
            <a:extLst>
              <a:ext uri="{FF2B5EF4-FFF2-40B4-BE49-F238E27FC236}">
                <a16:creationId id="{572A527E-2D93-4A64-A25E-49DEB63C6819}"/>
              </a:ext>
            </a:extLst>
          </p:cNvPr>
          <p:cNvSpPr>
            <a:spLocks noGrp="1"/>
          </p:cNvSpPr>
          <p:nvPr/>
        </p:nvSpPr>
        <p:spPr>
          <a:xfrm>
            <a:off x="742950" y="6115050"/>
            <a:ext cx="10477500" cy="2286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125" b="0">
                <a:solidFill>
                  <a:srgbClr val="54697B"/>
                </a:solidFill>
                <a:latin typeface="Arial"/>
                <a:ea typeface="Arial"/>
                <a:cs typeface="Arial"/>
              </a:rPr>
              <a:t>Source : notebook 03 · Le test 2025 ne règle ni les paramètres ni les poids.</a:t>
            </a:r>
          </a:p>
        </p:txBody>
      </p:sp>
    </p:spTree>
    <p:extLst>
      <p:ext uri="{BB962C8B-B14F-4D97-AF65-F5344CB8AC3E}">
        <p14:creationId val="757959548"/>
      </p:ext>
    </p:extLst>
  </p:cSld>
</p:sld>
</file>

<file path=ppt/slides/slide16.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Résultats sur le test 2025</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14</a:t>
            </a:r>
          </a:p>
        </p:txBody>
      </p:sp>
      <p:sp>
        <p:nvSpPr>
          <p:cNvPr id="11" name="results-lead">
            <a:extLst>
              <a:ext uri="{FF2B5EF4-FFF2-40B4-BE49-F238E27FC236}">
                <a16:creationId id="{572A527E-2D93-4A64-A25E-49DEB63C6819}"/>
              </a:ext>
            </a:extLst>
          </p:cNvPr>
          <p:cNvSpPr>
            <a:spLocks noGrp="1"/>
          </p:cNvSpPr>
          <p:nvPr/>
        </p:nvSpPr>
        <p:spPr>
          <a:xfrm>
            <a:off x="742950" y="1504950"/>
            <a:ext cx="10572750" cy="7620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0283F"/>
                </a:solidFill>
                <a:latin typeface="Arial"/>
                <a:ea typeface="Arial"/>
                <a:cs typeface="Arial"/>
              </a:rPr>
              <a:t>Le F1 macro progresse, mais les collisions mortelles restent peu détectées.</a:t>
            </a:r>
          </a:p>
        </p:txBody>
      </p:sp>
      <p:graphicFrame>
        <p:nvGraphicFramePr>
          <p:cNvPr id="12" name="results-table"/>
          <p:cNvGraphicFramePr/>
          <p:nvPr/>
        </p:nvGraphicFramePr>
        <p:xfrm>
          <a:off x="742950" y="2362200"/>
          <a:ext cx="10477500" cy="2857500"/>
        </p:xfrm>
        <a:graphic>
          <a:graphicData uri="http://schemas.openxmlformats.org/drawingml/2006/table">
            <a:tbl>
              <a:tblPr firstRow="1" bandRow="0"/>
              <a:tblGrid>
                <a:gridCol w="4762500"/>
                <a:gridCol w="2857500"/>
                <a:gridCol w="2857500"/>
              </a:tblGrid>
              <a:tr h="476250">
                <a:tc>
                  <a:txBody>
                    <a:bodyPr vert="horz" wrap="square" anchor="ctr"/>
                    <a:lstStyle/>
                    <a:p>
                      <a:pPr algn="l"/>
                      <a:r>
                        <a:rPr lang="fr-FR" sz="1800" b="1">
                          <a:solidFill>
                            <a:srgbClr val="FFFFFF"/>
                          </a:solidFill>
                          <a:latin typeface="Arial"/>
                        </a:rPr>
                        <a:t>Mesure</a:t>
                      </a:r>
                    </a:p>
                  </a:txBody>
                  <a:tcPr marL="95250" marR="95250" marT="47625" marB="47625">
                    <a:solidFill>
                      <a:srgbClr val="176B87"/>
                    </a:solidFill>
                  </a:tcPr>
                </a:tc>
                <a:tc>
                  <a:txBody>
                    <a:bodyPr vert="horz" wrap="square" anchor="ctr"/>
                    <a:lstStyle/>
                    <a:p>
                      <a:pPr algn="ctr"/>
                      <a:r>
                        <a:rPr lang="fr-FR" sz="1800" b="1">
                          <a:solidFill>
                            <a:srgbClr val="FFFFFF"/>
                          </a:solidFill>
                          <a:latin typeface="Arial"/>
                        </a:rPr>
                        <a:t>Référence</a:t>
                      </a:r>
                    </a:p>
                  </a:txBody>
                  <a:tcPr marL="95250" marR="95250" marT="47625" marB="47625">
                    <a:solidFill>
                      <a:srgbClr val="176B87"/>
                    </a:solidFill>
                  </a:tcPr>
                </a:tc>
                <a:tc>
                  <a:txBody>
                    <a:bodyPr vert="horz" wrap="square" anchor="ctr"/>
                    <a:lstStyle/>
                    <a:p>
                      <a:pPr algn="ctr"/>
                      <a:r>
                        <a:rPr lang="fr-FR" sz="1800" b="1">
                          <a:solidFill>
                            <a:srgbClr val="FFFFFF"/>
                          </a:solidFill>
                          <a:latin typeface="Arial"/>
                        </a:rPr>
                        <a:t>Modèle choisi</a:t>
                      </a:r>
                    </a:p>
                  </a:txBody>
                  <a:tcPr marL="95250" marR="95250" marT="47625" marB="47625">
                    <a:solidFill>
                      <a:srgbClr val="176B87"/>
                    </a:solidFill>
                  </a:tcPr>
                </a:tc>
              </a:tr>
              <a:tr h="476250">
                <a:tc>
                  <a:txBody>
                    <a:bodyPr vert="horz" wrap="square" anchor="ctr"/>
                    <a:lstStyle/>
                    <a:p>
                      <a:pPr algn="l"/>
                      <a:r>
                        <a:rPr lang="fr-FR" sz="1800" b="0">
                          <a:solidFill>
                            <a:srgbClr val="10283F"/>
                          </a:solidFill>
                          <a:latin typeface="Arial"/>
                        </a:rPr>
                        <a:t>F1 macro</a:t>
                      </a:r>
                    </a:p>
                  </a:txBody>
                  <a:tcPr marL="95250" marR="95250" marT="47625" marB="47625">
                    <a:solidFill>
                      <a:srgbClr val="FFFFFF"/>
                    </a:solidFill>
                  </a:tcPr>
                </a:tc>
                <a:tc>
                  <a:txBody>
                    <a:bodyPr vert="horz" wrap="square" anchor="ctr"/>
                    <a:lstStyle/>
                    <a:p>
                      <a:pPr algn="ctr"/>
                      <a:r>
                        <a:rPr lang="fr-FR" sz="1800" b="0">
                          <a:solidFill>
                            <a:srgbClr val="10283F"/>
                          </a:solidFill>
                          <a:latin typeface="Arial"/>
                        </a:rPr>
                        <a:t>0,2830</a:t>
                      </a:r>
                    </a:p>
                  </a:txBody>
                  <a:tcPr marL="95250" marR="95250" marT="47625" marB="47625">
                    <a:solidFill>
                      <a:srgbClr val="FFFFFF"/>
                    </a:solidFill>
                  </a:tcPr>
                </a:tc>
                <a:tc>
                  <a:txBody>
                    <a:bodyPr vert="horz" wrap="square" anchor="ctr"/>
                    <a:lstStyle/>
                    <a:p>
                      <a:pPr algn="ctr"/>
                      <a:r>
                        <a:rPr lang="fr-FR" sz="1800" b="0">
                          <a:solidFill>
                            <a:srgbClr val="10283F"/>
                          </a:solidFill>
                          <a:latin typeface="Arial"/>
                        </a:rPr>
                        <a:t>0,4098</a:t>
                      </a:r>
                    </a:p>
                  </a:txBody>
                  <a:tcPr marL="95250" marR="95250" marT="47625" marB="47625">
                    <a:solidFill>
                      <a:srgbClr val="FFFFFF"/>
                    </a:solidFill>
                  </a:tcPr>
                </a:tc>
              </a:tr>
              <a:tr h="476250">
                <a:tc>
                  <a:txBody>
                    <a:bodyPr vert="horz" wrap="square" anchor="ctr"/>
                    <a:lstStyle/>
                    <a:p>
                      <a:pPr algn="l"/>
                      <a:r>
                        <a:rPr lang="fr-FR" sz="1800" b="0">
                          <a:solidFill>
                            <a:srgbClr val="10283F"/>
                          </a:solidFill>
                          <a:latin typeface="Arial"/>
                        </a:rPr>
                        <a:t>Balanced accuracy</a:t>
                      </a:r>
                    </a:p>
                  </a:txBody>
                  <a:tcPr marL="95250" marR="95250" marT="47625" marB="47625">
                    <a:solidFill>
                      <a:srgbClr val="E8EFF3"/>
                    </a:solidFill>
                  </a:tcPr>
                </a:tc>
                <a:tc>
                  <a:txBody>
                    <a:bodyPr vert="horz" wrap="square" anchor="ctr"/>
                    <a:lstStyle/>
                    <a:p>
                      <a:pPr algn="ctr"/>
                      <a:r>
                        <a:rPr lang="fr-FR" sz="1800" b="0">
                          <a:solidFill>
                            <a:srgbClr val="10283F"/>
                          </a:solidFill>
                          <a:latin typeface="Arial"/>
                        </a:rPr>
                        <a:t>33,33 %</a:t>
                      </a:r>
                    </a:p>
                  </a:txBody>
                  <a:tcPr marL="95250" marR="95250" marT="47625" marB="47625">
                    <a:solidFill>
                      <a:srgbClr val="E8EFF3"/>
                    </a:solidFill>
                  </a:tcPr>
                </a:tc>
                <a:tc>
                  <a:txBody>
                    <a:bodyPr vert="horz" wrap="square" anchor="ctr"/>
                    <a:lstStyle/>
                    <a:p>
                      <a:pPr algn="ctr"/>
                      <a:r>
                        <a:rPr lang="fr-FR" sz="1800" b="0">
                          <a:solidFill>
                            <a:srgbClr val="10283F"/>
                          </a:solidFill>
                          <a:latin typeface="Arial"/>
                        </a:rPr>
                        <a:t>40,24 %</a:t>
                      </a:r>
                    </a:p>
                  </a:txBody>
                  <a:tcPr marL="95250" marR="95250" marT="47625" marB="47625">
                    <a:solidFill>
                      <a:srgbClr val="E8EFF3"/>
                    </a:solidFill>
                  </a:tcPr>
                </a:tc>
              </a:tr>
              <a:tr h="476250">
                <a:tc>
                  <a:txBody>
                    <a:bodyPr vert="horz" wrap="square" anchor="ctr"/>
                    <a:lstStyle/>
                    <a:p>
                      <a:pPr algn="l"/>
                      <a:r>
                        <a:rPr lang="fr-FR" sz="1800" b="0">
                          <a:solidFill>
                            <a:srgbClr val="10283F"/>
                          </a:solidFill>
                          <a:latin typeface="Arial"/>
                        </a:rPr>
                        <a:t>Accuracy</a:t>
                      </a:r>
                    </a:p>
                  </a:txBody>
                  <a:tcPr marL="95250" marR="95250" marT="47625" marB="47625">
                    <a:solidFill>
                      <a:srgbClr val="FFFFFF"/>
                    </a:solidFill>
                  </a:tcPr>
                </a:tc>
                <a:tc>
                  <a:txBody>
                    <a:bodyPr vert="horz" wrap="square" anchor="ctr"/>
                    <a:lstStyle/>
                    <a:p>
                      <a:pPr algn="ctr"/>
                      <a:r>
                        <a:rPr lang="fr-FR" sz="1800" b="0">
                          <a:solidFill>
                            <a:srgbClr val="10283F"/>
                          </a:solidFill>
                          <a:latin typeface="Arial"/>
                        </a:rPr>
                        <a:t>73,76 %</a:t>
                      </a:r>
                    </a:p>
                  </a:txBody>
                  <a:tcPr marL="95250" marR="95250" marT="47625" marB="47625">
                    <a:solidFill>
                      <a:srgbClr val="FFFFFF"/>
                    </a:solidFill>
                  </a:tcPr>
                </a:tc>
                <a:tc>
                  <a:txBody>
                    <a:bodyPr vert="horz" wrap="square" anchor="ctr"/>
                    <a:lstStyle/>
                    <a:p>
                      <a:pPr algn="ctr"/>
                      <a:r>
                        <a:rPr lang="fr-FR" sz="1800" b="0">
                          <a:solidFill>
                            <a:srgbClr val="10283F"/>
                          </a:solidFill>
                          <a:latin typeface="Arial"/>
                        </a:rPr>
                        <a:t>72,39 %</a:t>
                      </a:r>
                    </a:p>
                  </a:txBody>
                  <a:tcPr marL="95250" marR="95250" marT="47625" marB="47625">
                    <a:solidFill>
                      <a:srgbClr val="FFFFFF"/>
                    </a:solidFill>
                  </a:tcPr>
                </a:tc>
              </a:tr>
              <a:tr h="476250">
                <a:tc>
                  <a:txBody>
                    <a:bodyPr vert="horz" wrap="square" anchor="ctr"/>
                    <a:lstStyle/>
                    <a:p>
                      <a:pPr algn="l"/>
                      <a:r>
                        <a:rPr lang="fr-FR" sz="1800" b="0">
                          <a:solidFill>
                            <a:srgbClr val="10283F"/>
                          </a:solidFill>
                          <a:latin typeface="Arial"/>
                        </a:rPr>
                        <a:t>Log loss (plus bas = mieux)</a:t>
                      </a:r>
                    </a:p>
                  </a:txBody>
                  <a:tcPr marL="95250" marR="95250" marT="47625" marB="47625">
                    <a:solidFill>
                      <a:srgbClr val="E8EFF3"/>
                    </a:solidFill>
                  </a:tcPr>
                </a:tc>
                <a:tc>
                  <a:txBody>
                    <a:bodyPr vert="horz" wrap="square" anchor="ctr"/>
                    <a:lstStyle/>
                    <a:p>
                      <a:pPr algn="ctr"/>
                      <a:r>
                        <a:rPr lang="fr-FR" sz="1800" b="0">
                          <a:solidFill>
                            <a:srgbClr val="10283F"/>
                          </a:solidFill>
                          <a:latin typeface="Arial"/>
                        </a:rPr>
                        <a:t>0,6336</a:t>
                      </a:r>
                    </a:p>
                  </a:txBody>
                  <a:tcPr marL="95250" marR="95250" marT="47625" marB="47625">
                    <a:solidFill>
                      <a:srgbClr val="E8EFF3"/>
                    </a:solidFill>
                  </a:tcPr>
                </a:tc>
                <a:tc>
                  <a:txBody>
                    <a:bodyPr vert="horz" wrap="square" anchor="ctr"/>
                    <a:lstStyle/>
                    <a:p>
                      <a:pPr algn="ctr"/>
                      <a:r>
                        <a:rPr lang="fr-FR" sz="1800" b="0">
                          <a:solidFill>
                            <a:srgbClr val="10283F"/>
                          </a:solidFill>
                          <a:latin typeface="Arial"/>
                        </a:rPr>
                        <a:t>0,6365</a:t>
                      </a:r>
                    </a:p>
                  </a:txBody>
                  <a:tcPr marL="95250" marR="95250" marT="47625" marB="47625">
                    <a:solidFill>
                      <a:srgbClr val="E8EFF3"/>
                    </a:solidFill>
                  </a:tcPr>
                </a:tc>
              </a:tr>
              <a:tr h="476250">
                <a:tc>
                  <a:txBody>
                    <a:bodyPr vert="horz" wrap="square" anchor="ctr"/>
                    <a:lstStyle/>
                    <a:p>
                      <a:pPr algn="l"/>
                      <a:r>
                        <a:rPr lang="fr-FR" sz="1800" b="0">
                          <a:solidFill>
                            <a:srgbClr val="10283F"/>
                          </a:solidFill>
                          <a:latin typeface="Arial"/>
                        </a:rPr>
                        <a:t>Rappel — mortelles</a:t>
                      </a:r>
                    </a:p>
                  </a:txBody>
                  <a:tcPr marL="95250" marR="95250" marT="47625" marB="47625">
                    <a:solidFill>
                      <a:srgbClr val="FFFFFF"/>
                    </a:solidFill>
                  </a:tcPr>
                </a:tc>
                <a:tc>
                  <a:txBody>
                    <a:bodyPr vert="horz" wrap="square" anchor="ctr"/>
                    <a:lstStyle/>
                    <a:p>
                      <a:pPr algn="ctr"/>
                      <a:r>
                        <a:rPr lang="fr-FR" sz="1800" b="0">
                          <a:solidFill>
                            <a:srgbClr val="10283F"/>
                          </a:solidFill>
                          <a:latin typeface="Arial"/>
                        </a:rPr>
                        <a:t>0 %</a:t>
                      </a:r>
                    </a:p>
                  </a:txBody>
                  <a:tcPr marL="95250" marR="95250" marT="47625" marB="47625">
                    <a:solidFill>
                      <a:srgbClr val="FFFFFF"/>
                    </a:solidFill>
                  </a:tcPr>
                </a:tc>
                <a:tc>
                  <a:txBody>
                    <a:bodyPr vert="horz" wrap="square" anchor="ctr"/>
                    <a:lstStyle/>
                    <a:p>
                      <a:pPr algn="ctr"/>
                      <a:r>
                        <a:rPr lang="fr-FR" sz="1800" b="0">
                          <a:solidFill>
                            <a:srgbClr val="10283F"/>
                          </a:solidFill>
                          <a:latin typeface="Arial"/>
                        </a:rPr>
                        <a:t>7,36 %</a:t>
                      </a:r>
                    </a:p>
                  </a:txBody>
                  <a:tcPr marL="95250" marR="95250" marT="47625" marB="47625">
                    <a:solidFill>
                      <a:srgbClr val="FFFFFF"/>
                    </a:solidFill>
                  </a:tcPr>
                </a:tc>
              </a:tr>
            </a:tbl>
          </a:graphicData>
        </a:graphic>
      </p:graphicFrame>
      <p:sp>
        <p:nvSpPr>
          <p:cNvPr id="13" name="results-limit">
            <a:extLst>
              <a:ext uri="{FF2B5EF4-FFF2-40B4-BE49-F238E27FC236}">
                <a16:creationId id="{572A527E-2D93-4A64-A25E-49DEB63C6819}"/>
              </a:ext>
            </a:extLst>
          </p:cNvPr>
          <p:cNvSpPr>
            <a:spLocks noGrp="1"/>
          </p:cNvSpPr>
          <p:nvPr/>
        </p:nvSpPr>
        <p:spPr>
          <a:xfrm>
            <a:off x="742950" y="5353050"/>
            <a:ext cx="10572750" cy="6096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650" b="1">
                <a:solidFill>
                  <a:srgbClr val="C75A55"/>
                </a:solidFill>
                <a:latin typeface="Arial"/>
                <a:ea typeface="Arial"/>
                <a:cs typeface="Arial"/>
              </a:rPr>
              <a:t>Mortelles : précision 13,08 %. Ces résultats restent insuffisants pour un usage opérationnel.</a:t>
            </a:r>
          </a:p>
        </p:txBody>
      </p:sp>
      <p:sp>
        <p:nvSpPr>
          <p:cNvPr id="14" name="results-source">
            <a:extLst>
              <a:ext uri="{FF2B5EF4-FFF2-40B4-BE49-F238E27FC236}">
                <a16:creationId id="{572A527E-2D93-4A64-A25E-49DEB63C6819}"/>
              </a:ext>
            </a:extLst>
          </p:cNvPr>
          <p:cNvSpPr>
            <a:spLocks noGrp="1"/>
          </p:cNvSpPr>
          <p:nvPr/>
        </p:nvSpPr>
        <p:spPr>
          <a:xfrm>
            <a:off x="742950" y="6115050"/>
            <a:ext cx="10668000" cy="2286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125" b="0">
                <a:solidFill>
                  <a:srgbClr val="54697B"/>
                </a:solidFill>
                <a:latin typeface="Arial"/>
                <a:ea typeface="Arial"/>
                <a:cs typeface="Arial"/>
              </a:rPr>
              <a:t>Source : notebook 03 · 101 525 collisions de test · F1 macro = poids égal par classe.</a:t>
            </a:r>
          </a:p>
        </p:txBody>
      </p:sp>
    </p:spTree>
    <p:extLst>
      <p:ext uri="{BB962C8B-B14F-4D97-AF65-F5344CB8AC3E}">
        <p14:creationId val="757959548"/>
      </p:ext>
    </p:extLst>
  </p:cSld>
</p:sld>
</file>

<file path=ppt/slides/slide17.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Variables utiles et limites</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15</a:t>
            </a:r>
          </a:p>
        </p:txBody>
      </p:sp>
      <p:sp>
        <p:nvSpPr>
          <p:cNvPr id="11" name="importance-lead">
            <a:extLst>
              <a:ext uri="{FF2B5EF4-FFF2-40B4-BE49-F238E27FC236}">
                <a16:creationId id="{572A527E-2D93-4A64-A25E-49DEB63C6819}"/>
              </a:ext>
            </a:extLst>
          </p:cNvPr>
          <p:cNvSpPr>
            <a:spLocks noGrp="1"/>
          </p:cNvSpPr>
          <p:nvPr/>
        </p:nvSpPr>
        <p:spPr>
          <a:xfrm>
            <a:off x="742950" y="1504950"/>
            <a:ext cx="10477500" cy="4572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0283F"/>
                </a:solidFill>
                <a:latin typeface="Arial"/>
                <a:ea typeface="Arial"/>
                <a:cs typeface="Arial"/>
              </a:rPr>
              <a:t>Importance mesurée sur la validation, après entraînement.</a:t>
            </a:r>
          </a:p>
        </p:txBody>
      </p:sp>
      <p:graphicFrame>
        <p:nvGraphicFramePr>
          <p:cNvPr id="12" name="importance-table"/>
          <p:cNvGraphicFramePr/>
          <p:nvPr/>
        </p:nvGraphicFramePr>
        <p:xfrm>
          <a:off x="742950" y="2381250"/>
          <a:ext cx="5334000" cy="2743200"/>
        </p:xfrm>
        <a:graphic>
          <a:graphicData uri="http://schemas.openxmlformats.org/drawingml/2006/table">
            <a:tbl>
              <a:tblPr firstRow="1" bandRow="0"/>
              <a:tblGrid>
                <a:gridCol w="3714750"/>
                <a:gridCol w="1619250"/>
              </a:tblGrid>
              <a:tr h="457200">
                <a:tc>
                  <a:txBody>
                    <a:bodyPr vert="horz" wrap="square" anchor="ctr"/>
                    <a:lstStyle/>
                    <a:p>
                      <a:pPr algn="l"/>
                      <a:r>
                        <a:rPr lang="fr-FR" sz="1650" b="1">
                          <a:solidFill>
                            <a:srgbClr val="FFFFFF"/>
                          </a:solidFill>
                          <a:latin typeface="Arial"/>
                        </a:rPr>
                        <a:t>Variable</a:t>
                      </a:r>
                    </a:p>
                  </a:txBody>
                  <a:tcPr marL="95250" marR="95250" marT="47625" marB="47625">
                    <a:solidFill>
                      <a:srgbClr val="176B87"/>
                    </a:solidFill>
                  </a:tcPr>
                </a:tc>
                <a:tc>
                  <a:txBody>
                    <a:bodyPr vert="horz" wrap="square" anchor="ctr"/>
                    <a:lstStyle/>
                    <a:p>
                      <a:pPr algn="ctr"/>
                      <a:r>
                        <a:rPr lang="fr-FR" sz="1650" b="1">
                          <a:solidFill>
                            <a:srgbClr val="FFFFFF"/>
                          </a:solidFill>
                          <a:latin typeface="Arial"/>
                        </a:rPr>
                        <a:t>Baisse de F1</a:t>
                      </a:r>
                    </a:p>
                  </a:txBody>
                  <a:tcPr marL="95250" marR="95250" marT="47625" marB="47625">
                    <a:solidFill>
                      <a:srgbClr val="176B87"/>
                    </a:solidFill>
                  </a:tcPr>
                </a:tc>
              </a:tr>
              <a:tr h="457200">
                <a:tc>
                  <a:txBody>
                    <a:bodyPr vert="horz" wrap="square" anchor="ctr"/>
                    <a:lstStyle/>
                    <a:p>
                      <a:pPr algn="l"/>
                      <a:r>
                        <a:rPr lang="fr-FR" sz="1650" b="0">
                          <a:solidFill>
                            <a:srgbClr val="10283F"/>
                          </a:solidFill>
                          <a:latin typeface="Arial"/>
                        </a:rPr>
                        <a:t>Vitesse réglementaire</a:t>
                      </a:r>
                    </a:p>
                  </a:txBody>
                  <a:tcPr marL="95250" marR="95250" marT="47625" marB="47625">
                    <a:solidFill>
                      <a:srgbClr val="FFFFFF"/>
                    </a:solidFill>
                  </a:tcPr>
                </a:tc>
                <a:tc>
                  <a:txBody>
                    <a:bodyPr vert="horz" wrap="square" anchor="ctr"/>
                    <a:lstStyle/>
                    <a:p>
                      <a:pPr algn="ctr"/>
                      <a:r>
                        <a:rPr lang="fr-FR" sz="1650" b="0">
                          <a:solidFill>
                            <a:srgbClr val="10283F"/>
                          </a:solidFill>
                          <a:latin typeface="Arial"/>
                        </a:rPr>
                        <a:t>0,0245</a:t>
                      </a:r>
                    </a:p>
                  </a:txBody>
                  <a:tcPr marL="95250" marR="95250" marT="47625" marB="47625">
                    <a:solidFill>
                      <a:srgbClr val="FFFFFF"/>
                    </a:solidFill>
                  </a:tcPr>
                </a:tc>
              </a:tr>
              <a:tr h="457200">
                <a:tc>
                  <a:txBody>
                    <a:bodyPr vert="horz" wrap="square" anchor="ctr"/>
                    <a:lstStyle/>
                    <a:p>
                      <a:pPr algn="l"/>
                      <a:r>
                        <a:rPr lang="fr-FR" sz="1650" b="0">
                          <a:solidFill>
                            <a:srgbClr val="10283F"/>
                          </a:solidFill>
                          <a:latin typeface="Arial"/>
                        </a:rPr>
                        <a:t>Présence de motos</a:t>
                      </a:r>
                    </a:p>
                  </a:txBody>
                  <a:tcPr marL="95250" marR="95250" marT="47625" marB="47625">
                    <a:solidFill>
                      <a:srgbClr val="E8EFF3"/>
                    </a:solidFill>
                  </a:tcPr>
                </a:tc>
                <a:tc>
                  <a:txBody>
                    <a:bodyPr vert="horz" wrap="square" anchor="ctr"/>
                    <a:lstStyle/>
                    <a:p>
                      <a:pPr algn="ctr"/>
                      <a:r>
                        <a:rPr lang="fr-FR" sz="1650" b="0">
                          <a:solidFill>
                            <a:srgbClr val="10283F"/>
                          </a:solidFill>
                          <a:latin typeface="Arial"/>
                        </a:rPr>
                        <a:t>0,0218</a:t>
                      </a:r>
                    </a:p>
                  </a:txBody>
                  <a:tcPr marL="95250" marR="95250" marT="47625" marB="47625">
                    <a:solidFill>
                      <a:srgbClr val="E8EFF3"/>
                    </a:solidFill>
                  </a:tcPr>
                </a:tc>
              </a:tr>
              <a:tr h="457200">
                <a:tc>
                  <a:txBody>
                    <a:bodyPr vert="horz" wrap="square" anchor="ctr"/>
                    <a:lstStyle/>
                    <a:p>
                      <a:pPr algn="l"/>
                      <a:r>
                        <a:rPr lang="fr-FR" sz="1650" b="0">
                          <a:solidFill>
                            <a:srgbClr val="10283F"/>
                          </a:solidFill>
                          <a:latin typeface="Arial"/>
                        </a:rPr>
                        <a:t>Âge moyen conducteurs</a:t>
                      </a:r>
                    </a:p>
                  </a:txBody>
                  <a:tcPr marL="95250" marR="95250" marT="47625" marB="47625">
                    <a:solidFill>
                      <a:srgbClr val="FFFFFF"/>
                    </a:solidFill>
                  </a:tcPr>
                </a:tc>
                <a:tc>
                  <a:txBody>
                    <a:bodyPr vert="horz" wrap="square" anchor="ctr"/>
                    <a:lstStyle/>
                    <a:p>
                      <a:pPr algn="ctr"/>
                      <a:r>
                        <a:rPr lang="fr-FR" sz="1650" b="0">
                          <a:solidFill>
                            <a:srgbClr val="10283F"/>
                          </a:solidFill>
                          <a:latin typeface="Arial"/>
                        </a:rPr>
                        <a:t>0,0160</a:t>
                      </a:r>
                    </a:p>
                  </a:txBody>
                  <a:tcPr marL="95250" marR="95250" marT="47625" marB="47625">
                    <a:solidFill>
                      <a:srgbClr val="FFFFFF"/>
                    </a:solidFill>
                  </a:tcPr>
                </a:tc>
              </a:tr>
              <a:tr h="457200">
                <a:tc>
                  <a:txBody>
                    <a:bodyPr vert="horz" wrap="square" anchor="ctr"/>
                    <a:lstStyle/>
                    <a:p>
                      <a:pPr algn="l"/>
                      <a:r>
                        <a:rPr lang="fr-FR" sz="1650" b="0">
                          <a:solidFill>
                            <a:srgbClr val="10283F"/>
                          </a:solidFill>
                          <a:latin typeface="Arial"/>
                        </a:rPr>
                        <a:t>Nombre de véhicules</a:t>
                      </a:r>
                    </a:p>
                  </a:txBody>
                  <a:tcPr marL="95250" marR="95250" marT="47625" marB="47625">
                    <a:solidFill>
                      <a:srgbClr val="E8EFF3"/>
                    </a:solidFill>
                  </a:tcPr>
                </a:tc>
                <a:tc>
                  <a:txBody>
                    <a:bodyPr vert="horz" wrap="square" anchor="ctr"/>
                    <a:lstStyle/>
                    <a:p>
                      <a:pPr algn="ctr"/>
                      <a:r>
                        <a:rPr lang="fr-FR" sz="1650" b="0">
                          <a:solidFill>
                            <a:srgbClr val="10283F"/>
                          </a:solidFill>
                          <a:latin typeface="Arial"/>
                        </a:rPr>
                        <a:t>0,0157</a:t>
                      </a:r>
                    </a:p>
                  </a:txBody>
                  <a:tcPr marL="95250" marR="95250" marT="47625" marB="47625">
                    <a:solidFill>
                      <a:srgbClr val="E8EFF3"/>
                    </a:solidFill>
                  </a:tcPr>
                </a:tc>
              </a:tr>
              <a:tr h="457200">
                <a:tc>
                  <a:txBody>
                    <a:bodyPr vert="horz" wrap="square" anchor="ctr"/>
                    <a:lstStyle/>
                    <a:p>
                      <a:pPr algn="l"/>
                      <a:r>
                        <a:rPr lang="fr-FR" sz="1650" b="0">
                          <a:solidFill>
                            <a:srgbClr val="10283F"/>
                          </a:solidFill>
                          <a:latin typeface="Arial"/>
                        </a:rPr>
                        <a:t>Éclairage</a:t>
                      </a:r>
                    </a:p>
                  </a:txBody>
                  <a:tcPr marL="95250" marR="95250" marT="47625" marB="47625">
                    <a:solidFill>
                      <a:srgbClr val="FFFFFF"/>
                    </a:solidFill>
                  </a:tcPr>
                </a:tc>
                <a:tc>
                  <a:txBody>
                    <a:bodyPr vert="horz" wrap="square" anchor="ctr"/>
                    <a:lstStyle/>
                    <a:p>
                      <a:pPr algn="ctr"/>
                      <a:r>
                        <a:rPr lang="fr-FR" sz="1650" b="0">
                          <a:solidFill>
                            <a:srgbClr val="10283F"/>
                          </a:solidFill>
                          <a:latin typeface="Arial"/>
                        </a:rPr>
                        <a:t>0,0126</a:t>
                      </a:r>
                    </a:p>
                  </a:txBody>
                  <a:tcPr marL="95250" marR="95250" marT="47625" marB="47625">
                    <a:solidFill>
                      <a:srgbClr val="FFFFFF"/>
                    </a:solidFill>
                  </a:tcPr>
                </a:tc>
              </a:tr>
            </a:tbl>
          </a:graphicData>
        </a:graphic>
      </p:graphicFrame>
      <p:sp>
        <p:nvSpPr>
          <p:cNvPr id="13" name="limits-head">
            <a:extLst>
              <a:ext uri="{FF2B5EF4-FFF2-40B4-BE49-F238E27FC236}">
                <a16:creationId id="{572A527E-2D93-4A64-A25E-49DEB63C6819}"/>
              </a:ext>
            </a:extLst>
          </p:cNvPr>
          <p:cNvSpPr>
            <a:spLocks noGrp="1"/>
          </p:cNvSpPr>
          <p:nvPr/>
        </p:nvSpPr>
        <p:spPr>
          <a:xfrm>
            <a:off x="6762750" y="2381250"/>
            <a:ext cx="4524375" cy="4191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76B87"/>
                </a:solidFill>
                <a:latin typeface="Arial"/>
                <a:ea typeface="Arial"/>
                <a:cs typeface="Arial"/>
              </a:rPr>
              <a:t>Limites à retenir</a:t>
            </a:r>
          </a:p>
        </p:txBody>
      </p:sp>
      <p:sp>
        <p:nvSpPr>
          <p:cNvPr id="14" name="limits-body">
            <a:extLst>
              <a:ext uri="{FF2B5EF4-FFF2-40B4-BE49-F238E27FC236}">
                <a16:creationId id="{572A527E-2D93-4A64-A25E-49DEB63C6819}"/>
              </a:ext>
            </a:extLst>
          </p:cNvPr>
          <p:cNvSpPr>
            <a:spLocks noGrp="1"/>
          </p:cNvSpPr>
          <p:nvPr/>
        </p:nvSpPr>
        <p:spPr>
          <a:xfrm>
            <a:off x="6762750" y="2952750"/>
            <a:ext cx="4572000" cy="242887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0">
                <a:solidFill>
                  <a:srgbClr val="10283F"/>
                </a:solidFill>
                <a:latin typeface="Arial"/>
                <a:ea typeface="Arial"/>
                <a:cs typeface="Arial"/>
              </a:rPr>
              <a:t>Importance prédictive ≠ causalité.</a:t>
            </a:r>
          </a:p>
          <a:p>
            <a:pPr algn="l">
              <a:defRPr sz="1725" b="0">
                <a:solidFill>
                  <a:srgbClr val="10283F"/>
                </a:solidFill>
                <a:latin typeface="Arial"/>
                <a:ea typeface="Arial"/>
                <a:cs typeface="Arial"/>
              </a:defRPr>
            </a:pPr>
            <a:r>
              <a:rPr sz="1725" b="0">
                <a:solidFill>
                  <a:srgbClr val="10283F"/>
                </a:solidFill>
                <a:latin typeface="Arial"/>
                <a:ea typeface="Arial"/>
                <a:cs typeface="Arial"/>
              </a:rPr>
              <a:t>Des variables corrélées partagent leur importance.</a:t>
            </a:r>
          </a:p>
          <a:p>
            <a:pPr algn="l">
              <a:defRPr sz="1725" b="0">
                <a:solidFill>
                  <a:srgbClr val="10283F"/>
                </a:solidFill>
                <a:latin typeface="Arial"/>
                <a:ea typeface="Arial"/>
                <a:cs typeface="Arial"/>
              </a:defRPr>
            </a:pPr>
            <a:r>
              <a:rPr sz="1725" b="0">
                <a:solidFill>
                  <a:srgbClr val="10283F"/>
                </a:solidFill>
                <a:latin typeface="Arial"/>
                <a:ea typeface="Arial"/>
                <a:cs typeface="Arial"/>
              </a:rPr>
              <a:t>La déclaration de gravité évolue.</a:t>
            </a:r>
          </a:p>
          <a:p>
            <a:pPr algn="l">
              <a:defRPr sz="1725" b="0">
                <a:solidFill>
                  <a:srgbClr val="10283F"/>
                </a:solidFill>
                <a:latin typeface="Arial"/>
                <a:ea typeface="Arial"/>
                <a:cs typeface="Arial"/>
              </a:defRPr>
            </a:pPr>
            <a:r>
              <a:rPr sz="1725" b="0">
                <a:solidFill>
                  <a:srgbClr val="10283F"/>
                </a:solidFill>
                <a:latin typeface="Arial"/>
                <a:ea typeface="Arial"/>
                <a:cs typeface="Arial"/>
              </a:rPr>
              <a:t>2025 avait été vu dans les premiers essais.</a:t>
            </a:r>
          </a:p>
          <a:p>
            <a:pPr algn="l">
              <a:defRPr sz="1725" b="0">
                <a:solidFill>
                  <a:srgbClr val="10283F"/>
                </a:solidFill>
                <a:latin typeface="Arial"/>
                <a:ea typeface="Arial"/>
                <a:cs typeface="Arial"/>
              </a:defRPr>
            </a:pPr>
            <a:r>
              <a:rPr sz="1725" b="0">
                <a:solidFill>
                  <a:srgbClr val="10283F"/>
                </a:solidFill>
                <a:latin typeface="Arial"/>
                <a:ea typeface="Arial"/>
                <a:cs typeface="Arial"/>
              </a:rPr>
              <a:t>Objectifs 2 et 3 encore à réaliser.</a:t>
            </a:r>
          </a:p>
        </p:txBody>
      </p:sp>
      <p:sp>
        <p:nvSpPr>
          <p:cNvPr id="15" name="importance-method">
            <a:extLst>
              <a:ext uri="{FF2B5EF4-FFF2-40B4-BE49-F238E27FC236}">
                <a16:creationId id="{572A527E-2D93-4A64-A25E-49DEB63C6819}"/>
              </a:ext>
            </a:extLst>
          </p:cNvPr>
          <p:cNvSpPr>
            <a:spLocks noGrp="1"/>
          </p:cNvSpPr>
          <p:nvPr/>
        </p:nvSpPr>
        <p:spPr>
          <a:xfrm>
            <a:off x="742950" y="5391150"/>
            <a:ext cx="5334000" cy="4191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275" b="0">
                <a:solidFill>
                  <a:srgbClr val="54697B"/>
                </a:solidFill>
                <a:latin typeface="Arial"/>
                <a:ea typeface="Arial"/>
                <a:cs typeface="Arial"/>
              </a:rPr>
              <a:t>Baisse absolue du F1 macro · validation 2024</a:t>
            </a:r>
          </a:p>
          <a:p>
            <a:pPr algn="l">
              <a:defRPr sz="1725" b="0">
                <a:solidFill>
                  <a:srgbClr val="10283F"/>
                </a:solidFill>
                <a:latin typeface="Arial"/>
                <a:ea typeface="Arial"/>
                <a:cs typeface="Arial"/>
              </a:defRPr>
            </a:pPr>
            <a:r>
              <a:rPr sz="1275" b="0">
                <a:solidFill>
                  <a:srgbClr val="54697B"/>
                </a:solidFill>
                <a:latin typeface="Arial"/>
                <a:ea typeface="Arial"/>
                <a:cs typeface="Arial"/>
              </a:rPr>
              <a:t>29 999 collisions · 5 répétitions.</a:t>
            </a:r>
          </a:p>
        </p:txBody>
      </p:sp>
      <p:sp>
        <p:nvSpPr>
          <p:cNvPr id="16" name="importance-warning">
            <a:extLst>
              <a:ext uri="{FF2B5EF4-FFF2-40B4-BE49-F238E27FC236}">
                <a16:creationId id="{572A527E-2D93-4A64-A25E-49DEB63C6819}"/>
              </a:ext>
            </a:extLst>
          </p:cNvPr>
          <p:cNvSpPr>
            <a:spLocks noGrp="1"/>
          </p:cNvSpPr>
          <p:nvPr/>
        </p:nvSpPr>
        <p:spPr>
          <a:xfrm>
            <a:off x="742950" y="5829300"/>
            <a:ext cx="10572750" cy="27622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575" b="1">
                <a:solidFill>
                  <a:srgbClr val="C75A55"/>
                </a:solidFill>
                <a:latin typeface="Arial"/>
                <a:ea typeface="Arial"/>
                <a:cs typeface="Arial"/>
              </a:rPr>
              <a:t>Le résultat reste faible pour la classe mortelle.</a:t>
            </a:r>
          </a:p>
        </p:txBody>
      </p:sp>
      <p:sp>
        <p:nvSpPr>
          <p:cNvPr id="17" name="importance-source">
            <a:extLst>
              <a:ext uri="{FF2B5EF4-FFF2-40B4-BE49-F238E27FC236}">
                <a16:creationId id="{572A527E-2D93-4A64-A25E-49DEB63C6819}"/>
              </a:ext>
            </a:extLst>
          </p:cNvPr>
          <p:cNvSpPr>
            <a:spLocks noGrp="1"/>
          </p:cNvSpPr>
          <p:nvPr/>
        </p:nvSpPr>
        <p:spPr>
          <a:xfrm>
            <a:off x="742950" y="6210300"/>
            <a:ext cx="9525000" cy="2095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050" b="0">
                <a:solidFill>
                  <a:srgbClr val="54697B"/>
                </a:solidFill>
                <a:latin typeface="Arial"/>
                <a:ea typeface="Arial"/>
                <a:cs typeface="Arial"/>
              </a:rPr>
              <a:t>Source : notebook 03 · Guide de gravité DfT · Importances arrondies.</a:t>
            </a:r>
          </a:p>
        </p:txBody>
      </p:sp>
    </p:spTree>
    <p:extLst>
      <p:ext uri="{BB962C8B-B14F-4D97-AF65-F5344CB8AC3E}">
        <p14:creationId val="7579595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17</ap:Slides>
  <ap:Notes>17</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2026-10-24T15:20:21.1260000Z</dcterms:created>
  <dcterms:modified xsi:type="dcterms:W3CDTF">2026-10-24T15:20:21.1260000Z</dcterms:modified>
</coreProperties>
</file>