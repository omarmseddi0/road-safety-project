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3f6c922df434730" /><Relationship Type="http://schemas.openxmlformats.org/officeDocument/2006/relationships/extended-properties" Target="/docProps/app.xml" Id="R3edc8d4810944723" /><Relationship Type="http://schemas.openxmlformats.org/officeDocument/2006/relationships/officeDocument" Target="/ppt/presentation.xml" Id="Rfbc5b0b5341c43de" /></Relationships>
</file>

<file path=ppt/presentation.xml><?xml version="1.0" encoding="utf-8"?>
<p:presentation xmlns:p="http://schemas.openxmlformats.org/presentationml/2006/main">
  <p:sldMasterIdLst>
    <p:sldMasterId xmlns:r="http://schemas.openxmlformats.org/officeDocument/2006/relationships" id="2147483648" r:id="R68c96c83ca9d42dd"/>
  </p:sldMasterIdLst>
  <p:notesMasterIdLst>
    <p:notesMasterId xmlns:r="http://schemas.openxmlformats.org/officeDocument/2006/relationships" r:id="Rd5c336bbe80a49b6"/>
  </p:notesMasterIdLst>
  <p:sldIdLst>
    <p:sldId xmlns:r="http://schemas.openxmlformats.org/officeDocument/2006/relationships" id="256" r:id="R950cb7bf7c1c4d09"/>
    <p:sldId xmlns:r="http://schemas.openxmlformats.org/officeDocument/2006/relationships" id="257" r:id="Rb76721824a2e449b"/>
    <p:sldId xmlns:r="http://schemas.openxmlformats.org/officeDocument/2006/relationships" id="258" r:id="R8fe685bf7d934b70"/>
    <p:sldId xmlns:r="http://schemas.openxmlformats.org/officeDocument/2006/relationships" id="259" r:id="R210bb645310344d5"/>
    <p:sldId xmlns:r="http://schemas.openxmlformats.org/officeDocument/2006/relationships" id="260" r:id="Rb1b34c5b0f684dea"/>
    <p:sldId xmlns:r="http://schemas.openxmlformats.org/officeDocument/2006/relationships" id="261" r:id="R9b041353e88242af"/>
    <p:sldId xmlns:r="http://schemas.openxmlformats.org/officeDocument/2006/relationships" id="262" r:id="R784a7ab07b8448a6"/>
    <p:sldId xmlns:r="http://schemas.openxmlformats.org/officeDocument/2006/relationships" id="263" r:id="Rbc63253486484326"/>
    <p:sldId xmlns:r="http://schemas.openxmlformats.org/officeDocument/2006/relationships" id="264" r:id="R8efcca21bbbb4c98"/>
    <p:sldId xmlns:r="http://schemas.openxmlformats.org/officeDocument/2006/relationships" id="265" r:id="Re6e4bd4ac0a54a65"/>
    <p:sldId xmlns:r="http://schemas.openxmlformats.org/officeDocument/2006/relationships" id="266" r:id="Ra3387fc050634b9d"/>
    <p:sldId xmlns:r="http://schemas.openxmlformats.org/officeDocument/2006/relationships" id="267" r:id="Rbc6cbd04b3b0499e"/>
    <p:sldId xmlns:r="http://schemas.openxmlformats.org/officeDocument/2006/relationships" id="268" r:id="Rce3b29d8207d45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8038fbb52e435b" /><Relationship Type="http://schemas.openxmlformats.org/officeDocument/2006/relationships/slideMaster" Target="/ppt/slideMasters/slideMaster1.xml" Id="R68c96c83ca9d42dd" /><Relationship Type="http://schemas.openxmlformats.org/officeDocument/2006/relationships/notesMaster" Target="/ppt/notesMasters/notesMaster1.xml" Id="Rd5c336bbe80a49b6" /><Relationship Type="http://schemas.openxmlformats.org/officeDocument/2006/relationships/presProps" Target="/ppt/presProps.xml" Id="R5c23535ede754235" /><Relationship Type="http://schemas.openxmlformats.org/officeDocument/2006/relationships/tableStyles" Target="/ppt/tableStyles.xml" Id="Re7f2ace4a7094ea3" /><Relationship Type="http://schemas.openxmlformats.org/officeDocument/2006/relationships/slide" Target="/ppt/slides/slide1.xml" Id="R950cb7bf7c1c4d09" /><Relationship Type="http://schemas.openxmlformats.org/officeDocument/2006/relationships/slide" Target="/ppt/slides/slide2.xml" Id="Rb76721824a2e449b" /><Relationship Type="http://schemas.openxmlformats.org/officeDocument/2006/relationships/slide" Target="/ppt/slides/slide3.xml" Id="R8fe685bf7d934b70" /><Relationship Type="http://schemas.openxmlformats.org/officeDocument/2006/relationships/slide" Target="/ppt/slides/slide4.xml" Id="R210bb645310344d5" /><Relationship Type="http://schemas.openxmlformats.org/officeDocument/2006/relationships/slide" Target="/ppt/slides/slide5.xml" Id="Rb1b34c5b0f684dea" /><Relationship Type="http://schemas.openxmlformats.org/officeDocument/2006/relationships/slide" Target="/ppt/slides/slide6.xml" Id="R9b041353e88242af" /><Relationship Type="http://schemas.openxmlformats.org/officeDocument/2006/relationships/slide" Target="/ppt/slides/slide7.xml" Id="R784a7ab07b8448a6" /><Relationship Type="http://schemas.openxmlformats.org/officeDocument/2006/relationships/slide" Target="/ppt/slides/slide8.xml" Id="Rbc63253486484326" /><Relationship Type="http://schemas.openxmlformats.org/officeDocument/2006/relationships/slide" Target="/ppt/slides/slide9.xml" Id="R8efcca21bbbb4c98" /><Relationship Type="http://schemas.openxmlformats.org/officeDocument/2006/relationships/slide" Target="/ppt/slides/slide10.xml" Id="Re6e4bd4ac0a54a65" /><Relationship Type="http://schemas.openxmlformats.org/officeDocument/2006/relationships/slide" Target="/ppt/slides/slide11.xml" Id="Ra3387fc050634b9d" /><Relationship Type="http://schemas.openxmlformats.org/officeDocument/2006/relationships/slide" Target="/ppt/slides/slide12.xml" Id="Rbc6cbd04b3b0499e" /><Relationship Type="http://schemas.openxmlformats.org/officeDocument/2006/relationships/slide" Target="/ppt/slides/slide13.xml" Id="Rce3b29d8207d45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5abf9f847840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2670ce69c64591" /><Relationship Type="http://schemas.openxmlformats.org/officeDocument/2006/relationships/notesMaster" Target="/ppt/notesMasters/notesMaster1.xml" Id="R9a70bad2a6ad4a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9020bc5c5d41a9" /><Relationship Type="http://schemas.openxmlformats.org/officeDocument/2006/relationships/notesMaster" Target="/ppt/notesMasters/notesMaster1.xml" Id="R51e1344d08d64c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cca862d00e43e2" /><Relationship Type="http://schemas.openxmlformats.org/officeDocument/2006/relationships/notesMaster" Target="/ppt/notesMasters/notesMaster1.xml" Id="R1c0df6025d1c4f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21b6dc47704f99" /><Relationship Type="http://schemas.openxmlformats.org/officeDocument/2006/relationships/notesMaster" Target="/ppt/notesMasters/notesMaster1.xml" Id="Rb8a685a4d61f4a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a4b926b8bb4fd0" /><Relationship Type="http://schemas.openxmlformats.org/officeDocument/2006/relationships/notesMaster" Target="/ppt/notesMasters/notesMaster1.xml" Id="R6eb0e8b36a3e4c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8baa2e21374874" /><Relationship Type="http://schemas.openxmlformats.org/officeDocument/2006/relationships/notesMaster" Target="/ppt/notesMasters/notesMaster1.xml" Id="Rbfd9832d31d04c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e079f4412a4791" /><Relationship Type="http://schemas.openxmlformats.org/officeDocument/2006/relationships/notesMaster" Target="/ppt/notesMasters/notesMaster1.xml" Id="R3ad2044d47b94e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f6a87ee112471a" /><Relationship Type="http://schemas.openxmlformats.org/officeDocument/2006/relationships/notesMaster" Target="/ppt/notesMasters/notesMaster1.xml" Id="R96d116ad7e0c40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f80b2f6ee348a2" /><Relationship Type="http://schemas.openxmlformats.org/officeDocument/2006/relationships/notesMaster" Target="/ppt/notesMasters/notesMaster1.xml" Id="Ra43a6db9647146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9cd368d15e42bf" /><Relationship Type="http://schemas.openxmlformats.org/officeDocument/2006/relationships/notesMaster" Target="/ppt/notesMasters/notesMaster1.xml" Id="R1b167a3c50fc4f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ae48f96fcd4889" /><Relationship Type="http://schemas.openxmlformats.org/officeDocument/2006/relationships/notesMaster" Target="/ppt/notesMasters/notesMaster1.xml" Id="Rcea8e7a7d1704f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6d9de970f94efd" /><Relationship Type="http://schemas.openxmlformats.org/officeDocument/2006/relationships/notesMaster" Target="/ppt/notesMasters/notesMaster1.xml" Id="R00901ce0aae24e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defa9c7d464975" /><Relationship Type="http://schemas.openxmlformats.org/officeDocument/2006/relationships/notesMaster" Target="/ppt/notesMasters/notesMaster1.xml" Id="R8ae8328baf5642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Présentation du projet Road Safety. L’image de couverture est une illustration générée pour le projet et ne représente pas un lieu ni un événement réel. Source des données : https://www.gov.uk/government/statistical-data-sets/road-safety-open-data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DfT indique que les fichiers contiennent les collisions corporelles sur les voies publiques qui sont signalées à la police et enregistrées avec STATS19. Ils comprennent les collisions, les véhicules et les victimes. Source : https://www.gov.uk/government/statistical-data-sets/road-safety-open-data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finalité métier est descriptive et exploratoire : les autorités peuvent utiliser ces résultats pour prioriser des analyses locales, mais il faut des dénominateurs d’exposition pour parler de taux de risque.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Objectif 1 réalisé : classifier la gravité enregistrée d’une collision corporelle déclarée (légère, grave ou mortelle), selon le contexte et les véhicules impliqués. Il s’agit du travail de classification réalisé dans le notebook 03, avec ses limites de performance. Objectif 2 prévu : classifier la gravité individuelle d’une victime (légère ou grave/mortelle). Objectif 3 prévu : estimer le nombre de victimes par collision. Les objectifs 2 et 3 ne sont pas encore réalisés.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et périmètre : https://www.gov.uk/government/statistical-data-sets/road-safety-open-data . La source DfT indique que 2025 est la dernière année complète finalisée et que les données portent sur des collisions corporelles sur voies publiques signalées à la police. Les limites de couverture sont aussi décrites dans https://www.gov.uk/government/publications/road-accidents-and-safety-statistics-notes-and-definitions/road-casualty-statistics-overview-and-coverage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Modèle relationnel observé dans les fichiers téléchargés : collision_index est partagé par les trois tables; vehicle_reference est présent dans les tables véhicules et victimes; casualty_reference identifie la victime dans l’extrait.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nombres de lignes et de champs ont été calculés sur les CSV téléchargés. Leurs tailles exactes sur disque totalisent 255 096 726 octets, soit environ 255 Mo décimaux. La page DfT donne des tailles arrondies de 97,7 Mo, 103,7 Mo et 52,4 Mo pour les trois fichiers, autour de 254 Mo au total.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Contrôles recalculés sur les fichiers locaux : la table collision ne contient aucune clé collision_index manquante ou dupliquée; aucune ligne des tables véhicules et victimes ne pointe vers une collision inconnue; le champ number_of_casualties correspond au nombre de lignes victimes pour chaque collision. Ces contrôles ne garantissent pas la justesse des déclarations.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Comptes calculés depuis les lignes du fichier collisions par collision_year. Série : 2021 101 087; 2022 106 004; 2023 104 258; 2024 100 927; 2025 101 525. Le changement entre 2021 et 2025 est d’environ +0,43 %. Cette comparaison décrit des collisions enregistrées et ne mesure pas le risque sans dénominateur d’exposition.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graphique présente la somme annuelle des colonnes collision_adjusted_severity_serious et collision_adjusted_severity_slight du CSV. Sommes arrondies : graves 22 658, 24 627, 24 644, 24 693, 25 743; légères 76 955, 79 775, 78 092, 74 732, 74 329. Le DfT explique que le passage de certaines forces à des systèmes fondés sur les blessures a affecté les comptes de blessures graves et légères et fournit des ajustements. Sources : https://www.gov.uk/government/publications/guide-to-severity-adjustments-for-reported-road-casualty-statistics et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Comptes calculés sur les 513 801 collisions. L’heure 17 est la plus fréquente avec 44 792 enregistrements, soit 8,7 %. Les limites de vitesse enregistrées à 30 mph regroupent 267 325 lignes, soit 52,0 %. Ces parts de volume ne sont pas des taux de risque et ne tiennent pas compte du trafic, de la longueur de route ni du nombre de déplacements. Source des fichiers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statistiques de collisions corporelles rapportées à la police peuvent être affectées par la sous-déclaration, notamment pour les blessures non mortelles. Les volumes ne sont pas des taux de risque sans données d’exposition. Source de couverture et qualité : https://www.gov.uk/government/publications/road-accidents-and-safety-statistics-notes-and-definitions/road-casualty-statistics-overview-and-coverage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Équipe : Oussema Sahbeni, Aziz Zina, Mahdi Zaied, Omar Mseddi et Youssef Takeli. Le dépôt GitHub est public ; les membres doivent être ajoutés comme collaborateurs avec accès Write pour pousser leurs contributions. Le projet contient les notebooks de compréhension, préparation et modélisation.</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0d8b57458f4e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2357f9a3af47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ed1e889e0948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64599cadad47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e9721a8f8845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c55b26affe4f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D5B614-6ABE-4F4A-9606-F53F5F168F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6AE404-DC1E-4837-B6D5-D31E98E299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8AEE90C-5FBB-4C11-9080-57F8F9AF01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F9999B-A92B-4786-9936-8D48850313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705D7A-34D2-4253-88E9-ED011228DF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481ED4-485C-4037-B5ED-36E5EE2AA4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0CF295-3720-49F7-A6AD-F66570EFBD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36B38E-848F-481F-88EB-7A708C7283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3840AC-5CF9-407A-9F4D-BFFF6DA916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7E7A33-4420-44D4-9ADA-00C3F47FCD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b20c8b7b2e45d8" /><Relationship Type="http://schemas.openxmlformats.org/officeDocument/2006/relationships/slideLayout" Target="/ppt/slideLayouts/slideLayout1.xml" Id="R117292370250420a" /><Relationship Type="http://schemas.openxmlformats.org/officeDocument/2006/relationships/slideLayout" Target="/ppt/slideLayouts/slideLayout2.xml" Id="Re141435c697c4325" /><Relationship Type="http://schemas.openxmlformats.org/officeDocument/2006/relationships/slideLayout" Target="/ppt/slideLayouts/slideLayout3.xml" Id="R42b1fdce4bc54628" /><Relationship Type="http://schemas.openxmlformats.org/officeDocument/2006/relationships/slideLayout" Target="/ppt/slideLayouts/slideLayout4.xml" Id="Rff43b07949fd4232" /><Relationship Type="http://schemas.openxmlformats.org/officeDocument/2006/relationships/slideLayout" Target="/ppt/slideLayouts/slideLayout5.xml" Id="Rdb7a19e77a7947fc" /><Relationship Type="http://schemas.openxmlformats.org/officeDocument/2006/relationships/slideLayout" Target="/ppt/slideLayouts/slideLayout6.xml" Id="R9bb07ac569214c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7292370250420a"/>
    <p:sldLayoutId xmlns:r="http://schemas.openxmlformats.org/officeDocument/2006/relationships" id="2147483650" r:id="Re141435c697c4325"/>
    <p:sldLayoutId xmlns:r="http://schemas.openxmlformats.org/officeDocument/2006/relationships" id="2147483651" r:id="R42b1fdce4bc54628"/>
    <p:sldLayoutId xmlns:r="http://schemas.openxmlformats.org/officeDocument/2006/relationships" id="2147483652" r:id="Rff43b07949fd4232"/>
    <p:sldLayoutId xmlns:r="http://schemas.openxmlformats.org/officeDocument/2006/relationships" id="2147483653" r:id="Rdb7a19e77a7947fc"/>
    <p:sldLayoutId xmlns:r="http://schemas.openxmlformats.org/officeDocument/2006/relationships" id="2147483654" r:id="R9bb07ac569214c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4a8cba3aca4817" /><Relationship Type="http://schemas.openxmlformats.org/officeDocument/2006/relationships/image" Target="/ppt/media/image.png" Id="R2da7ce8adf3f4549" /><Relationship Type="http://schemas.openxmlformats.org/officeDocument/2006/relationships/notesSlide" Target="/ppt/notesSlides/notesSlide1.xml" Id="R674563349f9f43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f826360f9542c0" /><Relationship Type="http://schemas.openxmlformats.org/officeDocument/2006/relationships/notesSlide" Target="/ppt/notesSlides/notesSlide2.xml" Id="R8e26d28445e84b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f5b1a0ab0145d5" /><Relationship Type="http://schemas.openxmlformats.org/officeDocument/2006/relationships/notesSlide" Target="/ppt/notesSlides/notesSlide3.xml" Id="Rcd494a9d9eb147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dcb948ca404983" /><Relationship Type="http://schemas.openxmlformats.org/officeDocument/2006/relationships/notesSlide" Target="/ppt/notesSlides/notesSlide4.xml" Id="R66b60697d88f4e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d0d8e69391484a" /><Relationship Type="http://schemas.openxmlformats.org/officeDocument/2006/relationships/notesSlide" Target="/ppt/notesSlides/notesSlide5.xml" Id="Rf591eaefc5f740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8fa59d34444314" /><Relationship Type="http://schemas.openxmlformats.org/officeDocument/2006/relationships/notesSlide" Target="/ppt/notesSlides/notesSlide6.xml" Id="R96bcf623ad534e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0130b94ae54ffb" /><Relationship Type="http://schemas.openxmlformats.org/officeDocument/2006/relationships/notesSlide" Target="/ppt/notesSlides/notesSlide7.xml" Id="Re345837442c44a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e1ac57f39f40d1" /><Relationship Type="http://schemas.openxmlformats.org/officeDocument/2006/relationships/notesSlide" Target="/ppt/notesSlides/notesSlide8.xml" Id="R7e50e10dacb243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49b9c5f803d4e26" /><Relationship Type="http://schemas.openxmlformats.org/officeDocument/2006/relationships/chart" Target="/ppt/slides/charts/chart1.xml" Id="Rf937b87ea5174533" /><Relationship Type="http://schemas.openxmlformats.org/officeDocument/2006/relationships/notesSlide" Target="/ppt/notesSlides/notesSlide9.xml" Id="Rea0eab3d6efd44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8ec39dfada049e6" /><Relationship Type="http://schemas.openxmlformats.org/officeDocument/2006/relationships/chart" Target="/ppt/slides/charts/chart2.xml" Id="R0a667882aeb1437b" /><Relationship Type="http://schemas.openxmlformats.org/officeDocument/2006/relationships/notesSlide" Target="/ppt/notesSlides/notesSlide10.xml" Id="R56e9eb9b94d541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29a94bb376e416c" /><Relationship Type="http://schemas.openxmlformats.org/officeDocument/2006/relationships/chart" Target="/ppt/slides/charts/chart3.xml" Id="Rcfe4c18f0d2f42a6" /><Relationship Type="http://schemas.openxmlformats.org/officeDocument/2006/relationships/notesSlide" Target="/ppt/notesSlides/notesSlide11.xml" Id="Rae0e6647f8b045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0da5302784b4f92" /><Relationship Type="http://schemas.openxmlformats.org/officeDocument/2006/relationships/notesSlide" Target="/ppt/notesSlides/notesSlide12.xml" Id="R1487ab96e2754de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d809c5cee964b21" /><Relationship Type="http://schemas.openxmlformats.org/officeDocument/2006/relationships/notesSlide" Target="/ppt/notesSlides/notesSlide13.xml" Id="R24317afe3ac7490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Collisions</c:v>
          </c:tx>
          <c:spPr>
            <a:solidFill xmlns:a="http://schemas.openxmlformats.org/drawingml/2006/main">
              <a:srgbClr val="176B87"/>
            </a:solidFill>
          </c:spPr>
          <c:invertIfNegative val="0"/>
          <c:cat>
            <c:numRef>
              <c:f>'Chart Data'!$A$2:$A$6</c:f>
              <c:numCache>
                <c:formatCode>General</c:formatCode>
                <c:ptCount val="5"/>
                <c:pt idx="0">
                  <c:v>2021</c:v>
                </c:pt>
                <c:pt idx="1">
                  <c:v>2022</c:v>
                </c:pt>
                <c:pt idx="2">
                  <c:v>2023</c:v>
                </c:pt>
                <c:pt idx="3">
                  <c:v>2024</c:v>
                </c:pt>
                <c:pt idx="4">
                  <c:v>2025</c:v>
                </c:pt>
              </c:numCache>
            </c:numRef>
          </c:cat>
          <c:val>
            <c:numRef>
              <c:f>'Chart Data'!$B$2:$B$6</c:f>
              <c:numCache>
                <c:formatCode>#,##0</c:formatCode>
                <c:ptCount val="5"/>
                <c:pt idx="0">
                  <c:v>101087</c:v>
                </c:pt>
                <c:pt idx="1">
                  <c:v>106004</c:v>
                </c:pt>
                <c:pt idx="2">
                  <c:v>104258</c:v>
                </c:pt>
                <c:pt idx="3">
                  <c:v>100927</c:v>
                </c:pt>
                <c:pt idx="4">
                  <c:v>101525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50" b="1">
                  <a:solidFill>
                    <a:srgbClr val="10283F"/>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E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4697B"/>
                </a:solidFill>
                <a:latin typeface="Arial"/>
                <a:ea typeface="Arial"/>
                <a:cs typeface="Arial"/>
              </a:defRPr>
            </a:pPr>
          </a:p>
        </c:txPr>
        <c:crossAx val="48672768"/>
      </c:catAx>
      <c:valAx>
        <c:axId val="48672768"/>
        <c:scaling>
          <c:orientation val="minMax"/>
          <c:max val="120000"/>
          <c:min val="0"/>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54697B"/>
                </a:solidFill>
                <a:latin typeface="Arial"/>
                <a:ea typeface="Arial"/>
                <a:cs typeface="Arial"/>
              </a:defRPr>
            </a:pPr>
          </a:p>
        </c:txPr>
        <c:crossAx val="48650112"/>
        <c:crossBetween val="between"/>
        <c:majorUnit val="20000"/>
      </c:valAx>
      <c:spPr>
        <a:solidFill xmlns:a="http://schemas.openxmlformats.org/drawingml/2006/main">
          <a:srgbClr val="F4F7F9"/>
        </a:solidFill>
        <a:ln xmlns:a="http://schemas.openxmlformats.org/drawingml/2006/main" w="0">
          <a:noFill/>
          <a:prstDash val="solid"/>
        </a:ln>
      </c:spPr>
    </c:plotArea>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Graves ajustées</c:v>
          </c:tx>
          <c:spPr>
            <a:ln xmlns:a="http://schemas.openxmlformats.org/drawingml/2006/main" w="38100">
              <a:solidFill>
                <a:srgbClr val="176B87"/>
              </a:solidFill>
              <a:prstDash val="solid"/>
            </a:ln>
          </c:spPr>
          <c:marker>
            <c:symbol val="circle"/>
            <c:size val="8"/>
            <c:spPr>
              <a:solidFill xmlns:a="http://schemas.openxmlformats.org/drawingml/2006/main">
                <a:srgbClr val="176B87"/>
              </a:solidFill>
            </c:spPr>
          </c:marker>
          <c:cat>
            <c:numRef>
              <c:f>'Chart Data'!$A$2:$A$6</c:f>
              <c:numCache>
                <c:formatCode>General</c:formatCode>
                <c:ptCount val="5"/>
                <c:pt idx="0">
                  <c:v>2021</c:v>
                </c:pt>
                <c:pt idx="1">
                  <c:v>2022</c:v>
                </c:pt>
                <c:pt idx="2">
                  <c:v>2023</c:v>
                </c:pt>
                <c:pt idx="3">
                  <c:v>2024</c:v>
                </c:pt>
                <c:pt idx="4">
                  <c:v>2025</c:v>
                </c:pt>
              </c:numCache>
            </c:numRef>
          </c:cat>
          <c:val>
            <c:numRef>
              <c:f>'Chart Data'!$B$2:$B$6</c:f>
              <c:numCache>
                <c:formatCode>#,##0</c:formatCode>
                <c:ptCount val="5"/>
                <c:pt idx="0">
                  <c:v>22658</c:v>
                </c:pt>
                <c:pt idx="1">
                  <c:v>24627</c:v>
                </c:pt>
                <c:pt idx="2">
                  <c:v>24644</c:v>
                </c:pt>
                <c:pt idx="3">
                  <c:v>24693</c:v>
                </c:pt>
                <c:pt idx="4">
                  <c:v>25743</c:v>
                </c:pt>
              </c:numCache>
            </c:numRef>
          </c:val>
          <c:smooth val="0"/>
        </c:ser>
        <c:ser>
          <c:idx val="1"/>
          <c:order val="1"/>
          <c:tx>
            <c:v>Légères ajustées</c:v>
          </c:tx>
          <c:spPr>
            <a:ln xmlns:a="http://schemas.openxmlformats.org/drawingml/2006/main" w="38100">
              <a:solidFill>
                <a:srgbClr val="E2A33B"/>
              </a:solidFill>
              <a:prstDash val="solid"/>
            </a:ln>
          </c:spPr>
          <c:marker>
            <c:symbol val="circle"/>
            <c:size val="8"/>
            <c:spPr>
              <a:solidFill xmlns:a="http://schemas.openxmlformats.org/drawingml/2006/main">
                <a:srgbClr val="E2A33B"/>
              </a:solidFill>
            </c:spPr>
          </c:marker>
          <c:cat>
            <c:numRef>
              <c:f>'Chart Data'!$C$2:$C$6</c:f>
              <c:numCache>
                <c:formatCode>General</c:formatCode>
                <c:ptCount val="5"/>
                <c:pt idx="0">
                  <c:v>2021</c:v>
                </c:pt>
                <c:pt idx="1">
                  <c:v>2022</c:v>
                </c:pt>
                <c:pt idx="2">
                  <c:v>2023</c:v>
                </c:pt>
                <c:pt idx="3">
                  <c:v>2024</c:v>
                </c:pt>
                <c:pt idx="4">
                  <c:v>2025</c:v>
                </c:pt>
              </c:numCache>
            </c:numRef>
          </c:cat>
          <c:val>
            <c:numRef>
              <c:f>'Chart Data'!$D$2:$D$6</c:f>
              <c:numCache>
                <c:formatCode>#,##0</c:formatCode>
                <c:ptCount val="5"/>
                <c:pt idx="0">
                  <c:v>76955</c:v>
                </c:pt>
                <c:pt idx="1">
                  <c:v>79775</c:v>
                </c:pt>
                <c:pt idx="2">
                  <c:v>78092</c:v>
                </c:pt>
                <c:pt idx="3">
                  <c:v>74732</c:v>
                </c:pt>
                <c:pt idx="4">
                  <c:v>74329</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5DEE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4697B"/>
                </a:solidFill>
                <a:latin typeface="Arial"/>
                <a:ea typeface="Arial"/>
                <a:cs typeface="Arial"/>
              </a:defRPr>
            </a:pPr>
          </a:p>
        </c:txPr>
        <c:crossAx val="48672768"/>
      </c:catAx>
      <c:valAx>
        <c:axId val="48672768"/>
        <c:scaling>
          <c:orientation val="minMax"/>
          <c:max val="90000"/>
          <c:min val="0"/>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54697B"/>
                </a:solidFill>
                <a:latin typeface="Arial"/>
                <a:ea typeface="Arial"/>
                <a:cs typeface="Arial"/>
              </a:defRPr>
            </a:pPr>
          </a:p>
        </c:txPr>
        <c:crossAx val="48650112"/>
        <c:crossBetween val="between"/>
        <c:majorUnit val="15000"/>
      </c:valAx>
      <c:spPr>
        <a:solidFill xmlns:a="http://schemas.openxmlformats.org/drawingml/2006/main">
          <a:srgbClr val="F4F7F9"/>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4697B"/>
              </a:solidFill>
              <a:latin typeface="Arial"/>
              <a:ea typeface="Arial"/>
              <a:cs typeface="Arial"/>
            </a:defRPr>
          </a:pPr>
        </a:p>
      </c:txPr>
    </c:legend>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Collisions</c:v>
          </c:tx>
          <c:spPr>
            <a:solidFill xmlns:a="http://schemas.openxmlformats.org/drawingml/2006/main">
              <a:srgbClr val="3A8997"/>
            </a:solidFill>
          </c:spPr>
          <c:invertIfNegative val="0"/>
          <c:cat>
            <c:strRef>
              <c:f>'Chart Data'!$A$2:$A$6</c:f>
              <c:strCache>
                <c:ptCount val="5"/>
                <c:pt idx="0">
                  <c:v>18 h</c:v>
                </c:pt>
                <c:pt idx="1">
                  <c:v>17 h</c:v>
                </c:pt>
                <c:pt idx="2">
                  <c:v>16 h</c:v>
                </c:pt>
                <c:pt idx="3">
                  <c:v>15 h</c:v>
                </c:pt>
                <c:pt idx="4">
                  <c:v>14 h</c:v>
                </c:pt>
              </c:strCache>
            </c:strRef>
          </c:cat>
          <c:val>
            <c:numRef>
              <c:f>'Chart Data'!$B$2:$B$6</c:f>
              <c:numCache>
                <c:formatCode>General</c:formatCode>
                <c:ptCount val="5"/>
                <c:pt idx="0">
                  <c:v>35936</c:v>
                </c:pt>
                <c:pt idx="1">
                  <c:v>44792</c:v>
                </c:pt>
                <c:pt idx="2">
                  <c:v>42895</c:v>
                </c:pt>
                <c:pt idx="3">
                  <c:v>42210</c:v>
                </c:pt>
                <c:pt idx="4">
                  <c:v>32953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50" b="1">
                  <a:solidFill>
                    <a:srgbClr val="10283F"/>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54697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4697B"/>
                </a:solidFill>
                <a:latin typeface="Arial"/>
                <a:ea typeface="Arial"/>
                <a:cs typeface="Arial"/>
              </a:defRPr>
            </a:pPr>
          </a:p>
        </c:txPr>
        <c:crossAx val="48650112"/>
        <c:crossBetween val="between"/>
      </c:valAx>
      <c:spPr>
        <a:solidFill xmlns:a="http://schemas.openxmlformats.org/drawingml/2006/main">
          <a:srgbClr val="F4F7F9"/>
        </a:solidFill>
        <a:ln xmlns:a="http://schemas.openxmlformats.org/drawingml/2006/main" w="0">
          <a:noFill/>
          <a:prstDash val="solid"/>
        </a:ln>
      </c:spPr>
    </c:plotArea>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slide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0B1D30"/>
        </a:solidFill>
      </p:bgPr>
    </p:bg>
    <p:spTree>
      <p:nvGrpSpPr>
        <p:cNvPr id="1" name=""/>
        <p:cNvGrpSpPr/>
        <p:nvPr/>
      </p:nvGrpSpPr>
      <p:grpSpPr>
        <a:xfrm/>
      </p:grpSpPr>
      <p:pic>
        <p:nvPicPr>
          <p:cNvPr id="7" name="">
            <a:extLst>
              <a:ext uri="{FF2B5EF4-FFF2-40B4-BE49-F238E27FC236}">
                <a16:creationId id="{8004EFDA-288F-4DD4-BFC5-54CB2E34B47F}"/>
              </a:ext>
            </a:extLst>
          </p:cNvPr>
          <p:cNvPicPr>
            <a:picLocks noChangeAspect="1"/>
          </p:cNvPicPr>
          <p:nvPr/>
        </p:nvPicPr>
        <p:blipFill>
          <a:blip r:embed="R2da7ce8adf3f4549"/>
          <a:srcRect l="0" t="27" r="0" b="27"/>
          <a:stretch>
            <a:fillRect l="0" t="0" r="0" b="0"/>
          </a:stretch>
        </p:blipFill>
        <p:spPr>
          <a:xfrm>
            <a:off x="0" y="0"/>
            <a:ext cx="12192000" cy="6858000"/>
          </a:xfrm>
          <a:prstGeom prst="rect">
            <a:avLst/>
          </a:prstGeom>
        </p:spPr>
      </p:pic>
      <p:sp>
        <p:nvSpPr>
          <p:cNvPr id="2" name="cover-left-shade">
            <a:extLst>
              <a:ext uri="{FF2B5EF4-FFF2-40B4-BE49-F238E27FC236}">
                <a16:creationId id="{AEE9D2DF-76E4-4969-ADF6-2AAFF8437020}"/>
              </a:ext>
            </a:extLst>
          </p:cNvPr>
          <p:cNvSpPr>
            <a:spLocks noGrp="1"/>
          </p:cNvSpPr>
          <p:nvPr/>
        </p:nvSpPr>
        <p:spPr>
          <a:xfrm>
            <a:off x="0" y="0"/>
            <a:ext cx="7524750" cy="6858000"/>
          </a:xfrm>
          <a:prstGeom prst="rect">
            <a:avLst/>
          </a:prstGeom>
          <a:solidFill>
            <a:srgbClr val="071522">
              <a:alpha val="42000"/>
            </a:srgbClr>
          </a:solidFill>
          <a:ln w="0">
            <a:noFill/>
            <a:prstDash val="solid"/>
          </a:ln>
        </p:spPr>
      </p:sp>
      <p:sp>
        <p:nvSpPr>
          <p:cNvPr id="3" name="cover-top-rule">
            <a:extLst>
              <a:ext uri="{FF2B5EF4-FFF2-40B4-BE49-F238E27FC236}">
                <a16:creationId id="{B9037284-02BB-4A1F-974C-5CB5D53F7326}"/>
              </a:ext>
            </a:extLst>
          </p:cNvPr>
          <p:cNvSpPr>
            <a:spLocks noGrp="1"/>
          </p:cNvSpPr>
          <p:nvPr/>
        </p:nvSpPr>
        <p:spPr>
          <a:xfrm>
            <a:off x="742950" y="914400"/>
            <a:ext cx="742950" cy="57150"/>
          </a:xfrm>
          <a:prstGeom prst="rect">
            <a:avLst/>
          </a:prstGeom>
          <a:solidFill>
            <a:srgbClr val="E2A33B"/>
          </a:solidFill>
          <a:ln w="0">
            <a:noFill/>
            <a:prstDash val="solid"/>
          </a:ln>
        </p:spPr>
      </p:sp>
      <p:sp>
        <p:nvSpPr>
          <p:cNvPr id="4" name="cover-title">
            <a:extLst>
              <a:ext uri="{FF2B5EF4-FFF2-40B4-BE49-F238E27FC236}">
                <a16:creationId id="{04AB6406-6F2A-4B4E-AAC8-E37F06E6FF3E}"/>
              </a:ext>
            </a:extLst>
          </p:cNvPr>
          <p:cNvSpPr>
            <a:spLocks noGrp="1"/>
          </p:cNvSpPr>
          <p:nvPr/>
        </p:nvSpPr>
        <p:spPr>
          <a:xfrm>
            <a:off x="742950" y="1381125"/>
            <a:ext cx="5334000" cy="1714500"/>
          </a:xfrm>
          <a:prstGeom prst="rect">
            <a:avLst/>
          </a:prstGeom>
          <a:noFill/>
          <a:ln w="0">
            <a:noFill/>
            <a:prstDash val="solid"/>
          </a:ln>
        </p:spPr>
        <p:txBody>
          <a:bodyPr wrap="square" lIns="0" tIns="0" rIns="0" bIns="0" anchor="t"/>
          <a:lstStyle>
            <a:defPPr algn="l">
              <a:defRPr sz="5550" b="1">
                <a:solidFill>
                  <a:srgbClr val="FFFFFF"/>
                </a:solidFill>
                <a:latin typeface="Arial"/>
                <a:ea typeface="Arial"/>
                <a:cs typeface="Arial"/>
              </a:defRPr>
            </a:defPPr>
            <a:lvl1pPr algn="l">
              <a:defRPr sz="5550" b="1">
                <a:solidFill>
                  <a:srgbClr val="FFFFFF"/>
                </a:solidFill>
                <a:latin typeface="Arial"/>
                <a:ea typeface="Arial"/>
                <a:cs typeface="Arial"/>
              </a:defRPr>
            </a:lvl1pPr>
            <a:lvl2pPr algn="l">
              <a:defRPr sz="5550" b="1">
                <a:solidFill>
                  <a:srgbClr val="FFFFFF"/>
                </a:solidFill>
                <a:latin typeface="Arial"/>
                <a:ea typeface="Arial"/>
                <a:cs typeface="Arial"/>
              </a:defRPr>
            </a:lvl2pPr>
            <a:lvl3pPr algn="l">
              <a:defRPr sz="5550" b="1">
                <a:solidFill>
                  <a:srgbClr val="FFFFFF"/>
                </a:solidFill>
                <a:latin typeface="Arial"/>
                <a:ea typeface="Arial"/>
                <a:cs typeface="Arial"/>
              </a:defRPr>
            </a:lvl3pPr>
            <a:lvl4pPr algn="l">
              <a:defRPr sz="5550" b="1">
                <a:solidFill>
                  <a:srgbClr val="FFFFFF"/>
                </a:solidFill>
                <a:latin typeface="Arial"/>
                <a:ea typeface="Arial"/>
                <a:cs typeface="Arial"/>
              </a:defRPr>
            </a:lvl4pPr>
            <a:lvl5pPr algn="l">
              <a:defRPr sz="5550" b="1">
                <a:solidFill>
                  <a:srgbClr val="FFFFFF"/>
                </a:solidFill>
                <a:latin typeface="Arial"/>
                <a:ea typeface="Arial"/>
                <a:cs typeface="Arial"/>
              </a:defRPr>
            </a:lvl5pPr>
            <a:lvl6pPr algn="l">
              <a:defRPr sz="5550" b="1">
                <a:solidFill>
                  <a:srgbClr val="FFFFFF"/>
                </a:solidFill>
                <a:latin typeface="Arial"/>
                <a:ea typeface="Arial"/>
                <a:cs typeface="Arial"/>
              </a:defRPr>
            </a:lvl6pPr>
            <a:lvl7pPr algn="l">
              <a:defRPr sz="5550" b="1">
                <a:solidFill>
                  <a:srgbClr val="FFFFFF"/>
                </a:solidFill>
                <a:latin typeface="Arial"/>
                <a:ea typeface="Arial"/>
                <a:cs typeface="Arial"/>
              </a:defRPr>
            </a:lvl7pPr>
            <a:lvl8pPr algn="l">
              <a:defRPr sz="5550" b="1">
                <a:solidFill>
                  <a:srgbClr val="FFFFFF"/>
                </a:solidFill>
                <a:latin typeface="Arial"/>
                <a:ea typeface="Arial"/>
                <a:cs typeface="Arial"/>
              </a:defRPr>
            </a:lvl8pPr>
            <a:lvl9pPr algn="l">
              <a:defRPr sz="5550" b="1">
                <a:solidFill>
                  <a:srgbClr val="FFFFFF"/>
                </a:solidFill>
                <a:latin typeface="Arial"/>
                <a:ea typeface="Arial"/>
                <a:cs typeface="Arial"/>
              </a:defRPr>
            </a:lvl9pPr>
          </a:lstStyle>
          <a:p>
            <a:pPr algn="l">
              <a:defRPr sz="5550" b="1">
                <a:solidFill>
                  <a:srgbClr val="FFFFFF"/>
                </a:solidFill>
                <a:latin typeface="Arial"/>
                <a:ea typeface="Arial"/>
                <a:cs typeface="Arial"/>
              </a:defRPr>
            </a:pPr>
            <a:r>
              <a:rPr sz="5550" b="1">
                <a:solidFill>
                  <a:srgbClr val="FFFFFF"/>
                </a:solidFill>
                <a:latin typeface="Arial"/>
                <a:ea typeface="Arial"/>
                <a:cs typeface="Arial"/>
              </a:rPr>
              <a:t>Sécurité</a:t>
            </a:r>
          </a:p>
          <a:p>
            <a:pPr algn="l">
              <a:defRPr sz="5550" b="1">
                <a:solidFill>
                  <a:srgbClr val="FFFFFF"/>
                </a:solidFill>
                <a:latin typeface="Arial"/>
                <a:ea typeface="Arial"/>
                <a:cs typeface="Arial"/>
              </a:defRPr>
            </a:pPr>
            <a:r>
              <a:rPr sz="5550" b="1">
                <a:solidFill>
                  <a:srgbClr val="FFFFFF"/>
                </a:solidFill>
                <a:latin typeface="Arial"/>
                <a:ea typeface="Arial"/>
                <a:cs typeface="Arial"/>
              </a:rPr>
              <a:t>routière</a:t>
            </a:r>
          </a:p>
        </p:txBody>
      </p:sp>
      <p:sp>
        <p:nvSpPr>
          <p:cNvPr id="5" name="cover-subtitle">
            <a:extLst>
              <a:ext uri="{FF2B5EF4-FFF2-40B4-BE49-F238E27FC236}">
                <a16:creationId id="{264AA547-BE4D-4D6B-BA90-9EF7122A602B}"/>
              </a:ext>
            </a:extLst>
          </p:cNvPr>
          <p:cNvSpPr>
            <a:spLocks noGrp="1"/>
          </p:cNvSpPr>
          <p:nvPr/>
        </p:nvSpPr>
        <p:spPr>
          <a:xfrm>
            <a:off x="781050" y="3476625"/>
            <a:ext cx="5810250" cy="914400"/>
          </a:xfrm>
          <a:prstGeom prst="rect">
            <a:avLst/>
          </a:prstGeom>
          <a:noFill/>
          <a:ln w="0">
            <a:noFill/>
            <a:prstDash val="solid"/>
          </a:ln>
        </p:spPr>
        <p:txBody>
          <a:bodyPr wrap="square" lIns="0" tIns="0" rIns="0" bIns="0" anchor="t"/>
          <a:lstStyle>
            <a:defPPr algn="l">
              <a:defRPr sz="2250" b="0">
                <a:solidFill>
                  <a:srgbClr val="F0F4F6"/>
                </a:solidFill>
                <a:latin typeface="Arial"/>
                <a:ea typeface="Arial"/>
                <a:cs typeface="Arial"/>
              </a:defRPr>
            </a:defPPr>
            <a:lvl1pPr algn="l">
              <a:defRPr sz="2250" b="0">
                <a:solidFill>
                  <a:srgbClr val="F0F4F6"/>
                </a:solidFill>
                <a:latin typeface="Arial"/>
                <a:ea typeface="Arial"/>
                <a:cs typeface="Arial"/>
              </a:defRPr>
            </a:lvl1pPr>
            <a:lvl2pPr algn="l">
              <a:defRPr sz="2250" b="0">
                <a:solidFill>
                  <a:srgbClr val="F0F4F6"/>
                </a:solidFill>
                <a:latin typeface="Arial"/>
                <a:ea typeface="Arial"/>
                <a:cs typeface="Arial"/>
              </a:defRPr>
            </a:lvl2pPr>
            <a:lvl3pPr algn="l">
              <a:defRPr sz="2250" b="0">
                <a:solidFill>
                  <a:srgbClr val="F0F4F6"/>
                </a:solidFill>
                <a:latin typeface="Arial"/>
                <a:ea typeface="Arial"/>
                <a:cs typeface="Arial"/>
              </a:defRPr>
            </a:lvl3pPr>
            <a:lvl4pPr algn="l">
              <a:defRPr sz="2250" b="0">
                <a:solidFill>
                  <a:srgbClr val="F0F4F6"/>
                </a:solidFill>
                <a:latin typeface="Arial"/>
                <a:ea typeface="Arial"/>
                <a:cs typeface="Arial"/>
              </a:defRPr>
            </a:lvl4pPr>
            <a:lvl5pPr algn="l">
              <a:defRPr sz="2250" b="0">
                <a:solidFill>
                  <a:srgbClr val="F0F4F6"/>
                </a:solidFill>
                <a:latin typeface="Arial"/>
                <a:ea typeface="Arial"/>
                <a:cs typeface="Arial"/>
              </a:defRPr>
            </a:lvl5pPr>
            <a:lvl6pPr algn="l">
              <a:defRPr sz="2250" b="0">
                <a:solidFill>
                  <a:srgbClr val="F0F4F6"/>
                </a:solidFill>
                <a:latin typeface="Arial"/>
                <a:ea typeface="Arial"/>
                <a:cs typeface="Arial"/>
              </a:defRPr>
            </a:lvl6pPr>
            <a:lvl7pPr algn="l">
              <a:defRPr sz="2250" b="0">
                <a:solidFill>
                  <a:srgbClr val="F0F4F6"/>
                </a:solidFill>
                <a:latin typeface="Arial"/>
                <a:ea typeface="Arial"/>
                <a:cs typeface="Arial"/>
              </a:defRPr>
            </a:lvl7pPr>
            <a:lvl8pPr algn="l">
              <a:defRPr sz="2250" b="0">
                <a:solidFill>
                  <a:srgbClr val="F0F4F6"/>
                </a:solidFill>
                <a:latin typeface="Arial"/>
                <a:ea typeface="Arial"/>
                <a:cs typeface="Arial"/>
              </a:defRPr>
            </a:lvl8pPr>
            <a:lvl9pPr algn="l">
              <a:defRPr sz="2250" b="0">
                <a:solidFill>
                  <a:srgbClr val="F0F4F6"/>
                </a:solidFill>
                <a:latin typeface="Arial"/>
                <a:ea typeface="Arial"/>
                <a:cs typeface="Arial"/>
              </a:defRPr>
            </a:lvl9pPr>
          </a:lstStyle>
          <a:p>
            <a:pPr algn="l">
              <a:defRPr sz="2250" b="0">
                <a:solidFill>
                  <a:srgbClr val="F0F4F6"/>
                </a:solidFill>
                <a:latin typeface="Arial"/>
                <a:ea typeface="Arial"/>
                <a:cs typeface="Arial"/>
              </a:defRPr>
            </a:pPr>
            <a:r>
              <a:rPr sz="2250" b="0">
                <a:solidFill>
                  <a:srgbClr val="F0F4F6"/>
                </a:solidFill>
                <a:latin typeface="Arial"/>
                <a:ea typeface="Arial"/>
                <a:cs typeface="Arial"/>
              </a:rPr>
              <a:t>Données STATS19 et objectifs ML</a:t>
            </a:r>
          </a:p>
          <a:p>
            <a:pPr algn="l">
              <a:defRPr sz="2250" b="0">
                <a:solidFill>
                  <a:srgbClr val="F0F4F6"/>
                </a:solidFill>
                <a:latin typeface="Arial"/>
                <a:ea typeface="Arial"/>
                <a:cs typeface="Arial"/>
              </a:defRPr>
            </a:pPr>
            <a:r>
              <a:rPr sz="2250" b="0">
                <a:solidFill>
                  <a:srgbClr val="F0F4F6"/>
                </a:solidFill>
                <a:latin typeface="Arial"/>
                <a:ea typeface="Arial"/>
                <a:cs typeface="Arial"/>
              </a:rPr>
              <a:t>Grande-Bretagne · 2021–2025</a:t>
            </a:r>
          </a:p>
        </p:txBody>
      </p:sp>
      <p:sp>
        <p:nvSpPr>
          <p:cNvPr id="6" name="cover-meta">
            <a:extLst>
              <a:ext uri="{FF2B5EF4-FFF2-40B4-BE49-F238E27FC236}">
                <a16:creationId id="{8CD371B5-DB8C-47BF-81A6-0E8A0B20C880}"/>
              </a:ext>
            </a:extLst>
          </p:cNvPr>
          <p:cNvSpPr>
            <a:spLocks noGrp="1"/>
          </p:cNvSpPr>
          <p:nvPr/>
        </p:nvSpPr>
        <p:spPr>
          <a:xfrm>
            <a:off x="781050" y="5334000"/>
            <a:ext cx="5905500" cy="323850"/>
          </a:xfrm>
          <a:prstGeom prst="rect">
            <a:avLst/>
          </a:prstGeom>
          <a:noFill/>
          <a:ln w="0">
            <a:noFill/>
            <a:prstDash val="solid"/>
          </a:ln>
        </p:spPr>
        <p:txBody>
          <a:bodyPr wrap="square" lIns="0" tIns="0" rIns="0" bIns="0" anchor="t"/>
          <a:lstStyle>
            <a:defPPr algn="l">
              <a:defRPr sz="1425" b="0">
                <a:solidFill>
                  <a:srgbClr val="D6E1E8"/>
                </a:solidFill>
                <a:latin typeface="Arial"/>
                <a:ea typeface="Arial"/>
                <a:cs typeface="Arial"/>
              </a:defRPr>
            </a:defPPr>
            <a:lvl1pPr algn="l">
              <a:defRPr sz="1425" b="0">
                <a:solidFill>
                  <a:srgbClr val="D6E1E8"/>
                </a:solidFill>
                <a:latin typeface="Arial"/>
                <a:ea typeface="Arial"/>
                <a:cs typeface="Arial"/>
              </a:defRPr>
            </a:lvl1pPr>
            <a:lvl2pPr algn="l">
              <a:defRPr sz="1425" b="0">
                <a:solidFill>
                  <a:srgbClr val="D6E1E8"/>
                </a:solidFill>
                <a:latin typeface="Arial"/>
                <a:ea typeface="Arial"/>
                <a:cs typeface="Arial"/>
              </a:defRPr>
            </a:lvl2pPr>
            <a:lvl3pPr algn="l">
              <a:defRPr sz="1425" b="0">
                <a:solidFill>
                  <a:srgbClr val="D6E1E8"/>
                </a:solidFill>
                <a:latin typeface="Arial"/>
                <a:ea typeface="Arial"/>
                <a:cs typeface="Arial"/>
              </a:defRPr>
            </a:lvl3pPr>
            <a:lvl4pPr algn="l">
              <a:defRPr sz="1425" b="0">
                <a:solidFill>
                  <a:srgbClr val="D6E1E8"/>
                </a:solidFill>
                <a:latin typeface="Arial"/>
                <a:ea typeface="Arial"/>
                <a:cs typeface="Arial"/>
              </a:defRPr>
            </a:lvl4pPr>
            <a:lvl5pPr algn="l">
              <a:defRPr sz="1425" b="0">
                <a:solidFill>
                  <a:srgbClr val="D6E1E8"/>
                </a:solidFill>
                <a:latin typeface="Arial"/>
                <a:ea typeface="Arial"/>
                <a:cs typeface="Arial"/>
              </a:defRPr>
            </a:lvl5pPr>
            <a:lvl6pPr algn="l">
              <a:defRPr sz="1425" b="0">
                <a:solidFill>
                  <a:srgbClr val="D6E1E8"/>
                </a:solidFill>
                <a:latin typeface="Arial"/>
                <a:ea typeface="Arial"/>
                <a:cs typeface="Arial"/>
              </a:defRPr>
            </a:lvl6pPr>
            <a:lvl7pPr algn="l">
              <a:defRPr sz="1425" b="0">
                <a:solidFill>
                  <a:srgbClr val="D6E1E8"/>
                </a:solidFill>
                <a:latin typeface="Arial"/>
                <a:ea typeface="Arial"/>
                <a:cs typeface="Arial"/>
              </a:defRPr>
            </a:lvl7pPr>
            <a:lvl8pPr algn="l">
              <a:defRPr sz="1425" b="0">
                <a:solidFill>
                  <a:srgbClr val="D6E1E8"/>
                </a:solidFill>
                <a:latin typeface="Arial"/>
                <a:ea typeface="Arial"/>
                <a:cs typeface="Arial"/>
              </a:defRPr>
            </a:lvl8pPr>
            <a:lvl9pPr algn="l">
              <a:defRPr sz="1425" b="0">
                <a:solidFill>
                  <a:srgbClr val="D6E1E8"/>
                </a:solidFill>
                <a:latin typeface="Arial"/>
                <a:ea typeface="Arial"/>
                <a:cs typeface="Arial"/>
              </a:defRPr>
            </a:lvl9pPr>
          </a:lstStyle>
          <a:p>
            <a:pPr algn="l">
              <a:defRPr sz="1425" b="0">
                <a:solidFill>
                  <a:srgbClr val="D6E1E8"/>
                </a:solidFill>
                <a:latin typeface="Arial"/>
                <a:ea typeface="Arial"/>
                <a:cs typeface="Arial"/>
              </a:defRPr>
            </a:pPr>
            <a:r>
              <a:rPr sz="1425" b="0">
                <a:solidFill>
                  <a:srgbClr val="D6E1E8"/>
                </a:solidFill>
                <a:latin typeface="Arial"/>
                <a:ea typeface="Arial"/>
                <a:cs typeface="Arial"/>
              </a:rPr>
              <a:t>Projet d’analyse exploratoire · Department for Transport</a:t>
            </a:r>
          </a:p>
        </p:txBody>
      </p:sp>
    </p:spTree>
    <p:extLst>
      <p:ext uri="{BB962C8B-B14F-4D97-AF65-F5344CB8AC3E}">
        <p14:creationId val="326279594"/>
      </p:ext>
    </p:extLst>
  </p:cSld>
</p:sld>
</file>

<file path=ppt/slides/slide2.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6" name="title-2">
            <a:extLst xmlns:a="http://schemas.openxmlformats.org/drawingml/2006/main">
              <a:ext uri="{FF2B5EF4-FFF2-40B4-BE49-F238E27FC236}">
                <a16:creationId xmlns:a16="http://schemas.microsoft.com/office/drawing/2014/main" id="{08D9FD9A-4169-4025-B514-AB60CBD6F0BE}"/>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Sujet et périmètre</a:t>
            </a:r>
          </a:p>
        </p:txBody>
      </p:sp>
      <p:sp>
        <p:nvSpPr>
          <p:cNvPr id="2" name="title-rule-2">
            <a:extLst xmlns:a="http://schemas.openxmlformats.org/drawingml/2006/main">
              <a:ext uri="{FF2B5EF4-FFF2-40B4-BE49-F238E27FC236}">
                <a16:creationId xmlns:a16="http://schemas.microsoft.com/office/drawing/2014/main" id="{A5C4052F-D6E7-4FB0-BA6E-B6B4EBC787B5}"/>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2">
            <a:extLst xmlns:a="http://schemas.openxmlformats.org/drawingml/2006/main">
              <a:ext uri="{FF2B5EF4-FFF2-40B4-BE49-F238E27FC236}">
                <a16:creationId xmlns:a16="http://schemas.microsoft.com/office/drawing/2014/main" id="{B23D09B6-5949-4564-BBE1-6B2831A2B591}"/>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02</a:t>
            </a:r>
          </a:p>
        </p:txBody>
      </p:sp>
      <p:sp>
        <p:nvSpPr>
          <p:cNvPr id="4" name="subject-lead">
            <a:extLst xmlns:a="http://schemas.openxmlformats.org/drawingml/2006/main">
              <a:ext uri="{FF2B5EF4-FFF2-40B4-BE49-F238E27FC236}">
                <a16:creationId xmlns:a16="http://schemas.microsoft.com/office/drawing/2014/main" id="{B248AC23-78D7-4C85-BB7D-35EF51FD94C8}"/>
              </a:ext>
            </a:extLst>
          </p:cNvPr>
          <p:cNvSpPr>
            <a:spLocks xmlns:a="http://schemas.openxmlformats.org/drawingml/2006/main" noGrp="1"/>
          </p:cNvSpPr>
          <p:nvPr/>
        </p:nvSpPr>
        <p:spPr>
          <a:xfrm xmlns:a="http://schemas.openxmlformats.org/drawingml/2006/main">
            <a:off x="742950" y="1590675"/>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xmlns:a="http://schemas.openxmlformats.org/drawingml/2006/main">
            <a:pPr algn="l">
              <a:defRPr sz="2550" b="1">
                <a:solidFill>
                  <a:srgbClr val="10283F"/>
                </a:solidFill>
                <a:latin typeface="Arial"/>
                <a:ea typeface="Arial"/>
                <a:cs typeface="Arial"/>
              </a:defRPr>
            </a:pPr>
            <a:r>
              <a:rPr sz="2550" b="1">
                <a:solidFill>
                  <a:srgbClr val="10283F"/>
                </a:solidFill>
                <a:latin typeface="Arial"/>
                <a:ea typeface="Arial"/>
                <a:cs typeface="Arial"/>
              </a:rPr>
              <a:t>Les données STATS19 décrivent les collisions corporelles signalées à la police.</a:t>
            </a:r>
          </a:p>
        </p:txBody>
      </p:sp>
      <p:sp>
        <p:nvSpPr>
          <p:cNvPr id="5" name="subject-context">
            <a:extLst xmlns:a="http://schemas.openxmlformats.org/drawingml/2006/main">
              <a:ext uri="{FF2B5EF4-FFF2-40B4-BE49-F238E27FC236}">
                <a16:creationId xmlns:a16="http://schemas.microsoft.com/office/drawing/2014/main" id="{BF2165ED-1373-4A0F-8062-ACFE9D4DB5BF}"/>
              </a:ext>
            </a:extLst>
          </p:cNvPr>
          <p:cNvSpPr>
            <a:spLocks xmlns:a="http://schemas.openxmlformats.org/drawingml/2006/main" noGrp="1"/>
          </p:cNvSpPr>
          <p:nvPr/>
        </p:nvSpPr>
        <p:spPr>
          <a:xfrm xmlns:a="http://schemas.openxmlformats.org/drawingml/2006/main">
            <a:off x="742950" y="2619375"/>
            <a:ext cx="981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54697B"/>
                </a:solidFill>
                <a:latin typeface="Arial"/>
                <a:ea typeface="Arial"/>
                <a:cs typeface="Arial"/>
              </a:defRPr>
            </a:defPPr>
            <a:lvl1pPr algn="l">
              <a:defRPr sz="1800" b="0">
                <a:solidFill>
                  <a:srgbClr val="54697B"/>
                </a:solidFill>
                <a:latin typeface="Arial"/>
                <a:ea typeface="Arial"/>
                <a:cs typeface="Arial"/>
              </a:defRPr>
            </a:lvl1pPr>
            <a:lvl2pPr algn="l">
              <a:defRPr sz="1800" b="0">
                <a:solidFill>
                  <a:srgbClr val="54697B"/>
                </a:solidFill>
                <a:latin typeface="Arial"/>
                <a:ea typeface="Arial"/>
                <a:cs typeface="Arial"/>
              </a:defRPr>
            </a:lvl2pPr>
            <a:lvl3pPr algn="l">
              <a:defRPr sz="1800" b="0">
                <a:solidFill>
                  <a:srgbClr val="54697B"/>
                </a:solidFill>
                <a:latin typeface="Arial"/>
                <a:ea typeface="Arial"/>
                <a:cs typeface="Arial"/>
              </a:defRPr>
            </a:lvl3pPr>
            <a:lvl4pPr algn="l">
              <a:defRPr sz="1800" b="0">
                <a:solidFill>
                  <a:srgbClr val="54697B"/>
                </a:solidFill>
                <a:latin typeface="Arial"/>
                <a:ea typeface="Arial"/>
                <a:cs typeface="Arial"/>
              </a:defRPr>
            </a:lvl4pPr>
            <a:lvl5pPr algn="l">
              <a:defRPr sz="1800" b="0">
                <a:solidFill>
                  <a:srgbClr val="54697B"/>
                </a:solidFill>
                <a:latin typeface="Arial"/>
                <a:ea typeface="Arial"/>
                <a:cs typeface="Arial"/>
              </a:defRPr>
            </a:lvl5pPr>
            <a:lvl6pPr algn="l">
              <a:defRPr sz="1800" b="0">
                <a:solidFill>
                  <a:srgbClr val="54697B"/>
                </a:solidFill>
                <a:latin typeface="Arial"/>
                <a:ea typeface="Arial"/>
                <a:cs typeface="Arial"/>
              </a:defRPr>
            </a:lvl6pPr>
            <a:lvl7pPr algn="l">
              <a:defRPr sz="1800" b="0">
                <a:solidFill>
                  <a:srgbClr val="54697B"/>
                </a:solidFill>
                <a:latin typeface="Arial"/>
                <a:ea typeface="Arial"/>
                <a:cs typeface="Arial"/>
              </a:defRPr>
            </a:lvl7pPr>
            <a:lvl8pPr algn="l">
              <a:defRPr sz="1800" b="0">
                <a:solidFill>
                  <a:srgbClr val="54697B"/>
                </a:solidFill>
                <a:latin typeface="Arial"/>
                <a:ea typeface="Arial"/>
                <a:cs typeface="Arial"/>
              </a:defRPr>
            </a:lvl8pPr>
            <a:lvl9pPr algn="l">
              <a:defRPr sz="1800" b="0">
                <a:solidFill>
                  <a:srgbClr val="54697B"/>
                </a:solidFill>
                <a:latin typeface="Arial"/>
                <a:ea typeface="Arial"/>
                <a:cs typeface="Arial"/>
              </a:defRPr>
            </a:lvl9pPr>
          </a:lstStyle>
          <a:p xmlns:a="http://schemas.openxmlformats.org/drawingml/2006/main">
            <a:pPr algn="l">
              <a:defRPr sz="1800" b="0">
                <a:solidFill>
                  <a:srgbClr val="54697B"/>
                </a:solidFill>
                <a:latin typeface="Arial"/>
                <a:ea typeface="Arial"/>
                <a:cs typeface="Arial"/>
              </a:defRPr>
            </a:pPr>
            <a:r>
              <a:rPr sz="1800" b="0">
                <a:solidFill>
                  <a:srgbClr val="54697B"/>
                </a:solidFill>
                <a:latin typeface="Arial"/>
                <a:ea typeface="Arial"/>
                <a:cs typeface="Arial"/>
              </a:rPr>
              <a:t>Le projet relie trois niveaux d’observation pour comprendre les circonstances et les conséquences des collisions sur les voies publiques de Grande-Bretagne.</a:t>
            </a:r>
          </a:p>
        </p:txBody>
      </p:sp>
      <p:sp>
        <p:nvSpPr>
          <p:cNvPr id="6" name="subject-0-head">
            <a:extLst xmlns:a="http://schemas.openxmlformats.org/drawingml/2006/main">
              <a:ext uri="{FF2B5EF4-FFF2-40B4-BE49-F238E27FC236}">
                <a16:creationId xmlns:a16="http://schemas.microsoft.com/office/drawing/2014/main" id="{3F8F04D1-90DB-45F4-A83E-DFB97BB982E0}"/>
              </a:ext>
            </a:extLst>
          </p:cNvPr>
          <p:cNvSpPr>
            <a:spLocks xmlns:a="http://schemas.openxmlformats.org/drawingml/2006/main" noGrp="1"/>
          </p:cNvSpPr>
          <p:nvPr/>
        </p:nvSpPr>
        <p:spPr>
          <a:xfrm xmlns:a="http://schemas.openxmlformats.org/drawingml/2006/main">
            <a:off x="742950"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0283F"/>
                </a:solidFill>
                <a:latin typeface="Arial"/>
                <a:ea typeface="Arial"/>
                <a:cs typeface="Arial"/>
              </a:defRPr>
            </a:defPPr>
            <a:lvl1pPr algn="l">
              <a:defRPr sz="2250" b="1">
                <a:solidFill>
                  <a:srgbClr val="10283F"/>
                </a:solidFill>
                <a:latin typeface="Arial"/>
                <a:ea typeface="Arial"/>
                <a:cs typeface="Arial"/>
              </a:defRPr>
            </a:lvl1pPr>
            <a:lvl2pPr algn="l">
              <a:defRPr sz="2250" b="1">
                <a:solidFill>
                  <a:srgbClr val="10283F"/>
                </a:solidFill>
                <a:latin typeface="Arial"/>
                <a:ea typeface="Arial"/>
                <a:cs typeface="Arial"/>
              </a:defRPr>
            </a:lvl2pPr>
            <a:lvl3pPr algn="l">
              <a:defRPr sz="2250" b="1">
                <a:solidFill>
                  <a:srgbClr val="10283F"/>
                </a:solidFill>
                <a:latin typeface="Arial"/>
                <a:ea typeface="Arial"/>
                <a:cs typeface="Arial"/>
              </a:defRPr>
            </a:lvl3pPr>
            <a:lvl4pPr algn="l">
              <a:defRPr sz="2250" b="1">
                <a:solidFill>
                  <a:srgbClr val="10283F"/>
                </a:solidFill>
                <a:latin typeface="Arial"/>
                <a:ea typeface="Arial"/>
                <a:cs typeface="Arial"/>
              </a:defRPr>
            </a:lvl4pPr>
            <a:lvl5pPr algn="l">
              <a:defRPr sz="2250" b="1">
                <a:solidFill>
                  <a:srgbClr val="10283F"/>
                </a:solidFill>
                <a:latin typeface="Arial"/>
                <a:ea typeface="Arial"/>
                <a:cs typeface="Arial"/>
              </a:defRPr>
            </a:lvl5pPr>
            <a:lvl6pPr algn="l">
              <a:defRPr sz="2250" b="1">
                <a:solidFill>
                  <a:srgbClr val="10283F"/>
                </a:solidFill>
                <a:latin typeface="Arial"/>
                <a:ea typeface="Arial"/>
                <a:cs typeface="Arial"/>
              </a:defRPr>
            </a:lvl6pPr>
            <a:lvl7pPr algn="l">
              <a:defRPr sz="2250" b="1">
                <a:solidFill>
                  <a:srgbClr val="10283F"/>
                </a:solidFill>
                <a:latin typeface="Arial"/>
                <a:ea typeface="Arial"/>
                <a:cs typeface="Arial"/>
              </a:defRPr>
            </a:lvl7pPr>
            <a:lvl8pPr algn="l">
              <a:defRPr sz="2250" b="1">
                <a:solidFill>
                  <a:srgbClr val="10283F"/>
                </a:solidFill>
                <a:latin typeface="Arial"/>
                <a:ea typeface="Arial"/>
                <a:cs typeface="Arial"/>
              </a:defRPr>
            </a:lvl8pPr>
            <a:lvl9pPr algn="l">
              <a:defRPr sz="2250" b="1">
                <a:solidFill>
                  <a:srgbClr val="10283F"/>
                </a:solidFill>
                <a:latin typeface="Arial"/>
                <a:ea typeface="Arial"/>
                <a:cs typeface="Arial"/>
              </a:defRPr>
            </a:lvl9pPr>
          </a:lstStyle>
          <a:p xmlns:a="http://schemas.openxmlformats.org/drawingml/2006/main">
            <a:pPr algn="l">
              <a:defRPr sz="2250" b="1">
                <a:solidFill>
                  <a:srgbClr val="10283F"/>
                </a:solidFill>
                <a:latin typeface="Arial"/>
                <a:ea typeface="Arial"/>
                <a:cs typeface="Arial"/>
              </a:defRPr>
            </a:pPr>
            <a:r>
              <a:rPr sz="2250" b="1">
                <a:solidFill>
                  <a:srgbClr val="10283F"/>
                </a:solidFill>
                <a:latin typeface="Arial"/>
                <a:ea typeface="Arial"/>
                <a:cs typeface="Arial"/>
              </a:rPr>
              <a:t>Collision</a:t>
            </a:r>
          </a:p>
        </p:txBody>
      </p:sp>
      <p:sp>
        <p:nvSpPr>
          <p:cNvPr id="7" name="subject-0-line">
            <a:extLst xmlns:a="http://schemas.openxmlformats.org/drawingml/2006/main">
              <a:ext uri="{FF2B5EF4-FFF2-40B4-BE49-F238E27FC236}">
                <a16:creationId xmlns:a16="http://schemas.microsoft.com/office/drawing/2014/main" id="{7678D144-1CAC-45F9-BF07-426F5EB20179}"/>
              </a:ext>
            </a:extLst>
          </p:cNvPr>
          <p:cNvSpPr>
            <a:spLocks xmlns:a="http://schemas.openxmlformats.org/drawingml/2006/main" noGrp="1"/>
          </p:cNvSpPr>
          <p:nvPr/>
        </p:nvSpPr>
        <p:spPr>
          <a:xfrm xmlns:a="http://schemas.openxmlformats.org/drawingml/2006/main">
            <a:off x="742950" y="4667250"/>
            <a:ext cx="552450" cy="38100"/>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8" name="subject-0-body">
            <a:extLst xmlns:a="http://schemas.openxmlformats.org/drawingml/2006/main">
              <a:ext uri="{FF2B5EF4-FFF2-40B4-BE49-F238E27FC236}">
                <a16:creationId xmlns:a16="http://schemas.microsoft.com/office/drawing/2014/main" id="{85E679A3-C69A-4DAE-B1B4-389497A4140F}"/>
              </a:ext>
            </a:extLst>
          </p:cNvPr>
          <p:cNvSpPr>
            <a:spLocks xmlns:a="http://schemas.openxmlformats.org/drawingml/2006/main" noGrp="1"/>
          </p:cNvSpPr>
          <p:nvPr/>
        </p:nvSpPr>
        <p:spPr>
          <a:xfrm xmlns:a="http://schemas.openxmlformats.org/drawingml/2006/main">
            <a:off x="742950"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où, quand,</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conditions routières</a:t>
            </a:r>
          </a:p>
        </p:txBody>
      </p:sp>
      <p:sp>
        <p:nvSpPr>
          <p:cNvPr id="9" name="subject-1-head">
            <a:extLst xmlns:a="http://schemas.openxmlformats.org/drawingml/2006/main">
              <a:ext uri="{FF2B5EF4-FFF2-40B4-BE49-F238E27FC236}">
                <a16:creationId xmlns:a16="http://schemas.microsoft.com/office/drawing/2014/main" id="{AE36142E-6316-4B8E-B5CC-B5556B958924}"/>
              </a:ext>
            </a:extLst>
          </p:cNvPr>
          <p:cNvSpPr>
            <a:spLocks xmlns:a="http://schemas.openxmlformats.org/drawingml/2006/main" noGrp="1"/>
          </p:cNvSpPr>
          <p:nvPr/>
        </p:nvSpPr>
        <p:spPr>
          <a:xfrm xmlns:a="http://schemas.openxmlformats.org/drawingml/2006/main">
            <a:off x="4314825"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76B87"/>
                </a:solidFill>
                <a:latin typeface="Arial"/>
                <a:ea typeface="Arial"/>
                <a:cs typeface="Arial"/>
              </a:defRPr>
            </a:defPPr>
            <a:lvl1pPr algn="l">
              <a:defRPr sz="2250" b="1">
                <a:solidFill>
                  <a:srgbClr val="176B87"/>
                </a:solidFill>
                <a:latin typeface="Arial"/>
                <a:ea typeface="Arial"/>
                <a:cs typeface="Arial"/>
              </a:defRPr>
            </a:lvl1pPr>
            <a:lvl2pPr algn="l">
              <a:defRPr sz="2250" b="1">
                <a:solidFill>
                  <a:srgbClr val="176B87"/>
                </a:solidFill>
                <a:latin typeface="Arial"/>
                <a:ea typeface="Arial"/>
                <a:cs typeface="Arial"/>
              </a:defRPr>
            </a:lvl2pPr>
            <a:lvl3pPr algn="l">
              <a:defRPr sz="2250" b="1">
                <a:solidFill>
                  <a:srgbClr val="176B87"/>
                </a:solidFill>
                <a:latin typeface="Arial"/>
                <a:ea typeface="Arial"/>
                <a:cs typeface="Arial"/>
              </a:defRPr>
            </a:lvl3pPr>
            <a:lvl4pPr algn="l">
              <a:defRPr sz="2250" b="1">
                <a:solidFill>
                  <a:srgbClr val="176B87"/>
                </a:solidFill>
                <a:latin typeface="Arial"/>
                <a:ea typeface="Arial"/>
                <a:cs typeface="Arial"/>
              </a:defRPr>
            </a:lvl4pPr>
            <a:lvl5pPr algn="l">
              <a:defRPr sz="2250" b="1">
                <a:solidFill>
                  <a:srgbClr val="176B87"/>
                </a:solidFill>
                <a:latin typeface="Arial"/>
                <a:ea typeface="Arial"/>
                <a:cs typeface="Arial"/>
              </a:defRPr>
            </a:lvl5pPr>
            <a:lvl6pPr algn="l">
              <a:defRPr sz="2250" b="1">
                <a:solidFill>
                  <a:srgbClr val="176B87"/>
                </a:solidFill>
                <a:latin typeface="Arial"/>
                <a:ea typeface="Arial"/>
                <a:cs typeface="Arial"/>
              </a:defRPr>
            </a:lvl6pPr>
            <a:lvl7pPr algn="l">
              <a:defRPr sz="2250" b="1">
                <a:solidFill>
                  <a:srgbClr val="176B87"/>
                </a:solidFill>
                <a:latin typeface="Arial"/>
                <a:ea typeface="Arial"/>
                <a:cs typeface="Arial"/>
              </a:defRPr>
            </a:lvl7pPr>
            <a:lvl8pPr algn="l">
              <a:defRPr sz="2250" b="1">
                <a:solidFill>
                  <a:srgbClr val="176B87"/>
                </a:solidFill>
                <a:latin typeface="Arial"/>
                <a:ea typeface="Arial"/>
                <a:cs typeface="Arial"/>
              </a:defRPr>
            </a:lvl8pPr>
            <a:lvl9pPr algn="l">
              <a:defRPr sz="2250" b="1">
                <a:solidFill>
                  <a:srgbClr val="176B87"/>
                </a:solidFill>
                <a:latin typeface="Arial"/>
                <a:ea typeface="Arial"/>
                <a:cs typeface="Arial"/>
              </a:defRPr>
            </a:lvl9pPr>
          </a:lstStyle>
          <a:p xmlns:a="http://schemas.openxmlformats.org/drawingml/2006/main">
            <a:pPr algn="l">
              <a:defRPr sz="2250" b="1">
                <a:solidFill>
                  <a:srgbClr val="176B87"/>
                </a:solidFill>
                <a:latin typeface="Arial"/>
                <a:ea typeface="Arial"/>
                <a:cs typeface="Arial"/>
              </a:defRPr>
            </a:pPr>
            <a:r>
              <a:rPr sz="2250" b="1">
                <a:solidFill>
                  <a:srgbClr val="176B87"/>
                </a:solidFill>
                <a:latin typeface="Arial"/>
                <a:ea typeface="Arial"/>
                <a:cs typeface="Arial"/>
              </a:rPr>
              <a:t>Véhicule</a:t>
            </a:r>
          </a:p>
        </p:txBody>
      </p:sp>
      <p:sp>
        <p:nvSpPr>
          <p:cNvPr id="10" name="subject-1-line">
            <a:extLst xmlns:a="http://schemas.openxmlformats.org/drawingml/2006/main">
              <a:ext uri="{FF2B5EF4-FFF2-40B4-BE49-F238E27FC236}">
                <a16:creationId xmlns:a16="http://schemas.microsoft.com/office/drawing/2014/main" id="{DE7D8CE6-1650-43C0-A463-A164F7EE1322}"/>
              </a:ext>
            </a:extLst>
          </p:cNvPr>
          <p:cNvSpPr>
            <a:spLocks xmlns:a="http://schemas.openxmlformats.org/drawingml/2006/main" noGrp="1"/>
          </p:cNvSpPr>
          <p:nvPr/>
        </p:nvSpPr>
        <p:spPr>
          <a:xfrm xmlns:a="http://schemas.openxmlformats.org/drawingml/2006/main">
            <a:off x="4314825" y="4667250"/>
            <a:ext cx="552450" cy="38100"/>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1" name="subject-1-body">
            <a:extLst xmlns:a="http://schemas.openxmlformats.org/drawingml/2006/main">
              <a:ext uri="{FF2B5EF4-FFF2-40B4-BE49-F238E27FC236}">
                <a16:creationId xmlns:a16="http://schemas.microsoft.com/office/drawing/2014/main" id="{AE6126F4-B366-4AD4-AA5D-2D2356F2644A}"/>
              </a:ext>
            </a:extLst>
          </p:cNvPr>
          <p:cNvSpPr>
            <a:spLocks xmlns:a="http://schemas.openxmlformats.org/drawingml/2006/main" noGrp="1"/>
          </p:cNvSpPr>
          <p:nvPr/>
        </p:nvSpPr>
        <p:spPr>
          <a:xfrm xmlns:a="http://schemas.openxmlformats.org/drawingml/2006/main">
            <a:off x="4314825"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type et caractéristiques</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des véhicules impliqués</a:t>
            </a:r>
          </a:p>
        </p:txBody>
      </p:sp>
      <p:sp>
        <p:nvSpPr>
          <p:cNvPr id="12" name="subject-2-head">
            <a:extLst xmlns:a="http://schemas.openxmlformats.org/drawingml/2006/main">
              <a:ext uri="{FF2B5EF4-FFF2-40B4-BE49-F238E27FC236}">
                <a16:creationId xmlns:a16="http://schemas.microsoft.com/office/drawing/2014/main" id="{3A34DF60-D473-4344-8140-EB093DBA7539}"/>
              </a:ext>
            </a:extLst>
          </p:cNvPr>
          <p:cNvSpPr>
            <a:spLocks xmlns:a="http://schemas.openxmlformats.org/drawingml/2006/main" noGrp="1"/>
          </p:cNvSpPr>
          <p:nvPr/>
        </p:nvSpPr>
        <p:spPr>
          <a:xfrm xmlns:a="http://schemas.openxmlformats.org/drawingml/2006/main">
            <a:off x="7886700"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0283F"/>
                </a:solidFill>
                <a:latin typeface="Arial"/>
                <a:ea typeface="Arial"/>
                <a:cs typeface="Arial"/>
              </a:defRPr>
            </a:defPPr>
            <a:lvl1pPr algn="l">
              <a:defRPr sz="2250" b="1">
                <a:solidFill>
                  <a:srgbClr val="10283F"/>
                </a:solidFill>
                <a:latin typeface="Arial"/>
                <a:ea typeface="Arial"/>
                <a:cs typeface="Arial"/>
              </a:defRPr>
            </a:lvl1pPr>
            <a:lvl2pPr algn="l">
              <a:defRPr sz="2250" b="1">
                <a:solidFill>
                  <a:srgbClr val="10283F"/>
                </a:solidFill>
                <a:latin typeface="Arial"/>
                <a:ea typeface="Arial"/>
                <a:cs typeface="Arial"/>
              </a:defRPr>
            </a:lvl2pPr>
            <a:lvl3pPr algn="l">
              <a:defRPr sz="2250" b="1">
                <a:solidFill>
                  <a:srgbClr val="10283F"/>
                </a:solidFill>
                <a:latin typeface="Arial"/>
                <a:ea typeface="Arial"/>
                <a:cs typeface="Arial"/>
              </a:defRPr>
            </a:lvl3pPr>
            <a:lvl4pPr algn="l">
              <a:defRPr sz="2250" b="1">
                <a:solidFill>
                  <a:srgbClr val="10283F"/>
                </a:solidFill>
                <a:latin typeface="Arial"/>
                <a:ea typeface="Arial"/>
                <a:cs typeface="Arial"/>
              </a:defRPr>
            </a:lvl4pPr>
            <a:lvl5pPr algn="l">
              <a:defRPr sz="2250" b="1">
                <a:solidFill>
                  <a:srgbClr val="10283F"/>
                </a:solidFill>
                <a:latin typeface="Arial"/>
                <a:ea typeface="Arial"/>
                <a:cs typeface="Arial"/>
              </a:defRPr>
            </a:lvl5pPr>
            <a:lvl6pPr algn="l">
              <a:defRPr sz="2250" b="1">
                <a:solidFill>
                  <a:srgbClr val="10283F"/>
                </a:solidFill>
                <a:latin typeface="Arial"/>
                <a:ea typeface="Arial"/>
                <a:cs typeface="Arial"/>
              </a:defRPr>
            </a:lvl6pPr>
            <a:lvl7pPr algn="l">
              <a:defRPr sz="2250" b="1">
                <a:solidFill>
                  <a:srgbClr val="10283F"/>
                </a:solidFill>
                <a:latin typeface="Arial"/>
                <a:ea typeface="Arial"/>
                <a:cs typeface="Arial"/>
              </a:defRPr>
            </a:lvl7pPr>
            <a:lvl8pPr algn="l">
              <a:defRPr sz="2250" b="1">
                <a:solidFill>
                  <a:srgbClr val="10283F"/>
                </a:solidFill>
                <a:latin typeface="Arial"/>
                <a:ea typeface="Arial"/>
                <a:cs typeface="Arial"/>
              </a:defRPr>
            </a:lvl8pPr>
            <a:lvl9pPr algn="l">
              <a:defRPr sz="2250" b="1">
                <a:solidFill>
                  <a:srgbClr val="10283F"/>
                </a:solidFill>
                <a:latin typeface="Arial"/>
                <a:ea typeface="Arial"/>
                <a:cs typeface="Arial"/>
              </a:defRPr>
            </a:lvl9pPr>
          </a:lstStyle>
          <a:p xmlns:a="http://schemas.openxmlformats.org/drawingml/2006/main">
            <a:pPr algn="l">
              <a:defRPr sz="2250" b="1">
                <a:solidFill>
                  <a:srgbClr val="10283F"/>
                </a:solidFill>
                <a:latin typeface="Arial"/>
                <a:ea typeface="Arial"/>
                <a:cs typeface="Arial"/>
              </a:defRPr>
            </a:pPr>
            <a:r>
              <a:rPr sz="2250" b="1">
                <a:solidFill>
                  <a:srgbClr val="10283F"/>
                </a:solidFill>
                <a:latin typeface="Arial"/>
                <a:ea typeface="Arial"/>
                <a:cs typeface="Arial"/>
              </a:rPr>
              <a:t>Victime</a:t>
            </a:r>
          </a:p>
        </p:txBody>
      </p:sp>
      <p:sp>
        <p:nvSpPr>
          <p:cNvPr id="13" name="subject-2-line">
            <a:extLst xmlns:a="http://schemas.openxmlformats.org/drawingml/2006/main">
              <a:ext uri="{FF2B5EF4-FFF2-40B4-BE49-F238E27FC236}">
                <a16:creationId xmlns:a16="http://schemas.microsoft.com/office/drawing/2014/main" id="{0C70BF6C-888A-4B88-9619-4ED23381DB66}"/>
              </a:ext>
            </a:extLst>
          </p:cNvPr>
          <p:cNvSpPr>
            <a:spLocks xmlns:a="http://schemas.openxmlformats.org/drawingml/2006/main" noGrp="1"/>
          </p:cNvSpPr>
          <p:nvPr/>
        </p:nvSpPr>
        <p:spPr>
          <a:xfrm xmlns:a="http://schemas.openxmlformats.org/drawingml/2006/main">
            <a:off x="7886700" y="4667250"/>
            <a:ext cx="552450" cy="38100"/>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14" name="subject-2-body">
            <a:extLst xmlns:a="http://schemas.openxmlformats.org/drawingml/2006/main">
              <a:ext uri="{FF2B5EF4-FFF2-40B4-BE49-F238E27FC236}">
                <a16:creationId xmlns:a16="http://schemas.microsoft.com/office/drawing/2014/main" id="{84E8089B-E33F-4F51-AEAB-2A596BF9F7F9}"/>
              </a:ext>
            </a:extLst>
          </p:cNvPr>
          <p:cNvSpPr>
            <a:spLocks xmlns:a="http://schemas.openxmlformats.org/drawingml/2006/main" noGrp="1"/>
          </p:cNvSpPr>
          <p:nvPr/>
        </p:nvSpPr>
        <p:spPr>
          <a:xfrm xmlns:a="http://schemas.openxmlformats.org/drawingml/2006/main">
            <a:off x="7886700"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profil et gravité</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des blessures enregistrées</a:t>
            </a:r>
          </a:p>
        </p:txBody>
      </p:sp>
      <p:sp>
        <p:nvSpPr>
          <p:cNvPr id="15" name="subject-source">
            <a:extLst xmlns:a="http://schemas.openxmlformats.org/drawingml/2006/main">
              <a:ext uri="{FF2B5EF4-FFF2-40B4-BE49-F238E27FC236}">
                <a16:creationId xmlns:a16="http://schemas.microsoft.com/office/drawing/2014/main" id="{BDFC4D30-04D5-4938-AD61-DEE5DC841F65}"/>
              </a:ext>
            </a:extLst>
          </p:cNvPr>
          <p:cNvSpPr>
            <a:spLocks xmlns:a="http://schemas.openxmlformats.org/drawingml/2006/main" noGrp="1"/>
          </p:cNvSpPr>
          <p:nvPr/>
        </p:nvSpPr>
        <p:spPr>
          <a:xfrm xmlns:a="http://schemas.openxmlformats.org/drawingml/2006/main">
            <a:off x="742950" y="6115050"/>
            <a:ext cx="7143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Department for Transport, STATS19 open data</a:t>
            </a:r>
          </a:p>
        </p:txBody>
      </p:sp>
    </p:spTree>
    <p:extLst>
      <p:ext uri="{BB962C8B-B14F-4D97-AF65-F5344CB8AC3E}">
        <p14:creationId xmlns:p14="http://schemas.microsoft.com/office/powerpoint/2010/main" val="1152392485"/>
      </p:ext>
    </p:extLst>
  </p:cSld>
</p:sld>
</file>

<file path=ppt/slides/slide3.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4" name="title-3">
            <a:extLst xmlns:a="http://schemas.openxmlformats.org/drawingml/2006/main">
              <a:ext uri="{FF2B5EF4-FFF2-40B4-BE49-F238E27FC236}">
                <a16:creationId xmlns:a16="http://schemas.microsoft.com/office/drawing/2014/main" id="{B945D0CD-B719-4591-A535-0451A546AD9C}"/>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Compréhension métier</a:t>
            </a:r>
          </a:p>
        </p:txBody>
      </p:sp>
      <p:sp>
        <p:nvSpPr>
          <p:cNvPr id="2" name="title-rule-3">
            <a:extLst xmlns:a="http://schemas.openxmlformats.org/drawingml/2006/main">
              <a:ext uri="{FF2B5EF4-FFF2-40B4-BE49-F238E27FC236}">
                <a16:creationId xmlns:a16="http://schemas.microsoft.com/office/drawing/2014/main" id="{4E0C0BE0-6A44-47A5-A0A6-F63D4AE2CDF6}"/>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3">
            <a:extLst xmlns:a="http://schemas.openxmlformats.org/drawingml/2006/main">
              <a:ext uri="{FF2B5EF4-FFF2-40B4-BE49-F238E27FC236}">
                <a16:creationId xmlns:a16="http://schemas.microsoft.com/office/drawing/2014/main" id="{C4889FC8-53FD-4114-BE89-026014453346}"/>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03</a:t>
            </a:r>
          </a:p>
        </p:txBody>
      </p:sp>
      <p:sp>
        <p:nvSpPr>
          <p:cNvPr id="4" name="business-lead">
            <a:extLst xmlns:a="http://schemas.openxmlformats.org/drawingml/2006/main">
              <a:ext uri="{FF2B5EF4-FFF2-40B4-BE49-F238E27FC236}">
                <a16:creationId xmlns:a16="http://schemas.microsoft.com/office/drawing/2014/main" id="{B69B6989-5278-4E69-8D37-309096575221}"/>
              </a:ext>
            </a:extLst>
          </p:cNvPr>
          <p:cNvSpPr>
            <a:spLocks xmlns:a="http://schemas.openxmlformats.org/drawingml/2006/main" noGrp="1"/>
          </p:cNvSpPr>
          <p:nvPr/>
        </p:nvSpPr>
        <p:spPr>
          <a:xfrm xmlns:a="http://schemas.openxmlformats.org/drawingml/2006/main">
            <a:off x="742950" y="15811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625" b="1">
                <a:solidFill>
                  <a:srgbClr val="10283F"/>
                </a:solidFill>
                <a:latin typeface="Arial"/>
                <a:ea typeface="Arial"/>
                <a:cs typeface="Arial"/>
              </a:defRPr>
            </a:defPPr>
            <a:lvl1pPr algn="l">
              <a:defRPr sz="2625" b="1">
                <a:solidFill>
                  <a:srgbClr val="10283F"/>
                </a:solidFill>
                <a:latin typeface="Arial"/>
                <a:ea typeface="Arial"/>
                <a:cs typeface="Arial"/>
              </a:defRPr>
            </a:lvl1pPr>
            <a:lvl2pPr algn="l">
              <a:defRPr sz="2625" b="1">
                <a:solidFill>
                  <a:srgbClr val="10283F"/>
                </a:solidFill>
                <a:latin typeface="Arial"/>
                <a:ea typeface="Arial"/>
                <a:cs typeface="Arial"/>
              </a:defRPr>
            </a:lvl2pPr>
            <a:lvl3pPr algn="l">
              <a:defRPr sz="2625" b="1">
                <a:solidFill>
                  <a:srgbClr val="10283F"/>
                </a:solidFill>
                <a:latin typeface="Arial"/>
                <a:ea typeface="Arial"/>
                <a:cs typeface="Arial"/>
              </a:defRPr>
            </a:lvl3pPr>
            <a:lvl4pPr algn="l">
              <a:defRPr sz="2625" b="1">
                <a:solidFill>
                  <a:srgbClr val="10283F"/>
                </a:solidFill>
                <a:latin typeface="Arial"/>
                <a:ea typeface="Arial"/>
                <a:cs typeface="Arial"/>
              </a:defRPr>
            </a:lvl4pPr>
            <a:lvl5pPr algn="l">
              <a:defRPr sz="2625" b="1">
                <a:solidFill>
                  <a:srgbClr val="10283F"/>
                </a:solidFill>
                <a:latin typeface="Arial"/>
                <a:ea typeface="Arial"/>
                <a:cs typeface="Arial"/>
              </a:defRPr>
            </a:lvl5pPr>
            <a:lvl6pPr algn="l">
              <a:defRPr sz="2625" b="1">
                <a:solidFill>
                  <a:srgbClr val="10283F"/>
                </a:solidFill>
                <a:latin typeface="Arial"/>
                <a:ea typeface="Arial"/>
                <a:cs typeface="Arial"/>
              </a:defRPr>
            </a:lvl6pPr>
            <a:lvl7pPr algn="l">
              <a:defRPr sz="2625" b="1">
                <a:solidFill>
                  <a:srgbClr val="10283F"/>
                </a:solidFill>
                <a:latin typeface="Arial"/>
                <a:ea typeface="Arial"/>
                <a:cs typeface="Arial"/>
              </a:defRPr>
            </a:lvl7pPr>
            <a:lvl8pPr algn="l">
              <a:defRPr sz="2625" b="1">
                <a:solidFill>
                  <a:srgbClr val="10283F"/>
                </a:solidFill>
                <a:latin typeface="Arial"/>
                <a:ea typeface="Arial"/>
                <a:cs typeface="Arial"/>
              </a:defRPr>
            </a:lvl8pPr>
            <a:lvl9pPr algn="l">
              <a:defRPr sz="2625" b="1">
                <a:solidFill>
                  <a:srgbClr val="10283F"/>
                </a:solidFill>
                <a:latin typeface="Arial"/>
                <a:ea typeface="Arial"/>
                <a:cs typeface="Arial"/>
              </a:defRPr>
            </a:lvl9pPr>
          </a:lstStyle>
          <a:p xmlns:a="http://schemas.openxmlformats.org/drawingml/2006/main">
            <a:pPr algn="l">
              <a:defRPr sz="2625" b="1">
                <a:solidFill>
                  <a:srgbClr val="10283F"/>
                </a:solidFill>
                <a:latin typeface="Arial"/>
                <a:ea typeface="Arial"/>
                <a:cs typeface="Arial"/>
              </a:defRPr>
            </a:pPr>
            <a:r>
              <a:rPr sz="2625" b="1">
                <a:solidFill>
                  <a:srgbClr val="10283F"/>
                </a:solidFill>
                <a:latin typeface="Arial"/>
                <a:ea typeface="Arial"/>
                <a:cs typeface="Arial"/>
              </a:rPr>
              <a:t>Aider les acteurs à choisir où approfondir l’analyse.</a:t>
            </a:r>
          </a:p>
        </p:txBody>
      </p:sp>
      <p:sp>
        <p:nvSpPr>
          <p:cNvPr id="5" name="business-actors-label">
            <a:extLst xmlns:a="http://schemas.openxmlformats.org/drawingml/2006/main">
              <a:ext uri="{FF2B5EF4-FFF2-40B4-BE49-F238E27FC236}">
                <a16:creationId xmlns:a16="http://schemas.microsoft.com/office/drawing/2014/main" id="{798C1B5C-640D-4741-904F-B7FFF89937A3}"/>
              </a:ext>
            </a:extLst>
          </p:cNvPr>
          <p:cNvSpPr>
            <a:spLocks xmlns:a="http://schemas.openxmlformats.org/drawingml/2006/main" noGrp="1"/>
          </p:cNvSpPr>
          <p:nvPr/>
        </p:nvSpPr>
        <p:spPr>
          <a:xfrm xmlns:a="http://schemas.openxmlformats.org/drawingml/2006/main">
            <a:off x="74295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ACTEURS</a:t>
            </a:r>
          </a:p>
        </p:txBody>
      </p:sp>
      <p:sp>
        <p:nvSpPr>
          <p:cNvPr id="6" name="business-actors">
            <a:extLst xmlns:a="http://schemas.openxmlformats.org/drawingml/2006/main">
              <a:ext uri="{FF2B5EF4-FFF2-40B4-BE49-F238E27FC236}">
                <a16:creationId xmlns:a16="http://schemas.microsoft.com/office/drawing/2014/main" id="{088CB739-455A-49B3-985B-0FCDA2E6A33A}"/>
              </a:ext>
            </a:extLst>
          </p:cNvPr>
          <p:cNvSpPr>
            <a:spLocks xmlns:a="http://schemas.openxmlformats.org/drawingml/2006/main" noGrp="1"/>
          </p:cNvSpPr>
          <p:nvPr/>
        </p:nvSpPr>
        <p:spPr>
          <a:xfrm xmlns:a="http://schemas.openxmlformats.org/drawingml/2006/main">
            <a:off x="742950" y="3076575"/>
            <a:ext cx="285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DfT · autorités locales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Police · chercheurs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Usagers de la route</a:t>
            </a:r>
          </a:p>
        </p:txBody>
      </p:sp>
      <p:sp>
        <p:nvSpPr>
          <p:cNvPr id="7" name="business-divider-a">
            <a:extLst xmlns:a="http://schemas.openxmlformats.org/drawingml/2006/main">
              <a:ext uri="{FF2B5EF4-FFF2-40B4-BE49-F238E27FC236}">
                <a16:creationId xmlns:a16="http://schemas.microsoft.com/office/drawing/2014/main" id="{7A5E6BBC-F7BE-4A0E-A641-18C22955C548}"/>
              </a:ext>
            </a:extLst>
          </p:cNvPr>
          <p:cNvSpPr>
            <a:spLocks xmlns:a="http://schemas.openxmlformats.org/drawingml/2006/main" noGrp="1"/>
          </p:cNvSpPr>
          <p:nvPr/>
        </p:nvSpPr>
        <p:spPr>
          <a:xfrm xmlns:a="http://schemas.openxmlformats.org/drawingml/2006/main">
            <a:off x="3943350" y="2705100"/>
            <a:ext cx="19050" cy="204787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8" name="business-question-label">
            <a:extLst xmlns:a="http://schemas.openxmlformats.org/drawingml/2006/main">
              <a:ext uri="{FF2B5EF4-FFF2-40B4-BE49-F238E27FC236}">
                <a16:creationId xmlns:a16="http://schemas.microsoft.com/office/drawing/2014/main" id="{42808DFB-4073-48A6-8F24-4250A659A09A}"/>
              </a:ext>
            </a:extLst>
          </p:cNvPr>
          <p:cNvSpPr>
            <a:spLocks xmlns:a="http://schemas.openxmlformats.org/drawingml/2006/main" noGrp="1"/>
          </p:cNvSpPr>
          <p:nvPr/>
        </p:nvSpPr>
        <p:spPr>
          <a:xfrm xmlns:a="http://schemas.openxmlformats.org/drawingml/2006/main">
            <a:off x="445770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BESOIN</a:t>
            </a:r>
          </a:p>
        </p:txBody>
      </p:sp>
      <p:sp>
        <p:nvSpPr>
          <p:cNvPr id="9" name="business-question">
            <a:extLst xmlns:a="http://schemas.openxmlformats.org/drawingml/2006/main">
              <a:ext uri="{FF2B5EF4-FFF2-40B4-BE49-F238E27FC236}">
                <a16:creationId xmlns:a16="http://schemas.microsoft.com/office/drawing/2014/main" id="{67B6012C-5B98-4AE8-A82E-E011ED0336D4}"/>
              </a:ext>
            </a:extLst>
          </p:cNvPr>
          <p:cNvSpPr>
            <a:spLocks xmlns:a="http://schemas.openxmlformats.org/drawingml/2006/main" noGrp="1"/>
          </p:cNvSpPr>
          <p:nvPr/>
        </p:nvSpPr>
        <p:spPr>
          <a:xfrm xmlns:a="http://schemas.openxmlformats.org/drawingml/2006/main">
            <a:off x="4457700" y="3076575"/>
            <a:ext cx="295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Repérer les périodes et contextes où les collisions corporelles enregistrées se concentrent.</a:t>
            </a:r>
          </a:p>
        </p:txBody>
      </p:sp>
      <p:sp>
        <p:nvSpPr>
          <p:cNvPr id="10" name="business-divider-b">
            <a:extLst xmlns:a="http://schemas.openxmlformats.org/drawingml/2006/main">
              <a:ext uri="{FF2B5EF4-FFF2-40B4-BE49-F238E27FC236}">
                <a16:creationId xmlns:a16="http://schemas.microsoft.com/office/drawing/2014/main" id="{A804C9BC-FF30-4DC0-A8F1-A64BF4594F49}"/>
              </a:ext>
            </a:extLst>
          </p:cNvPr>
          <p:cNvSpPr>
            <a:spLocks xmlns:a="http://schemas.openxmlformats.org/drawingml/2006/main" noGrp="1"/>
          </p:cNvSpPr>
          <p:nvPr/>
        </p:nvSpPr>
        <p:spPr>
          <a:xfrm xmlns:a="http://schemas.openxmlformats.org/drawingml/2006/main">
            <a:off x="7753350" y="2705100"/>
            <a:ext cx="19050" cy="204787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1" name="business-output-label">
            <a:extLst xmlns:a="http://schemas.openxmlformats.org/drawingml/2006/main">
              <a:ext uri="{FF2B5EF4-FFF2-40B4-BE49-F238E27FC236}">
                <a16:creationId xmlns:a16="http://schemas.microsoft.com/office/drawing/2014/main" id="{2679C916-2B1F-4BCD-85A8-1980DF0EAAC7}"/>
              </a:ext>
            </a:extLst>
          </p:cNvPr>
          <p:cNvSpPr>
            <a:spLocks xmlns:a="http://schemas.openxmlformats.org/drawingml/2006/main" noGrp="1"/>
          </p:cNvSpPr>
          <p:nvPr/>
        </p:nvSpPr>
        <p:spPr>
          <a:xfrm xmlns:a="http://schemas.openxmlformats.org/drawingml/2006/main">
            <a:off x="826770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USAGE</a:t>
            </a:r>
          </a:p>
        </p:txBody>
      </p:sp>
      <p:sp>
        <p:nvSpPr>
          <p:cNvPr id="12" name="business-output">
            <a:extLst xmlns:a="http://schemas.openxmlformats.org/drawingml/2006/main">
              <a:ext uri="{FF2B5EF4-FFF2-40B4-BE49-F238E27FC236}">
                <a16:creationId xmlns:a16="http://schemas.microsoft.com/office/drawing/2014/main" id="{8AB519CD-9CA4-4B51-B29C-86BB132ED083}"/>
              </a:ext>
            </a:extLst>
          </p:cNvPr>
          <p:cNvSpPr>
            <a:spLocks xmlns:a="http://schemas.openxmlformats.org/drawingml/2006/main" noGrp="1"/>
          </p:cNvSpPr>
          <p:nvPr/>
        </p:nvSpPr>
        <p:spPr>
          <a:xfrm xmlns:a="http://schemas.openxmlformats.org/drawingml/2006/main">
            <a:off x="8267700" y="3076575"/>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Orienter une investigation locale et préparer des hypothèses à vérifier avec des données d’exposition.</a:t>
            </a:r>
          </a:p>
        </p:txBody>
      </p:sp>
      <p:sp>
        <p:nvSpPr>
          <p:cNvPr id="13" name="business-caveat">
            <a:extLst xmlns:a="http://schemas.openxmlformats.org/drawingml/2006/main">
              <a:ext uri="{FF2B5EF4-FFF2-40B4-BE49-F238E27FC236}">
                <a16:creationId xmlns:a16="http://schemas.microsoft.com/office/drawing/2014/main" id="{A7570402-2FCB-4ADF-9EBE-C6E076C1B744}"/>
              </a:ext>
            </a:extLst>
          </p:cNvPr>
          <p:cNvSpPr>
            <a:spLocks xmlns:a="http://schemas.openxmlformats.org/drawingml/2006/main" noGrp="1"/>
          </p:cNvSpPr>
          <p:nvPr/>
        </p:nvSpPr>
        <p:spPr>
          <a:xfrm xmlns:a="http://schemas.openxmlformats.org/drawingml/2006/main">
            <a:off x="742950" y="52768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1">
                <a:solidFill>
                  <a:srgbClr val="C75A55"/>
                </a:solidFill>
                <a:latin typeface="Arial"/>
                <a:ea typeface="Arial"/>
                <a:cs typeface="Arial"/>
              </a:defRPr>
            </a:defPPr>
            <a:lvl1pPr algn="l">
              <a:defRPr sz="1650" b="1">
                <a:solidFill>
                  <a:srgbClr val="C75A55"/>
                </a:solidFill>
                <a:latin typeface="Arial"/>
                <a:ea typeface="Arial"/>
                <a:cs typeface="Arial"/>
              </a:defRPr>
            </a:lvl1pPr>
            <a:lvl2pPr algn="l">
              <a:defRPr sz="1650" b="1">
                <a:solidFill>
                  <a:srgbClr val="C75A55"/>
                </a:solidFill>
                <a:latin typeface="Arial"/>
                <a:ea typeface="Arial"/>
                <a:cs typeface="Arial"/>
              </a:defRPr>
            </a:lvl2pPr>
            <a:lvl3pPr algn="l">
              <a:defRPr sz="1650" b="1">
                <a:solidFill>
                  <a:srgbClr val="C75A55"/>
                </a:solidFill>
                <a:latin typeface="Arial"/>
                <a:ea typeface="Arial"/>
                <a:cs typeface="Arial"/>
              </a:defRPr>
            </a:lvl3pPr>
            <a:lvl4pPr algn="l">
              <a:defRPr sz="1650" b="1">
                <a:solidFill>
                  <a:srgbClr val="C75A55"/>
                </a:solidFill>
                <a:latin typeface="Arial"/>
                <a:ea typeface="Arial"/>
                <a:cs typeface="Arial"/>
              </a:defRPr>
            </a:lvl4pPr>
            <a:lvl5pPr algn="l">
              <a:defRPr sz="1650" b="1">
                <a:solidFill>
                  <a:srgbClr val="C75A55"/>
                </a:solidFill>
                <a:latin typeface="Arial"/>
                <a:ea typeface="Arial"/>
                <a:cs typeface="Arial"/>
              </a:defRPr>
            </a:lvl5pPr>
            <a:lvl6pPr algn="l">
              <a:defRPr sz="1650" b="1">
                <a:solidFill>
                  <a:srgbClr val="C75A55"/>
                </a:solidFill>
                <a:latin typeface="Arial"/>
                <a:ea typeface="Arial"/>
                <a:cs typeface="Arial"/>
              </a:defRPr>
            </a:lvl6pPr>
            <a:lvl7pPr algn="l">
              <a:defRPr sz="1650" b="1">
                <a:solidFill>
                  <a:srgbClr val="C75A55"/>
                </a:solidFill>
                <a:latin typeface="Arial"/>
                <a:ea typeface="Arial"/>
                <a:cs typeface="Arial"/>
              </a:defRPr>
            </a:lvl7pPr>
            <a:lvl8pPr algn="l">
              <a:defRPr sz="1650" b="1">
                <a:solidFill>
                  <a:srgbClr val="C75A55"/>
                </a:solidFill>
                <a:latin typeface="Arial"/>
                <a:ea typeface="Arial"/>
                <a:cs typeface="Arial"/>
              </a:defRPr>
            </a:lvl8pPr>
            <a:lvl9pPr algn="l">
              <a:defRPr sz="1650" b="1">
                <a:solidFill>
                  <a:srgbClr val="C75A55"/>
                </a:solidFill>
                <a:latin typeface="Arial"/>
                <a:ea typeface="Arial"/>
                <a:cs typeface="Arial"/>
              </a:defRPr>
            </a:lvl9pPr>
          </a:lstStyle>
          <a:p xmlns:a="http://schemas.openxmlformats.org/drawingml/2006/main">
            <a:pPr algn="l">
              <a:defRPr sz="1650" b="1">
                <a:solidFill>
                  <a:srgbClr val="C75A55"/>
                </a:solidFill>
                <a:latin typeface="Arial"/>
                <a:ea typeface="Arial"/>
                <a:cs typeface="Arial"/>
              </a:defRPr>
            </a:pPr>
            <a:r>
              <a:rPr sz="1650" b="1">
                <a:solidFill>
                  <a:srgbClr val="C75A55"/>
                </a:solidFill>
                <a:latin typeface="Arial"/>
                <a:ea typeface="Arial"/>
                <a:cs typeface="Arial"/>
              </a:rPr>
              <a:t>Un volume de collisions décrit les enregistrements, pas le risque par déplacement.</a:t>
            </a:r>
          </a:p>
        </p:txBody>
      </p:sp>
    </p:spTree>
    <p:extLst>
      <p:ext uri="{BB962C8B-B14F-4D97-AF65-F5344CB8AC3E}">
        <p14:creationId xmlns:p14="http://schemas.microsoft.com/office/powerpoint/2010/main" val="17394349"/>
      </p:ext>
    </p:extLst>
  </p:cSld>
</p:sld>
</file>

<file path=ppt/slides/slide4.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5" name="title-4">
            <a:extLst>
              <a:ext uri="{FF2B5EF4-FFF2-40B4-BE49-F238E27FC236}">
                <a16:creationId id="{70DE0857-644E-4097-B160-5E4BD52FE0AB}"/>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Objectifs de machine learning</a:t>
            </a:r>
          </a:p>
        </p:txBody>
      </p:sp>
      <p:sp>
        <p:nvSpPr>
          <p:cNvPr id="2" name="title-rule-4">
            <a:extLst>
              <a:ext uri="{FF2B5EF4-FFF2-40B4-BE49-F238E27FC236}">
                <a16:creationId id="{69F27988-B45E-4004-B2C0-ADFE14CF5FAC}"/>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4">
            <a:extLst>
              <a:ext uri="{FF2B5EF4-FFF2-40B4-BE49-F238E27FC236}">
                <a16:creationId id="{6B578508-C573-4D42-99F0-B1B2A5A4A09B}"/>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04</a:t>
            </a:r>
          </a:p>
        </p:txBody>
      </p:sp>
      <p:sp>
        <p:nvSpPr>
          <p:cNvPr id="4" name="goal-0-number">
            <a:extLst>
              <a:ext uri="{FF2B5EF4-FFF2-40B4-BE49-F238E27FC236}">
                <a16:creationId id="{33B26DB5-F52B-4C65-BCEA-1512CC8B923A}"/>
              </a:ext>
            </a:extLst>
          </p:cNvPr>
          <p:cNvSpPr>
            <a:spLocks noGrp="1"/>
          </p:cNvSpPr>
          <p:nvPr/>
        </p:nvSpPr>
        <p:spPr>
          <a:xfrm>
            <a:off x="742950" y="1657350"/>
            <a:ext cx="1047750" cy="723900"/>
          </a:xfrm>
          <a:prstGeom prst="rect">
            <a:avLst/>
          </a:prstGeom>
          <a:noFill/>
          <a:ln w="0">
            <a:noFill/>
            <a:prstDash val="solid"/>
          </a:ln>
        </p:spPr>
        <p:txBody>
          <a:bodyPr wrap="square" lIns="0" tIns="0" rIns="0" bIns="0" anchor="t"/>
          <a:lstStyle>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a:pPr algn="l">
              <a:defRPr sz="4200" b="1">
                <a:solidFill>
                  <a:srgbClr val="E2A33B"/>
                </a:solidFill>
                <a:latin typeface="Arial"/>
                <a:ea typeface="Arial"/>
                <a:cs typeface="Arial"/>
              </a:defRPr>
            </a:pPr>
            <a:r>
              <a:rPr sz="4200" b="1">
                <a:solidFill>
                  <a:srgbClr val="E2A33B"/>
                </a:solidFill>
                <a:latin typeface="Arial"/>
                <a:ea typeface="Arial"/>
                <a:cs typeface="Arial"/>
              </a:rPr>
              <a:t>01</a:t>
            </a:r>
          </a:p>
        </p:txBody>
      </p:sp>
      <p:sp>
        <p:nvSpPr>
          <p:cNvPr id="5" name="goal-0-heading">
            <a:extLst>
              <a:ext uri="{FF2B5EF4-FFF2-40B4-BE49-F238E27FC236}">
                <a16:creationId id="{0D781F94-2983-40CC-91CB-019771A6E2FD}"/>
              </a:ext>
            </a:extLst>
          </p:cNvPr>
          <p:cNvSpPr>
            <a:spLocks noGrp="1"/>
          </p:cNvSpPr>
          <p:nvPr/>
        </p:nvSpPr>
        <p:spPr>
          <a:xfrm>
            <a:off x="2095500" y="1695450"/>
            <a:ext cx="2381250" cy="51435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2550" b="1">
                <a:solidFill>
                  <a:srgbClr val="10283F"/>
                </a:solidFill>
                <a:latin typeface="Arial"/>
                <a:ea typeface="Arial"/>
                <a:cs typeface="Arial"/>
              </a:rPr>
              <a:t>Classifier</a:t>
            </a:r>
          </a:p>
        </p:txBody>
      </p:sp>
      <p:sp>
        <p:nvSpPr>
          <p:cNvPr id="6" name="goal-0-body">
            <a:extLst>
              <a:ext uri="{FF2B5EF4-FFF2-40B4-BE49-F238E27FC236}">
                <a16:creationId id="{DA1DC620-7222-4AFB-A275-DED4417B5B05}"/>
              </a:ext>
            </a:extLst>
          </p:cNvPr>
          <p:cNvSpPr>
            <a:spLocks noGrp="1"/>
          </p:cNvSpPr>
          <p:nvPr/>
        </p:nvSpPr>
        <p:spPr>
          <a:xfrm>
            <a:off x="4572000" y="1724025"/>
            <a:ext cx="6381750" cy="838200"/>
          </a:xfrm>
          <a:prstGeom prst="rect">
            <a:avLst/>
          </a:prstGeom>
          <a:noFill/>
          <a:ln w="0">
            <a:noFill/>
            <a:prstDash val="solid"/>
          </a:ln>
        </p:spPr>
        <p:txBody>
          <a:bodyPr wrap="square" lIns="0" tIns="0" rIns="0" bIns="0" anchor="t"/>
          <a:lstStyle>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a:pPr algn="l">
              <a:defRPr sz="1875" b="0">
                <a:solidFill>
                  <a:srgbClr val="54697B"/>
                </a:solidFill>
                <a:latin typeface="Arial"/>
                <a:ea typeface="Arial"/>
                <a:cs typeface="Arial"/>
              </a:defRPr>
            </a:pPr>
            <a:r>
              <a:rPr sz="1875" b="0">
                <a:solidFill>
                  <a:srgbClr val="54697B"/>
                </a:solidFill>
                <a:latin typeface="Arial"/>
                <a:ea typeface="Arial"/>
                <a:cs typeface="Arial"/>
              </a:rPr>
              <a:t>la gravité enregistrée d’une collision : légère, grave ou mortelle.</a:t>
            </a:r>
          </a:p>
        </p:txBody>
      </p:sp>
      <p:sp>
        <p:nvSpPr>
          <p:cNvPr id="7" name="goal-0-divider">
            <a:extLst>
              <a:ext uri="{FF2B5EF4-FFF2-40B4-BE49-F238E27FC236}">
                <a16:creationId id="{EAEB0DEC-5A3D-4E08-A512-14A2E1BA85FD}"/>
              </a:ext>
            </a:extLst>
          </p:cNvPr>
          <p:cNvSpPr>
            <a:spLocks noGrp="1"/>
          </p:cNvSpPr>
          <p:nvPr/>
        </p:nvSpPr>
        <p:spPr>
          <a:xfrm>
            <a:off x="2095500" y="2724150"/>
            <a:ext cx="9048750" cy="9525"/>
          </a:xfrm>
          <a:prstGeom prst="rect">
            <a:avLst/>
          </a:prstGeom>
          <a:solidFill>
            <a:srgbClr val="D5DEE4"/>
          </a:solidFill>
          <a:ln w="0">
            <a:noFill/>
            <a:prstDash val="solid"/>
          </a:ln>
        </p:spPr>
      </p:sp>
      <p:sp>
        <p:nvSpPr>
          <p:cNvPr id="8" name="goal-1-number">
            <a:extLst>
              <a:ext uri="{FF2B5EF4-FFF2-40B4-BE49-F238E27FC236}">
                <a16:creationId id="{229D7A66-F2CF-4364-8A1C-2ACA631E1861}"/>
              </a:ext>
            </a:extLst>
          </p:cNvPr>
          <p:cNvSpPr>
            <a:spLocks noGrp="1"/>
          </p:cNvSpPr>
          <p:nvPr/>
        </p:nvSpPr>
        <p:spPr>
          <a:xfrm>
            <a:off x="742950" y="3086100"/>
            <a:ext cx="1047750" cy="723900"/>
          </a:xfrm>
          <a:prstGeom prst="rect">
            <a:avLst/>
          </a:prstGeom>
          <a:noFill/>
          <a:ln w="0">
            <a:noFill/>
            <a:prstDash val="solid"/>
          </a:ln>
        </p:spPr>
        <p:txBody>
          <a:bodyPr wrap="square" lIns="0" tIns="0" rIns="0" bIns="0" anchor="t"/>
          <a:lstStyle>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a:pPr algn="l">
              <a:defRPr sz="4200" b="1">
                <a:solidFill>
                  <a:srgbClr val="E2A33B"/>
                </a:solidFill>
                <a:latin typeface="Arial"/>
                <a:ea typeface="Arial"/>
                <a:cs typeface="Arial"/>
              </a:defRPr>
            </a:pPr>
            <a:r>
              <a:rPr sz="4200" b="1">
                <a:solidFill>
                  <a:srgbClr val="E2A33B"/>
                </a:solidFill>
                <a:latin typeface="Arial"/>
                <a:ea typeface="Arial"/>
                <a:cs typeface="Arial"/>
              </a:rPr>
              <a:t>02</a:t>
            </a:r>
          </a:p>
        </p:txBody>
      </p:sp>
      <p:sp>
        <p:nvSpPr>
          <p:cNvPr id="9" name="goal-1-heading">
            <a:extLst>
              <a:ext uri="{FF2B5EF4-FFF2-40B4-BE49-F238E27FC236}">
                <a16:creationId id="{0CB3F18F-D8AA-439C-996D-30EFEDA58FB9}"/>
              </a:ext>
            </a:extLst>
          </p:cNvPr>
          <p:cNvSpPr>
            <a:spLocks noGrp="1"/>
          </p:cNvSpPr>
          <p:nvPr/>
        </p:nvSpPr>
        <p:spPr>
          <a:xfrm>
            <a:off x="2095500" y="3124200"/>
            <a:ext cx="2381250" cy="51435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2550" b="1">
                <a:solidFill>
                  <a:srgbClr val="10283F"/>
                </a:solidFill>
                <a:latin typeface="Arial"/>
                <a:ea typeface="Arial"/>
                <a:cs typeface="Arial"/>
              </a:rPr>
              <a:t>Classifier</a:t>
            </a:r>
          </a:p>
        </p:txBody>
      </p:sp>
      <p:sp>
        <p:nvSpPr>
          <p:cNvPr id="10" name="goal-1-body">
            <a:extLst>
              <a:ext uri="{FF2B5EF4-FFF2-40B4-BE49-F238E27FC236}">
                <a16:creationId id="{6448F5BE-D924-4072-AD93-53F40BC3A3DA}"/>
              </a:ext>
            </a:extLst>
          </p:cNvPr>
          <p:cNvSpPr>
            <a:spLocks noGrp="1"/>
          </p:cNvSpPr>
          <p:nvPr/>
        </p:nvSpPr>
        <p:spPr>
          <a:xfrm>
            <a:off x="4572000" y="3152775"/>
            <a:ext cx="6381750" cy="838200"/>
          </a:xfrm>
          <a:prstGeom prst="rect">
            <a:avLst/>
          </a:prstGeom>
          <a:noFill/>
          <a:ln w="0">
            <a:noFill/>
            <a:prstDash val="solid"/>
          </a:ln>
        </p:spPr>
        <p:txBody>
          <a:bodyPr wrap="square" lIns="0" tIns="0" rIns="0" bIns="0" anchor="t"/>
          <a:lstStyle>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a:pPr algn="l">
              <a:defRPr sz="1875" b="0">
                <a:solidFill>
                  <a:srgbClr val="54697B"/>
                </a:solidFill>
                <a:latin typeface="Arial"/>
                <a:ea typeface="Arial"/>
                <a:cs typeface="Arial"/>
              </a:defRPr>
            </a:pPr>
            <a:r>
              <a:rPr sz="1875" b="0">
                <a:solidFill>
                  <a:srgbClr val="54697B"/>
                </a:solidFill>
                <a:latin typeface="Arial"/>
                <a:ea typeface="Arial"/>
                <a:cs typeface="Arial"/>
              </a:rPr>
              <a:t>la gravité d’une victime : légère ou grave / mortelle.</a:t>
            </a:r>
          </a:p>
        </p:txBody>
      </p:sp>
      <p:sp>
        <p:nvSpPr>
          <p:cNvPr id="11" name="goal-1-divider">
            <a:extLst>
              <a:ext uri="{FF2B5EF4-FFF2-40B4-BE49-F238E27FC236}">
                <a16:creationId id="{791050A3-D3AC-441B-822B-F2E53421B3B7}"/>
              </a:ext>
            </a:extLst>
          </p:cNvPr>
          <p:cNvSpPr>
            <a:spLocks noGrp="1"/>
          </p:cNvSpPr>
          <p:nvPr/>
        </p:nvSpPr>
        <p:spPr>
          <a:xfrm>
            <a:off x="2095500" y="4152900"/>
            <a:ext cx="9048750" cy="9525"/>
          </a:xfrm>
          <a:prstGeom prst="rect">
            <a:avLst/>
          </a:prstGeom>
          <a:solidFill>
            <a:srgbClr val="D5DEE4"/>
          </a:solidFill>
          <a:ln w="0">
            <a:noFill/>
            <a:prstDash val="solid"/>
          </a:ln>
        </p:spPr>
      </p:sp>
      <p:sp>
        <p:nvSpPr>
          <p:cNvPr id="12" name="goal-2-number">
            <a:extLst>
              <a:ext uri="{FF2B5EF4-FFF2-40B4-BE49-F238E27FC236}">
                <a16:creationId id="{EBF61427-BE16-49A3-85C4-0A88795D2F43}"/>
              </a:ext>
            </a:extLst>
          </p:cNvPr>
          <p:cNvSpPr>
            <a:spLocks noGrp="1"/>
          </p:cNvSpPr>
          <p:nvPr/>
        </p:nvSpPr>
        <p:spPr>
          <a:xfrm>
            <a:off x="742950" y="4514850"/>
            <a:ext cx="1047750" cy="723900"/>
          </a:xfrm>
          <a:prstGeom prst="rect">
            <a:avLst/>
          </a:prstGeom>
          <a:noFill/>
          <a:ln w="0">
            <a:noFill/>
            <a:prstDash val="solid"/>
          </a:ln>
        </p:spPr>
        <p:txBody>
          <a:bodyPr wrap="square" lIns="0" tIns="0" rIns="0" bIns="0" anchor="t"/>
          <a:lstStyle>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a:pPr algn="l">
              <a:defRPr sz="4200" b="1">
                <a:solidFill>
                  <a:srgbClr val="E2A33B"/>
                </a:solidFill>
                <a:latin typeface="Arial"/>
                <a:ea typeface="Arial"/>
                <a:cs typeface="Arial"/>
              </a:defRPr>
            </a:pPr>
            <a:r>
              <a:rPr sz="4200" b="1">
                <a:solidFill>
                  <a:srgbClr val="E2A33B"/>
                </a:solidFill>
                <a:latin typeface="Arial"/>
                <a:ea typeface="Arial"/>
                <a:cs typeface="Arial"/>
              </a:rPr>
              <a:t>03</a:t>
            </a:r>
          </a:p>
        </p:txBody>
      </p:sp>
      <p:sp>
        <p:nvSpPr>
          <p:cNvPr id="13" name="goal-2-heading">
            <a:extLst>
              <a:ext uri="{FF2B5EF4-FFF2-40B4-BE49-F238E27FC236}">
                <a16:creationId id="{2B2B5994-6F90-4774-9E47-C0D9E0F27C1A}"/>
              </a:ext>
            </a:extLst>
          </p:cNvPr>
          <p:cNvSpPr>
            <a:spLocks noGrp="1"/>
          </p:cNvSpPr>
          <p:nvPr/>
        </p:nvSpPr>
        <p:spPr>
          <a:xfrm>
            <a:off x="2095500" y="4552950"/>
            <a:ext cx="2381250" cy="51435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2550" b="1">
                <a:solidFill>
                  <a:srgbClr val="10283F"/>
                </a:solidFill>
                <a:latin typeface="Arial"/>
                <a:ea typeface="Arial"/>
                <a:cs typeface="Arial"/>
              </a:rPr>
              <a:t>Estimer</a:t>
            </a:r>
          </a:p>
        </p:txBody>
      </p:sp>
      <p:sp>
        <p:nvSpPr>
          <p:cNvPr id="14" name="goal-2-body">
            <a:extLst>
              <a:ext uri="{FF2B5EF4-FFF2-40B4-BE49-F238E27FC236}">
                <a16:creationId id="{80C21C6C-3624-446D-B5E1-2801371DD47B}"/>
              </a:ext>
            </a:extLst>
          </p:cNvPr>
          <p:cNvSpPr>
            <a:spLocks noGrp="1"/>
          </p:cNvSpPr>
          <p:nvPr/>
        </p:nvSpPr>
        <p:spPr>
          <a:xfrm>
            <a:off x="4572000" y="4581525"/>
            <a:ext cx="6381750" cy="838200"/>
          </a:xfrm>
          <a:prstGeom prst="rect">
            <a:avLst/>
          </a:prstGeom>
          <a:noFill/>
          <a:ln w="0">
            <a:noFill/>
            <a:prstDash val="solid"/>
          </a:ln>
        </p:spPr>
        <p:txBody>
          <a:bodyPr wrap="square" lIns="0" tIns="0" rIns="0" bIns="0" anchor="t"/>
          <a:lstStyle>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a:pPr algn="l">
              <a:defRPr sz="1875" b="0">
                <a:solidFill>
                  <a:srgbClr val="54697B"/>
                </a:solidFill>
                <a:latin typeface="Arial"/>
                <a:ea typeface="Arial"/>
                <a:cs typeface="Arial"/>
              </a:defRPr>
            </a:pPr>
            <a:r>
              <a:rPr sz="1875" b="0">
                <a:solidFill>
                  <a:srgbClr val="54697B"/>
                </a:solidFill>
                <a:latin typeface="Arial"/>
                <a:ea typeface="Arial"/>
                <a:cs typeface="Arial"/>
              </a:rPr>
              <a:t>le nombre de victimes par collision, selon le contexte routier et les véhicules impliqués.</a:t>
            </a:r>
          </a:p>
        </p:txBody>
      </p:sp>
      <p:sp>
        <p:nvSpPr>
          <p:cNvPr id="16" name="goal-0-status">
            <a:extLst>
              <a:ext uri="{FF2B5EF4-FFF2-40B4-BE49-F238E27FC236}">
                <a16:creationId id="{0D781F94-2983-40CC-91CB-019771A6E2FD}"/>
              </a:ext>
            </a:extLst>
          </p:cNvPr>
          <p:cNvSpPr>
            <a:spLocks noGrp="1"/>
          </p:cNvSpPr>
          <p:nvPr/>
        </p:nvSpPr>
        <p:spPr>
          <a:xfrm>
            <a:off x="2095500" y="2228850"/>
            <a:ext cx="2381250" cy="26670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1400" b="1">
                <a:solidFill>
                  <a:srgbClr val="176B87"/>
                </a:solidFill>
                <a:latin typeface="Arial"/>
                <a:ea typeface="Arial"/>
                <a:cs typeface="Arial"/>
              </a:rPr>
              <a:t>Réalisé</a:t>
            </a:r>
          </a:p>
        </p:txBody>
      </p:sp>
      <p:sp>
        <p:nvSpPr>
          <p:cNvPr id="17" name="goal-1-status">
            <a:extLst>
              <a:ext uri="{FF2B5EF4-FFF2-40B4-BE49-F238E27FC236}">
                <a16:creationId id="{0CB3F18F-D8AA-439C-996D-30EFEDA58FB9}"/>
              </a:ext>
            </a:extLst>
          </p:cNvPr>
          <p:cNvSpPr>
            <a:spLocks noGrp="1"/>
          </p:cNvSpPr>
          <p:nvPr/>
        </p:nvSpPr>
        <p:spPr>
          <a:xfrm>
            <a:off x="2095500" y="3657600"/>
            <a:ext cx="2381250" cy="26670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1400" b="0">
                <a:solidFill>
                  <a:srgbClr val="54697B"/>
                </a:solidFill>
                <a:latin typeface="Arial"/>
                <a:ea typeface="Arial"/>
                <a:cs typeface="Arial"/>
              </a:rPr>
              <a:t>Prévu pour la suite</a:t>
            </a:r>
          </a:p>
        </p:txBody>
      </p:sp>
      <p:sp>
        <p:nvSpPr>
          <p:cNvPr id="18" name="goal-2-status">
            <a:extLst>
              <a:ext uri="{FF2B5EF4-FFF2-40B4-BE49-F238E27FC236}">
                <a16:creationId id="{2B2B5994-6F90-4774-9E47-C0D9E0F27C1A}"/>
              </a:ext>
            </a:extLst>
          </p:cNvPr>
          <p:cNvSpPr>
            <a:spLocks noGrp="1"/>
          </p:cNvSpPr>
          <p:nvPr/>
        </p:nvSpPr>
        <p:spPr>
          <a:xfrm>
            <a:off x="2095500" y="5086350"/>
            <a:ext cx="2381250" cy="26670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1400" b="0">
                <a:solidFill>
                  <a:srgbClr val="54697B"/>
                </a:solidFill>
                <a:latin typeface="Arial"/>
                <a:ea typeface="Arial"/>
                <a:cs typeface="Arial"/>
              </a:rPr>
              <a:t>Prévu pour la suite</a:t>
            </a:r>
          </a:p>
        </p:txBody>
      </p:sp>
    </p:spTree>
    <p:extLst>
      <p:ext uri="{BB962C8B-B14F-4D97-AF65-F5344CB8AC3E}">
        <p14:creationId val="1893014633"/>
      </p:ext>
    </p:extLst>
  </p:cSld>
</p:sld>
</file>

<file path=ppt/slides/slide5.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2" name="title-5">
            <a:extLst xmlns:a="http://schemas.openxmlformats.org/drawingml/2006/main">
              <a:ext uri="{FF2B5EF4-FFF2-40B4-BE49-F238E27FC236}">
                <a16:creationId xmlns:a16="http://schemas.microsoft.com/office/drawing/2014/main" id="{618B6FBC-4218-495F-A453-5C1D26790252}"/>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Source et couverture</a:t>
            </a:r>
          </a:p>
        </p:txBody>
      </p:sp>
      <p:sp>
        <p:nvSpPr>
          <p:cNvPr id="2" name="title-rule-5">
            <a:extLst xmlns:a="http://schemas.openxmlformats.org/drawingml/2006/main">
              <a:ext uri="{FF2B5EF4-FFF2-40B4-BE49-F238E27FC236}">
                <a16:creationId xmlns:a16="http://schemas.microsoft.com/office/drawing/2014/main" id="{F5E0CEEC-F29E-4003-9618-F058896A3102}"/>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5">
            <a:extLst xmlns:a="http://schemas.openxmlformats.org/drawingml/2006/main">
              <a:ext uri="{FF2B5EF4-FFF2-40B4-BE49-F238E27FC236}">
                <a16:creationId xmlns:a16="http://schemas.microsoft.com/office/drawing/2014/main" id="{89EF4B29-4A89-4615-B83A-C58311966053}"/>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05</a:t>
            </a:r>
          </a:p>
        </p:txBody>
      </p:sp>
      <p:sp>
        <p:nvSpPr>
          <p:cNvPr id="4" name="scope-window">
            <a:extLst xmlns:a="http://schemas.openxmlformats.org/drawingml/2006/main">
              <a:ext uri="{FF2B5EF4-FFF2-40B4-BE49-F238E27FC236}">
                <a16:creationId xmlns:a16="http://schemas.microsoft.com/office/drawing/2014/main" id="{66937572-6206-4C20-9630-C38759E6C658}"/>
              </a:ext>
            </a:extLst>
          </p:cNvPr>
          <p:cNvSpPr>
            <a:spLocks xmlns:a="http://schemas.openxmlformats.org/drawingml/2006/main" noGrp="1"/>
          </p:cNvSpPr>
          <p:nvPr/>
        </p:nvSpPr>
        <p:spPr>
          <a:xfrm xmlns:a="http://schemas.openxmlformats.org/drawingml/2006/main">
            <a:off x="742950" y="1714500"/>
            <a:ext cx="4095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4050" b="1">
                <a:solidFill>
                  <a:srgbClr val="176B87"/>
                </a:solidFill>
                <a:latin typeface="Arial"/>
                <a:ea typeface="Arial"/>
                <a:cs typeface="Arial"/>
              </a:defRPr>
            </a:defPPr>
            <a:lvl1pPr algn="l">
              <a:defRPr sz="4050" b="1">
                <a:solidFill>
                  <a:srgbClr val="176B87"/>
                </a:solidFill>
                <a:latin typeface="Arial"/>
                <a:ea typeface="Arial"/>
                <a:cs typeface="Arial"/>
              </a:defRPr>
            </a:lvl1pPr>
            <a:lvl2pPr algn="l">
              <a:defRPr sz="4050" b="1">
                <a:solidFill>
                  <a:srgbClr val="176B87"/>
                </a:solidFill>
                <a:latin typeface="Arial"/>
                <a:ea typeface="Arial"/>
                <a:cs typeface="Arial"/>
              </a:defRPr>
            </a:lvl2pPr>
            <a:lvl3pPr algn="l">
              <a:defRPr sz="4050" b="1">
                <a:solidFill>
                  <a:srgbClr val="176B87"/>
                </a:solidFill>
                <a:latin typeface="Arial"/>
                <a:ea typeface="Arial"/>
                <a:cs typeface="Arial"/>
              </a:defRPr>
            </a:lvl3pPr>
            <a:lvl4pPr algn="l">
              <a:defRPr sz="4050" b="1">
                <a:solidFill>
                  <a:srgbClr val="176B87"/>
                </a:solidFill>
                <a:latin typeface="Arial"/>
                <a:ea typeface="Arial"/>
                <a:cs typeface="Arial"/>
              </a:defRPr>
            </a:lvl4pPr>
            <a:lvl5pPr algn="l">
              <a:defRPr sz="4050" b="1">
                <a:solidFill>
                  <a:srgbClr val="176B87"/>
                </a:solidFill>
                <a:latin typeface="Arial"/>
                <a:ea typeface="Arial"/>
                <a:cs typeface="Arial"/>
              </a:defRPr>
            </a:lvl5pPr>
            <a:lvl6pPr algn="l">
              <a:defRPr sz="4050" b="1">
                <a:solidFill>
                  <a:srgbClr val="176B87"/>
                </a:solidFill>
                <a:latin typeface="Arial"/>
                <a:ea typeface="Arial"/>
                <a:cs typeface="Arial"/>
              </a:defRPr>
            </a:lvl6pPr>
            <a:lvl7pPr algn="l">
              <a:defRPr sz="4050" b="1">
                <a:solidFill>
                  <a:srgbClr val="176B87"/>
                </a:solidFill>
                <a:latin typeface="Arial"/>
                <a:ea typeface="Arial"/>
                <a:cs typeface="Arial"/>
              </a:defRPr>
            </a:lvl7pPr>
            <a:lvl8pPr algn="l">
              <a:defRPr sz="4050" b="1">
                <a:solidFill>
                  <a:srgbClr val="176B87"/>
                </a:solidFill>
                <a:latin typeface="Arial"/>
                <a:ea typeface="Arial"/>
                <a:cs typeface="Arial"/>
              </a:defRPr>
            </a:lvl8pPr>
            <a:lvl9pPr algn="l">
              <a:defRPr sz="4050" b="1">
                <a:solidFill>
                  <a:srgbClr val="176B87"/>
                </a:solidFill>
                <a:latin typeface="Arial"/>
                <a:ea typeface="Arial"/>
                <a:cs typeface="Arial"/>
              </a:defRPr>
            </a:lvl9pPr>
          </a:lstStyle>
          <a:p xmlns:a="http://schemas.openxmlformats.org/drawingml/2006/main">
            <a:pPr algn="l">
              <a:defRPr sz="4050" b="1">
                <a:solidFill>
                  <a:srgbClr val="176B87"/>
                </a:solidFill>
                <a:latin typeface="Arial"/>
                <a:ea typeface="Arial"/>
                <a:cs typeface="Arial"/>
              </a:defRPr>
            </a:pPr>
            <a:r>
              <a:rPr sz="4050" b="1">
                <a:solidFill>
                  <a:srgbClr val="176B87"/>
                </a:solidFill>
                <a:latin typeface="Arial"/>
                <a:ea typeface="Arial"/>
                <a:cs typeface="Arial"/>
              </a:rPr>
              <a:t>2021–2025</a:t>
            </a:r>
          </a:p>
        </p:txBody>
      </p:sp>
      <p:sp>
        <p:nvSpPr>
          <p:cNvPr id="5" name="scope-window-caption">
            <a:extLst xmlns:a="http://schemas.openxmlformats.org/drawingml/2006/main">
              <a:ext uri="{FF2B5EF4-FFF2-40B4-BE49-F238E27FC236}">
                <a16:creationId xmlns:a16="http://schemas.microsoft.com/office/drawing/2014/main" id="{135E250D-AEF6-42FA-9964-0019E5806726}"/>
              </a:ext>
            </a:extLst>
          </p:cNvPr>
          <p:cNvSpPr>
            <a:spLocks xmlns:a="http://schemas.openxmlformats.org/drawingml/2006/main" noGrp="1"/>
          </p:cNvSpPr>
          <p:nvPr/>
        </p:nvSpPr>
        <p:spPr>
          <a:xfrm xmlns:a="http://schemas.openxmlformats.org/drawingml/2006/main">
            <a:off x="781050" y="24003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cinq années finales disponibles dans l’extrait utilisé</a:t>
            </a:r>
          </a:p>
        </p:txBody>
      </p:sp>
      <p:sp>
        <p:nvSpPr>
          <p:cNvPr id="6" name="scope-coverage-heading">
            <a:extLst xmlns:a="http://schemas.openxmlformats.org/drawingml/2006/main">
              <a:ext uri="{FF2B5EF4-FFF2-40B4-BE49-F238E27FC236}">
                <a16:creationId xmlns:a16="http://schemas.microsoft.com/office/drawing/2014/main" id="{8638991D-5287-4F28-9AAB-17E803D5B5BE}"/>
              </a:ext>
            </a:extLst>
          </p:cNvPr>
          <p:cNvSpPr>
            <a:spLocks xmlns:a="http://schemas.openxmlformats.org/drawingml/2006/main" noGrp="1"/>
          </p:cNvSpPr>
          <p:nvPr/>
        </p:nvSpPr>
        <p:spPr>
          <a:xfrm xmlns:a="http://schemas.openxmlformats.org/drawingml/2006/main">
            <a:off x="742950" y="3362325"/>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0283F"/>
                </a:solidFill>
                <a:latin typeface="Arial"/>
                <a:ea typeface="Arial"/>
                <a:cs typeface="Arial"/>
              </a:defRPr>
            </a:defPPr>
            <a:lvl1pPr algn="l">
              <a:defRPr sz="2175" b="1">
                <a:solidFill>
                  <a:srgbClr val="10283F"/>
                </a:solidFill>
                <a:latin typeface="Arial"/>
                <a:ea typeface="Arial"/>
                <a:cs typeface="Arial"/>
              </a:defRPr>
            </a:lvl1pPr>
            <a:lvl2pPr algn="l">
              <a:defRPr sz="2175" b="1">
                <a:solidFill>
                  <a:srgbClr val="10283F"/>
                </a:solidFill>
                <a:latin typeface="Arial"/>
                <a:ea typeface="Arial"/>
                <a:cs typeface="Arial"/>
              </a:defRPr>
            </a:lvl2pPr>
            <a:lvl3pPr algn="l">
              <a:defRPr sz="2175" b="1">
                <a:solidFill>
                  <a:srgbClr val="10283F"/>
                </a:solidFill>
                <a:latin typeface="Arial"/>
                <a:ea typeface="Arial"/>
                <a:cs typeface="Arial"/>
              </a:defRPr>
            </a:lvl3pPr>
            <a:lvl4pPr algn="l">
              <a:defRPr sz="2175" b="1">
                <a:solidFill>
                  <a:srgbClr val="10283F"/>
                </a:solidFill>
                <a:latin typeface="Arial"/>
                <a:ea typeface="Arial"/>
                <a:cs typeface="Arial"/>
              </a:defRPr>
            </a:lvl4pPr>
            <a:lvl5pPr algn="l">
              <a:defRPr sz="2175" b="1">
                <a:solidFill>
                  <a:srgbClr val="10283F"/>
                </a:solidFill>
                <a:latin typeface="Arial"/>
                <a:ea typeface="Arial"/>
                <a:cs typeface="Arial"/>
              </a:defRPr>
            </a:lvl5pPr>
            <a:lvl6pPr algn="l">
              <a:defRPr sz="2175" b="1">
                <a:solidFill>
                  <a:srgbClr val="10283F"/>
                </a:solidFill>
                <a:latin typeface="Arial"/>
                <a:ea typeface="Arial"/>
                <a:cs typeface="Arial"/>
              </a:defRPr>
            </a:lvl6pPr>
            <a:lvl7pPr algn="l">
              <a:defRPr sz="2175" b="1">
                <a:solidFill>
                  <a:srgbClr val="10283F"/>
                </a:solidFill>
                <a:latin typeface="Arial"/>
                <a:ea typeface="Arial"/>
                <a:cs typeface="Arial"/>
              </a:defRPr>
            </a:lvl7pPr>
            <a:lvl8pPr algn="l">
              <a:defRPr sz="2175" b="1">
                <a:solidFill>
                  <a:srgbClr val="10283F"/>
                </a:solidFill>
                <a:latin typeface="Arial"/>
                <a:ea typeface="Arial"/>
                <a:cs typeface="Arial"/>
              </a:defRPr>
            </a:lvl8pPr>
            <a:lvl9pPr algn="l">
              <a:defRPr sz="2175" b="1">
                <a:solidFill>
                  <a:srgbClr val="10283F"/>
                </a:solidFill>
                <a:latin typeface="Arial"/>
                <a:ea typeface="Arial"/>
                <a:cs typeface="Arial"/>
              </a:defRPr>
            </a:lvl9pPr>
          </a:lstStyle>
          <a:p xmlns:a="http://schemas.openxmlformats.org/drawingml/2006/main">
            <a:pPr algn="l">
              <a:defRPr sz="2175" b="1">
                <a:solidFill>
                  <a:srgbClr val="10283F"/>
                </a:solidFill>
                <a:latin typeface="Arial"/>
                <a:ea typeface="Arial"/>
                <a:cs typeface="Arial"/>
              </a:defRPr>
            </a:pPr>
            <a:r>
              <a:rPr sz="2175" b="1">
                <a:solidFill>
                  <a:srgbClr val="10283F"/>
                </a:solidFill>
                <a:latin typeface="Arial"/>
                <a:ea typeface="Arial"/>
                <a:cs typeface="Arial"/>
              </a:rPr>
              <a:t>Couvert</a:t>
            </a:r>
          </a:p>
        </p:txBody>
      </p:sp>
      <p:sp>
        <p:nvSpPr>
          <p:cNvPr id="7" name="scope-coverage">
            <a:extLst xmlns:a="http://schemas.openxmlformats.org/drawingml/2006/main">
              <a:ext uri="{FF2B5EF4-FFF2-40B4-BE49-F238E27FC236}">
                <a16:creationId xmlns:a16="http://schemas.microsoft.com/office/drawing/2014/main" id="{3AEE8DC8-B8DB-4DDF-9509-1D742FFBD452}"/>
              </a:ext>
            </a:extLst>
          </p:cNvPr>
          <p:cNvSpPr>
            <a:spLocks xmlns:a="http://schemas.openxmlformats.org/drawingml/2006/main" noGrp="1"/>
          </p:cNvSpPr>
          <p:nvPr/>
        </p:nvSpPr>
        <p:spPr>
          <a:xfrm xmlns:a="http://schemas.openxmlformats.org/drawingml/2006/main">
            <a:off x="742950" y="3857625"/>
            <a:ext cx="4476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Grande-Bretagne</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Voies publiques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Collisions corporelles déclarées à la police</a:t>
            </a:r>
          </a:p>
        </p:txBody>
      </p:sp>
      <p:sp>
        <p:nvSpPr>
          <p:cNvPr id="8" name="scope-divider">
            <a:extLst xmlns:a="http://schemas.openxmlformats.org/drawingml/2006/main">
              <a:ext uri="{FF2B5EF4-FFF2-40B4-BE49-F238E27FC236}">
                <a16:creationId xmlns:a16="http://schemas.microsoft.com/office/drawing/2014/main" id="{1A524263-57F8-43D0-A913-3E7047CEC389}"/>
              </a:ext>
            </a:extLst>
          </p:cNvPr>
          <p:cNvSpPr>
            <a:spLocks xmlns:a="http://schemas.openxmlformats.org/drawingml/2006/main" noGrp="1"/>
          </p:cNvSpPr>
          <p:nvPr/>
        </p:nvSpPr>
        <p:spPr>
          <a:xfrm xmlns:a="http://schemas.openxmlformats.org/drawingml/2006/main">
            <a:off x="5924550" y="1714500"/>
            <a:ext cx="19050" cy="3733800"/>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9" name="scope-boundary-heading">
            <a:extLst xmlns:a="http://schemas.openxmlformats.org/drawingml/2006/main">
              <a:ext uri="{FF2B5EF4-FFF2-40B4-BE49-F238E27FC236}">
                <a16:creationId xmlns:a16="http://schemas.microsoft.com/office/drawing/2014/main" id="{999A4D56-2E1E-4732-8C49-C45136B10FAC}"/>
              </a:ext>
            </a:extLst>
          </p:cNvPr>
          <p:cNvSpPr>
            <a:spLocks xmlns:a="http://schemas.openxmlformats.org/drawingml/2006/main" noGrp="1"/>
          </p:cNvSpPr>
          <p:nvPr/>
        </p:nvSpPr>
        <p:spPr>
          <a:xfrm xmlns:a="http://schemas.openxmlformats.org/drawingml/2006/main">
            <a:off x="6572250" y="17145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0283F"/>
                </a:solidFill>
                <a:latin typeface="Arial"/>
                <a:ea typeface="Arial"/>
                <a:cs typeface="Arial"/>
              </a:defRPr>
            </a:defPPr>
            <a:lvl1pPr algn="l">
              <a:defRPr sz="2175" b="1">
                <a:solidFill>
                  <a:srgbClr val="10283F"/>
                </a:solidFill>
                <a:latin typeface="Arial"/>
                <a:ea typeface="Arial"/>
                <a:cs typeface="Arial"/>
              </a:defRPr>
            </a:lvl1pPr>
            <a:lvl2pPr algn="l">
              <a:defRPr sz="2175" b="1">
                <a:solidFill>
                  <a:srgbClr val="10283F"/>
                </a:solidFill>
                <a:latin typeface="Arial"/>
                <a:ea typeface="Arial"/>
                <a:cs typeface="Arial"/>
              </a:defRPr>
            </a:lvl2pPr>
            <a:lvl3pPr algn="l">
              <a:defRPr sz="2175" b="1">
                <a:solidFill>
                  <a:srgbClr val="10283F"/>
                </a:solidFill>
                <a:latin typeface="Arial"/>
                <a:ea typeface="Arial"/>
                <a:cs typeface="Arial"/>
              </a:defRPr>
            </a:lvl3pPr>
            <a:lvl4pPr algn="l">
              <a:defRPr sz="2175" b="1">
                <a:solidFill>
                  <a:srgbClr val="10283F"/>
                </a:solidFill>
                <a:latin typeface="Arial"/>
                <a:ea typeface="Arial"/>
                <a:cs typeface="Arial"/>
              </a:defRPr>
            </a:lvl4pPr>
            <a:lvl5pPr algn="l">
              <a:defRPr sz="2175" b="1">
                <a:solidFill>
                  <a:srgbClr val="10283F"/>
                </a:solidFill>
                <a:latin typeface="Arial"/>
                <a:ea typeface="Arial"/>
                <a:cs typeface="Arial"/>
              </a:defRPr>
            </a:lvl5pPr>
            <a:lvl6pPr algn="l">
              <a:defRPr sz="2175" b="1">
                <a:solidFill>
                  <a:srgbClr val="10283F"/>
                </a:solidFill>
                <a:latin typeface="Arial"/>
                <a:ea typeface="Arial"/>
                <a:cs typeface="Arial"/>
              </a:defRPr>
            </a:lvl6pPr>
            <a:lvl7pPr algn="l">
              <a:defRPr sz="2175" b="1">
                <a:solidFill>
                  <a:srgbClr val="10283F"/>
                </a:solidFill>
                <a:latin typeface="Arial"/>
                <a:ea typeface="Arial"/>
                <a:cs typeface="Arial"/>
              </a:defRPr>
            </a:lvl7pPr>
            <a:lvl8pPr algn="l">
              <a:defRPr sz="2175" b="1">
                <a:solidFill>
                  <a:srgbClr val="10283F"/>
                </a:solidFill>
                <a:latin typeface="Arial"/>
                <a:ea typeface="Arial"/>
                <a:cs typeface="Arial"/>
              </a:defRPr>
            </a:lvl8pPr>
            <a:lvl9pPr algn="l">
              <a:defRPr sz="2175" b="1">
                <a:solidFill>
                  <a:srgbClr val="10283F"/>
                </a:solidFill>
                <a:latin typeface="Arial"/>
                <a:ea typeface="Arial"/>
                <a:cs typeface="Arial"/>
              </a:defRPr>
            </a:lvl9pPr>
          </a:lstStyle>
          <a:p xmlns:a="http://schemas.openxmlformats.org/drawingml/2006/main">
            <a:pPr algn="l">
              <a:defRPr sz="2175" b="1">
                <a:solidFill>
                  <a:srgbClr val="10283F"/>
                </a:solidFill>
                <a:latin typeface="Arial"/>
                <a:ea typeface="Arial"/>
                <a:cs typeface="Arial"/>
              </a:defRPr>
            </a:pPr>
            <a:r>
              <a:rPr sz="2175" b="1">
                <a:solidFill>
                  <a:srgbClr val="10283F"/>
                </a:solidFill>
                <a:latin typeface="Arial"/>
                <a:ea typeface="Arial"/>
                <a:cs typeface="Arial"/>
              </a:rPr>
              <a:t>À garder en tête</a:t>
            </a:r>
          </a:p>
        </p:txBody>
      </p:sp>
      <p:sp>
        <p:nvSpPr>
          <p:cNvPr id="10" name="scope-boundary">
            <a:extLst xmlns:a="http://schemas.openxmlformats.org/drawingml/2006/main">
              <a:ext uri="{FF2B5EF4-FFF2-40B4-BE49-F238E27FC236}">
                <a16:creationId xmlns:a16="http://schemas.microsoft.com/office/drawing/2014/main" id="{F28277DB-D103-4EBD-A2CA-144E5AC54AA9}"/>
              </a:ext>
            </a:extLst>
          </p:cNvPr>
          <p:cNvSpPr>
            <a:spLocks xmlns:a="http://schemas.openxmlformats.org/drawingml/2006/main" noGrp="1"/>
          </p:cNvSpPr>
          <p:nvPr/>
        </p:nvSpPr>
        <p:spPr>
          <a:xfrm xmlns:a="http://schemas.openxmlformats.org/drawingml/2006/main">
            <a:off x="6572250" y="2362200"/>
            <a:ext cx="4572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Les collisions sans blessé, non déclarées ou sur voies privées ne sont pas représentées.</a:t>
            </a:r>
          </a:p>
          <a:p xmlns:a="http://schemas.openxmlformats.org/drawingml/2006/main">
            <a:r>
              <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Les champs catégoriels sont codés et doivent être décodés avec le guide officiel.</a:t>
            </a:r>
          </a:p>
        </p:txBody>
      </p:sp>
      <p:sp>
        <p:nvSpPr>
          <p:cNvPr id="11" name="scope-source">
            <a:extLst xmlns:a="http://schemas.openxmlformats.org/drawingml/2006/main">
              <a:ext uri="{FF2B5EF4-FFF2-40B4-BE49-F238E27FC236}">
                <a16:creationId xmlns:a16="http://schemas.microsoft.com/office/drawing/2014/main" id="{E65C4B23-0B6F-466E-91C2-24E47269A7ED}"/>
              </a:ext>
            </a:extLst>
          </p:cNvPr>
          <p:cNvSpPr>
            <a:spLocks xmlns:a="http://schemas.openxmlformats.org/drawingml/2006/main" noGrp="1"/>
          </p:cNvSpPr>
          <p:nvPr/>
        </p:nvSpPr>
        <p:spPr>
          <a:xfrm xmlns:a="http://schemas.openxmlformats.org/drawingml/2006/main">
            <a:off x="742950" y="61150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DfT · dernière année finale dans la source consultée : 2025</a:t>
            </a:r>
          </a:p>
        </p:txBody>
      </p:sp>
    </p:spTree>
    <p:extLst>
      <p:ext uri="{BB962C8B-B14F-4D97-AF65-F5344CB8AC3E}">
        <p14:creationId xmlns:p14="http://schemas.microsoft.com/office/powerpoint/2010/main" val="1880642562"/>
      </p:ext>
    </p:extLst>
  </p:cSld>
</p:sld>
</file>

<file path=ppt/slides/slide6.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25" name="title-6">
            <a:extLst xmlns:a="http://schemas.openxmlformats.org/drawingml/2006/main">
              <a:ext uri="{FF2B5EF4-FFF2-40B4-BE49-F238E27FC236}">
                <a16:creationId xmlns:a16="http://schemas.microsoft.com/office/drawing/2014/main" id="{0B6D3B6C-FDA0-4B6C-BA0D-FA81B293D4FC}"/>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Modèle des données</a:t>
            </a:r>
          </a:p>
        </p:txBody>
      </p:sp>
      <p:sp>
        <p:nvSpPr>
          <p:cNvPr id="2" name="title-rule-6">
            <a:extLst xmlns:a="http://schemas.openxmlformats.org/drawingml/2006/main">
              <a:ext uri="{FF2B5EF4-FFF2-40B4-BE49-F238E27FC236}">
                <a16:creationId xmlns:a16="http://schemas.microsoft.com/office/drawing/2014/main" id="{B6294E00-3B68-4B87-A3A5-EDF4E849B835}"/>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6">
            <a:extLst xmlns:a="http://schemas.openxmlformats.org/drawingml/2006/main">
              <a:ext uri="{FF2B5EF4-FFF2-40B4-BE49-F238E27FC236}">
                <a16:creationId xmlns:a16="http://schemas.microsoft.com/office/drawing/2014/main" id="{7F26CEFC-EB42-407B-9285-4B1B09A8BD42}"/>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06</a:t>
            </a:r>
          </a:p>
        </p:txBody>
      </p:sp>
      <p:sp>
        <p:nvSpPr>
          <p:cNvPr id="4" name="model-box-0">
            <a:extLst xmlns:a="http://schemas.openxmlformats.org/drawingml/2006/main">
              <a:ext uri="{FF2B5EF4-FFF2-40B4-BE49-F238E27FC236}">
                <a16:creationId xmlns:a16="http://schemas.microsoft.com/office/drawing/2014/main" id="{4271AB8E-BA0F-4781-94B7-158E9DD461B1}"/>
              </a:ext>
            </a:extLst>
          </p:cNvPr>
          <p:cNvSpPr>
            <a:spLocks xmlns:a="http://schemas.openxmlformats.org/drawingml/2006/main" noGrp="1"/>
          </p:cNvSpPr>
          <p:nvPr/>
        </p:nvSpPr>
        <p:spPr>
          <a:xfrm xmlns:a="http://schemas.openxmlformats.org/drawingml/2006/main">
            <a:off x="7429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5" name="model-accent-0">
            <a:extLst xmlns:a="http://schemas.openxmlformats.org/drawingml/2006/main">
              <a:ext uri="{FF2B5EF4-FFF2-40B4-BE49-F238E27FC236}">
                <a16:creationId xmlns:a16="http://schemas.microsoft.com/office/drawing/2014/main" id="{C3F6C951-D617-4B97-AABD-B9862841B9D5}"/>
              </a:ext>
            </a:extLst>
          </p:cNvPr>
          <p:cNvSpPr>
            <a:spLocks xmlns:a="http://schemas.openxmlformats.org/drawingml/2006/main" noGrp="1"/>
          </p:cNvSpPr>
          <p:nvPr/>
        </p:nvSpPr>
        <p:spPr>
          <a:xfrm xmlns:a="http://schemas.openxmlformats.org/drawingml/2006/main">
            <a:off x="742950" y="2524125"/>
            <a:ext cx="3143250" cy="666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6" name="model-name-0">
            <a:extLst xmlns:a="http://schemas.openxmlformats.org/drawingml/2006/main">
              <a:ext uri="{FF2B5EF4-FFF2-40B4-BE49-F238E27FC236}">
                <a16:creationId xmlns:a16="http://schemas.microsoft.com/office/drawing/2014/main" id="{066972C8-5122-435E-B047-385B1EB915C8}"/>
              </a:ext>
            </a:extLst>
          </p:cNvPr>
          <p:cNvSpPr>
            <a:spLocks xmlns:a="http://schemas.openxmlformats.org/drawingml/2006/main" noGrp="1"/>
          </p:cNvSpPr>
          <p:nvPr/>
        </p:nvSpPr>
        <p:spPr>
          <a:xfrm xmlns:a="http://schemas.openxmlformats.org/drawingml/2006/main">
            <a:off x="9525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176B87"/>
                </a:solidFill>
                <a:latin typeface="Arial"/>
                <a:ea typeface="Arial"/>
                <a:cs typeface="Arial"/>
              </a:defRPr>
            </a:defPPr>
            <a:lvl1pPr algn="l">
              <a:defRPr sz="1875" b="1">
                <a:solidFill>
                  <a:srgbClr val="176B87"/>
                </a:solidFill>
                <a:latin typeface="Arial"/>
                <a:ea typeface="Arial"/>
                <a:cs typeface="Arial"/>
              </a:defRPr>
            </a:lvl1pPr>
            <a:lvl2pPr algn="l">
              <a:defRPr sz="1875" b="1">
                <a:solidFill>
                  <a:srgbClr val="176B87"/>
                </a:solidFill>
                <a:latin typeface="Arial"/>
                <a:ea typeface="Arial"/>
                <a:cs typeface="Arial"/>
              </a:defRPr>
            </a:lvl2pPr>
            <a:lvl3pPr algn="l">
              <a:defRPr sz="1875" b="1">
                <a:solidFill>
                  <a:srgbClr val="176B87"/>
                </a:solidFill>
                <a:latin typeface="Arial"/>
                <a:ea typeface="Arial"/>
                <a:cs typeface="Arial"/>
              </a:defRPr>
            </a:lvl3pPr>
            <a:lvl4pPr algn="l">
              <a:defRPr sz="1875" b="1">
                <a:solidFill>
                  <a:srgbClr val="176B87"/>
                </a:solidFill>
                <a:latin typeface="Arial"/>
                <a:ea typeface="Arial"/>
                <a:cs typeface="Arial"/>
              </a:defRPr>
            </a:lvl4pPr>
            <a:lvl5pPr algn="l">
              <a:defRPr sz="1875" b="1">
                <a:solidFill>
                  <a:srgbClr val="176B87"/>
                </a:solidFill>
                <a:latin typeface="Arial"/>
                <a:ea typeface="Arial"/>
                <a:cs typeface="Arial"/>
              </a:defRPr>
            </a:lvl5pPr>
            <a:lvl6pPr algn="l">
              <a:defRPr sz="1875" b="1">
                <a:solidFill>
                  <a:srgbClr val="176B87"/>
                </a:solidFill>
                <a:latin typeface="Arial"/>
                <a:ea typeface="Arial"/>
                <a:cs typeface="Arial"/>
              </a:defRPr>
            </a:lvl6pPr>
            <a:lvl7pPr algn="l">
              <a:defRPr sz="1875" b="1">
                <a:solidFill>
                  <a:srgbClr val="176B87"/>
                </a:solidFill>
                <a:latin typeface="Arial"/>
                <a:ea typeface="Arial"/>
                <a:cs typeface="Arial"/>
              </a:defRPr>
            </a:lvl7pPr>
            <a:lvl8pPr algn="l">
              <a:defRPr sz="1875" b="1">
                <a:solidFill>
                  <a:srgbClr val="176B87"/>
                </a:solidFill>
                <a:latin typeface="Arial"/>
                <a:ea typeface="Arial"/>
                <a:cs typeface="Arial"/>
              </a:defRPr>
            </a:lvl8pPr>
            <a:lvl9pPr algn="l">
              <a:defRPr sz="1875" b="1">
                <a:solidFill>
                  <a:srgbClr val="176B87"/>
                </a:solidFill>
                <a:latin typeface="Arial"/>
                <a:ea typeface="Arial"/>
                <a:cs typeface="Arial"/>
              </a:defRPr>
            </a:lvl9pPr>
          </a:lstStyle>
          <a:p xmlns:a="http://schemas.openxmlformats.org/drawingml/2006/main">
            <a:pPr algn="l">
              <a:defRPr sz="1875" b="1">
                <a:solidFill>
                  <a:srgbClr val="176B87"/>
                </a:solidFill>
                <a:latin typeface="Arial"/>
                <a:ea typeface="Arial"/>
                <a:cs typeface="Arial"/>
              </a:defRPr>
            </a:pPr>
            <a:r>
              <a:rPr sz="1875" b="1">
                <a:solidFill>
                  <a:srgbClr val="176B87"/>
                </a:solidFill>
                <a:latin typeface="Arial"/>
                <a:ea typeface="Arial"/>
                <a:cs typeface="Arial"/>
              </a:rPr>
              <a:t>COLLISIONS</a:t>
            </a:r>
          </a:p>
        </p:txBody>
      </p:sp>
      <p:sp>
        <p:nvSpPr>
          <p:cNvPr id="7" name="model-rows-0">
            <a:extLst xmlns:a="http://schemas.openxmlformats.org/drawingml/2006/main">
              <a:ext uri="{FF2B5EF4-FFF2-40B4-BE49-F238E27FC236}">
                <a16:creationId xmlns:a16="http://schemas.microsoft.com/office/drawing/2014/main" id="{9FBE3738-B2B7-4662-B7C2-50C742980E59}"/>
              </a:ext>
            </a:extLst>
          </p:cNvPr>
          <p:cNvSpPr>
            <a:spLocks xmlns:a="http://schemas.openxmlformats.org/drawingml/2006/main" noGrp="1"/>
          </p:cNvSpPr>
          <p:nvPr/>
        </p:nvSpPr>
        <p:spPr>
          <a:xfrm xmlns:a="http://schemas.openxmlformats.org/drawingml/2006/main">
            <a:off x="9525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513 801 lignes · 44 champs</a:t>
            </a:r>
          </a:p>
        </p:txBody>
      </p:sp>
      <p:sp>
        <p:nvSpPr>
          <p:cNvPr id="8" name="model-key-0">
            <a:extLst xmlns:a="http://schemas.openxmlformats.org/drawingml/2006/main">
              <a:ext uri="{FF2B5EF4-FFF2-40B4-BE49-F238E27FC236}">
                <a16:creationId xmlns:a16="http://schemas.microsoft.com/office/drawing/2014/main" id="{C6066686-6CA8-4ECF-BEE0-EE3F95599DB5}"/>
              </a:ext>
            </a:extLst>
          </p:cNvPr>
          <p:cNvSpPr>
            <a:spLocks xmlns:a="http://schemas.openxmlformats.org/drawingml/2006/main" noGrp="1"/>
          </p:cNvSpPr>
          <p:nvPr/>
        </p:nvSpPr>
        <p:spPr>
          <a:xfrm xmlns:a="http://schemas.openxmlformats.org/drawingml/2006/main">
            <a:off x="9525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a:t>
            </a:r>
          </a:p>
        </p:txBody>
      </p:sp>
      <p:sp>
        <p:nvSpPr>
          <p:cNvPr id="9" name="model-box-1">
            <a:extLst xmlns:a="http://schemas.openxmlformats.org/drawingml/2006/main">
              <a:ext uri="{FF2B5EF4-FFF2-40B4-BE49-F238E27FC236}">
                <a16:creationId xmlns:a16="http://schemas.microsoft.com/office/drawing/2014/main" id="{24F0C7C5-626D-4F09-9D00-FDB01C4CE833}"/>
              </a:ext>
            </a:extLst>
          </p:cNvPr>
          <p:cNvSpPr>
            <a:spLocks xmlns:a="http://schemas.openxmlformats.org/drawingml/2006/main" noGrp="1"/>
          </p:cNvSpPr>
          <p:nvPr/>
        </p:nvSpPr>
        <p:spPr>
          <a:xfrm xmlns:a="http://schemas.openxmlformats.org/drawingml/2006/main">
            <a:off x="44767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10" name="model-accent-1">
            <a:extLst xmlns:a="http://schemas.openxmlformats.org/drawingml/2006/main">
              <a:ext uri="{FF2B5EF4-FFF2-40B4-BE49-F238E27FC236}">
                <a16:creationId xmlns:a16="http://schemas.microsoft.com/office/drawing/2014/main" id="{05CFF2D3-E488-41C8-AEB6-CC603713DC38}"/>
              </a:ext>
            </a:extLst>
          </p:cNvPr>
          <p:cNvSpPr>
            <a:spLocks xmlns:a="http://schemas.openxmlformats.org/drawingml/2006/main" noGrp="1"/>
          </p:cNvSpPr>
          <p:nvPr/>
        </p:nvSpPr>
        <p:spPr>
          <a:xfrm xmlns:a="http://schemas.openxmlformats.org/drawingml/2006/main">
            <a:off x="4476750" y="2524125"/>
            <a:ext cx="3143250" cy="66675"/>
          </a:xfrm>
          <a:prstGeom xmlns:a="http://schemas.openxmlformats.org/drawingml/2006/main" prst="rect">
            <a:avLst/>
          </a:prstGeom>
          <a:solidFill xmlns:a="http://schemas.openxmlformats.org/drawingml/2006/main">
            <a:srgbClr val="3A8997"/>
          </a:solidFill>
          <a:ln xmlns:a="http://schemas.openxmlformats.org/drawingml/2006/main" w="0">
            <a:noFill/>
            <a:prstDash val="solid"/>
          </a:ln>
        </p:spPr>
      </p:sp>
      <p:sp>
        <p:nvSpPr>
          <p:cNvPr id="11" name="model-name-1">
            <a:extLst xmlns:a="http://schemas.openxmlformats.org/drawingml/2006/main">
              <a:ext uri="{FF2B5EF4-FFF2-40B4-BE49-F238E27FC236}">
                <a16:creationId xmlns:a16="http://schemas.microsoft.com/office/drawing/2014/main" id="{9C8844E1-CBAB-4E04-845C-AA71902AF10E}"/>
              </a:ext>
            </a:extLst>
          </p:cNvPr>
          <p:cNvSpPr>
            <a:spLocks xmlns:a="http://schemas.openxmlformats.org/drawingml/2006/main" noGrp="1"/>
          </p:cNvSpPr>
          <p:nvPr/>
        </p:nvSpPr>
        <p:spPr>
          <a:xfrm xmlns:a="http://schemas.openxmlformats.org/drawingml/2006/main">
            <a:off x="46863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3A8997"/>
                </a:solidFill>
                <a:latin typeface="Arial"/>
                <a:ea typeface="Arial"/>
                <a:cs typeface="Arial"/>
              </a:defRPr>
            </a:defPPr>
            <a:lvl1pPr algn="l">
              <a:defRPr sz="1875" b="1">
                <a:solidFill>
                  <a:srgbClr val="3A8997"/>
                </a:solidFill>
                <a:latin typeface="Arial"/>
                <a:ea typeface="Arial"/>
                <a:cs typeface="Arial"/>
              </a:defRPr>
            </a:lvl1pPr>
            <a:lvl2pPr algn="l">
              <a:defRPr sz="1875" b="1">
                <a:solidFill>
                  <a:srgbClr val="3A8997"/>
                </a:solidFill>
                <a:latin typeface="Arial"/>
                <a:ea typeface="Arial"/>
                <a:cs typeface="Arial"/>
              </a:defRPr>
            </a:lvl2pPr>
            <a:lvl3pPr algn="l">
              <a:defRPr sz="1875" b="1">
                <a:solidFill>
                  <a:srgbClr val="3A8997"/>
                </a:solidFill>
                <a:latin typeface="Arial"/>
                <a:ea typeface="Arial"/>
                <a:cs typeface="Arial"/>
              </a:defRPr>
            </a:lvl3pPr>
            <a:lvl4pPr algn="l">
              <a:defRPr sz="1875" b="1">
                <a:solidFill>
                  <a:srgbClr val="3A8997"/>
                </a:solidFill>
                <a:latin typeface="Arial"/>
                <a:ea typeface="Arial"/>
                <a:cs typeface="Arial"/>
              </a:defRPr>
            </a:lvl4pPr>
            <a:lvl5pPr algn="l">
              <a:defRPr sz="1875" b="1">
                <a:solidFill>
                  <a:srgbClr val="3A8997"/>
                </a:solidFill>
                <a:latin typeface="Arial"/>
                <a:ea typeface="Arial"/>
                <a:cs typeface="Arial"/>
              </a:defRPr>
            </a:lvl5pPr>
            <a:lvl6pPr algn="l">
              <a:defRPr sz="1875" b="1">
                <a:solidFill>
                  <a:srgbClr val="3A8997"/>
                </a:solidFill>
                <a:latin typeface="Arial"/>
                <a:ea typeface="Arial"/>
                <a:cs typeface="Arial"/>
              </a:defRPr>
            </a:lvl6pPr>
            <a:lvl7pPr algn="l">
              <a:defRPr sz="1875" b="1">
                <a:solidFill>
                  <a:srgbClr val="3A8997"/>
                </a:solidFill>
                <a:latin typeface="Arial"/>
                <a:ea typeface="Arial"/>
                <a:cs typeface="Arial"/>
              </a:defRPr>
            </a:lvl7pPr>
            <a:lvl8pPr algn="l">
              <a:defRPr sz="1875" b="1">
                <a:solidFill>
                  <a:srgbClr val="3A8997"/>
                </a:solidFill>
                <a:latin typeface="Arial"/>
                <a:ea typeface="Arial"/>
                <a:cs typeface="Arial"/>
              </a:defRPr>
            </a:lvl8pPr>
            <a:lvl9pPr algn="l">
              <a:defRPr sz="1875" b="1">
                <a:solidFill>
                  <a:srgbClr val="3A8997"/>
                </a:solidFill>
                <a:latin typeface="Arial"/>
                <a:ea typeface="Arial"/>
                <a:cs typeface="Arial"/>
              </a:defRPr>
            </a:lvl9pPr>
          </a:lstStyle>
          <a:p xmlns:a="http://schemas.openxmlformats.org/drawingml/2006/main">
            <a:pPr algn="l">
              <a:defRPr sz="1875" b="1">
                <a:solidFill>
                  <a:srgbClr val="3A8997"/>
                </a:solidFill>
                <a:latin typeface="Arial"/>
                <a:ea typeface="Arial"/>
                <a:cs typeface="Arial"/>
              </a:defRPr>
            </a:pPr>
            <a:r>
              <a:rPr sz="1875" b="1">
                <a:solidFill>
                  <a:srgbClr val="3A8997"/>
                </a:solidFill>
                <a:latin typeface="Arial"/>
                <a:ea typeface="Arial"/>
                <a:cs typeface="Arial"/>
              </a:rPr>
              <a:t>VÉHICULES</a:t>
            </a:r>
          </a:p>
        </p:txBody>
      </p:sp>
      <p:sp>
        <p:nvSpPr>
          <p:cNvPr id="12" name="model-rows-1">
            <a:extLst xmlns:a="http://schemas.openxmlformats.org/drawingml/2006/main">
              <a:ext uri="{FF2B5EF4-FFF2-40B4-BE49-F238E27FC236}">
                <a16:creationId xmlns:a16="http://schemas.microsoft.com/office/drawing/2014/main" id="{AA38C5CF-F660-4A2A-9657-072E7E1A83C2}"/>
              </a:ext>
            </a:extLst>
          </p:cNvPr>
          <p:cNvSpPr>
            <a:spLocks xmlns:a="http://schemas.openxmlformats.org/drawingml/2006/main" noGrp="1"/>
          </p:cNvSpPr>
          <p:nvPr/>
        </p:nvSpPr>
        <p:spPr>
          <a:xfrm xmlns:a="http://schemas.openxmlformats.org/drawingml/2006/main">
            <a:off x="46863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937 265 lignes · 32 champs</a:t>
            </a:r>
          </a:p>
        </p:txBody>
      </p:sp>
      <p:sp>
        <p:nvSpPr>
          <p:cNvPr id="13" name="model-key-1">
            <a:extLst xmlns:a="http://schemas.openxmlformats.org/drawingml/2006/main">
              <a:ext uri="{FF2B5EF4-FFF2-40B4-BE49-F238E27FC236}">
                <a16:creationId xmlns:a16="http://schemas.microsoft.com/office/drawing/2014/main" id="{B33894DE-6A6D-431D-9999-787B3BE9ECD2}"/>
              </a:ext>
            </a:extLst>
          </p:cNvPr>
          <p:cNvSpPr>
            <a:spLocks xmlns:a="http://schemas.openxmlformats.org/drawingml/2006/main" noGrp="1"/>
          </p:cNvSpPr>
          <p:nvPr/>
        </p:nvSpPr>
        <p:spPr>
          <a:xfrm xmlns:a="http://schemas.openxmlformats.org/drawingml/2006/main">
            <a:off x="46863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 + vehicle_reference</a:t>
            </a:r>
          </a:p>
        </p:txBody>
      </p:sp>
      <p:sp>
        <p:nvSpPr>
          <p:cNvPr id="14" name="model-box-2">
            <a:extLst xmlns:a="http://schemas.openxmlformats.org/drawingml/2006/main">
              <a:ext uri="{FF2B5EF4-FFF2-40B4-BE49-F238E27FC236}">
                <a16:creationId xmlns:a16="http://schemas.microsoft.com/office/drawing/2014/main" id="{F1E41720-7006-4A4B-B4F0-0799849C6241}"/>
              </a:ext>
            </a:extLst>
          </p:cNvPr>
          <p:cNvSpPr>
            <a:spLocks xmlns:a="http://schemas.openxmlformats.org/drawingml/2006/main" noGrp="1"/>
          </p:cNvSpPr>
          <p:nvPr/>
        </p:nvSpPr>
        <p:spPr>
          <a:xfrm xmlns:a="http://schemas.openxmlformats.org/drawingml/2006/main">
            <a:off x="82105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15" name="model-accent-2">
            <a:extLst xmlns:a="http://schemas.openxmlformats.org/drawingml/2006/main">
              <a:ext uri="{FF2B5EF4-FFF2-40B4-BE49-F238E27FC236}">
                <a16:creationId xmlns:a16="http://schemas.microsoft.com/office/drawing/2014/main" id="{1D7A0B44-16FC-465B-8F26-9E59F2FAEF9D}"/>
              </a:ext>
            </a:extLst>
          </p:cNvPr>
          <p:cNvSpPr>
            <a:spLocks xmlns:a="http://schemas.openxmlformats.org/drawingml/2006/main" noGrp="1"/>
          </p:cNvSpPr>
          <p:nvPr/>
        </p:nvSpPr>
        <p:spPr>
          <a:xfrm xmlns:a="http://schemas.openxmlformats.org/drawingml/2006/main">
            <a:off x="8210550" y="2524125"/>
            <a:ext cx="3143250" cy="6667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16" name="model-name-2">
            <a:extLst xmlns:a="http://schemas.openxmlformats.org/drawingml/2006/main">
              <a:ext uri="{FF2B5EF4-FFF2-40B4-BE49-F238E27FC236}">
                <a16:creationId xmlns:a16="http://schemas.microsoft.com/office/drawing/2014/main" id="{91612562-C289-4945-8B5F-A12B2DCD14BF}"/>
              </a:ext>
            </a:extLst>
          </p:cNvPr>
          <p:cNvSpPr>
            <a:spLocks xmlns:a="http://schemas.openxmlformats.org/drawingml/2006/main" noGrp="1"/>
          </p:cNvSpPr>
          <p:nvPr/>
        </p:nvSpPr>
        <p:spPr>
          <a:xfrm xmlns:a="http://schemas.openxmlformats.org/drawingml/2006/main">
            <a:off x="84201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E2A33B"/>
                </a:solidFill>
                <a:latin typeface="Arial"/>
                <a:ea typeface="Arial"/>
                <a:cs typeface="Arial"/>
              </a:defRPr>
            </a:defPPr>
            <a:lvl1pPr algn="l">
              <a:defRPr sz="1875" b="1">
                <a:solidFill>
                  <a:srgbClr val="E2A33B"/>
                </a:solidFill>
                <a:latin typeface="Arial"/>
                <a:ea typeface="Arial"/>
                <a:cs typeface="Arial"/>
              </a:defRPr>
            </a:lvl1pPr>
            <a:lvl2pPr algn="l">
              <a:defRPr sz="1875" b="1">
                <a:solidFill>
                  <a:srgbClr val="E2A33B"/>
                </a:solidFill>
                <a:latin typeface="Arial"/>
                <a:ea typeface="Arial"/>
                <a:cs typeface="Arial"/>
              </a:defRPr>
            </a:lvl2pPr>
            <a:lvl3pPr algn="l">
              <a:defRPr sz="1875" b="1">
                <a:solidFill>
                  <a:srgbClr val="E2A33B"/>
                </a:solidFill>
                <a:latin typeface="Arial"/>
                <a:ea typeface="Arial"/>
                <a:cs typeface="Arial"/>
              </a:defRPr>
            </a:lvl3pPr>
            <a:lvl4pPr algn="l">
              <a:defRPr sz="1875" b="1">
                <a:solidFill>
                  <a:srgbClr val="E2A33B"/>
                </a:solidFill>
                <a:latin typeface="Arial"/>
                <a:ea typeface="Arial"/>
                <a:cs typeface="Arial"/>
              </a:defRPr>
            </a:lvl4pPr>
            <a:lvl5pPr algn="l">
              <a:defRPr sz="1875" b="1">
                <a:solidFill>
                  <a:srgbClr val="E2A33B"/>
                </a:solidFill>
                <a:latin typeface="Arial"/>
                <a:ea typeface="Arial"/>
                <a:cs typeface="Arial"/>
              </a:defRPr>
            </a:lvl5pPr>
            <a:lvl6pPr algn="l">
              <a:defRPr sz="1875" b="1">
                <a:solidFill>
                  <a:srgbClr val="E2A33B"/>
                </a:solidFill>
                <a:latin typeface="Arial"/>
                <a:ea typeface="Arial"/>
                <a:cs typeface="Arial"/>
              </a:defRPr>
            </a:lvl6pPr>
            <a:lvl7pPr algn="l">
              <a:defRPr sz="1875" b="1">
                <a:solidFill>
                  <a:srgbClr val="E2A33B"/>
                </a:solidFill>
                <a:latin typeface="Arial"/>
                <a:ea typeface="Arial"/>
                <a:cs typeface="Arial"/>
              </a:defRPr>
            </a:lvl7pPr>
            <a:lvl8pPr algn="l">
              <a:defRPr sz="1875" b="1">
                <a:solidFill>
                  <a:srgbClr val="E2A33B"/>
                </a:solidFill>
                <a:latin typeface="Arial"/>
                <a:ea typeface="Arial"/>
                <a:cs typeface="Arial"/>
              </a:defRPr>
            </a:lvl8pPr>
            <a:lvl9pPr algn="l">
              <a:defRPr sz="1875" b="1">
                <a:solidFill>
                  <a:srgbClr val="E2A33B"/>
                </a:solidFill>
                <a:latin typeface="Arial"/>
                <a:ea typeface="Arial"/>
                <a:cs typeface="Arial"/>
              </a:defRPr>
            </a:lvl9pPr>
          </a:lstStyle>
          <a:p xmlns:a="http://schemas.openxmlformats.org/drawingml/2006/main">
            <a:pPr algn="l">
              <a:defRPr sz="1875" b="1">
                <a:solidFill>
                  <a:srgbClr val="E2A33B"/>
                </a:solidFill>
                <a:latin typeface="Arial"/>
                <a:ea typeface="Arial"/>
                <a:cs typeface="Arial"/>
              </a:defRPr>
            </a:pPr>
            <a:r>
              <a:rPr sz="1875" b="1">
                <a:solidFill>
                  <a:srgbClr val="E2A33B"/>
                </a:solidFill>
                <a:latin typeface="Arial"/>
                <a:ea typeface="Arial"/>
                <a:cs typeface="Arial"/>
              </a:rPr>
              <a:t>VICTIMES</a:t>
            </a:r>
          </a:p>
        </p:txBody>
      </p:sp>
      <p:sp>
        <p:nvSpPr>
          <p:cNvPr id="17" name="model-rows-2">
            <a:extLst xmlns:a="http://schemas.openxmlformats.org/drawingml/2006/main">
              <a:ext uri="{FF2B5EF4-FFF2-40B4-BE49-F238E27FC236}">
                <a16:creationId xmlns:a16="http://schemas.microsoft.com/office/drawing/2014/main" id="{F3FBEFA9-177D-4DD3-B459-8C08351421DB}"/>
              </a:ext>
            </a:extLst>
          </p:cNvPr>
          <p:cNvSpPr>
            <a:spLocks xmlns:a="http://schemas.openxmlformats.org/drawingml/2006/main" noGrp="1"/>
          </p:cNvSpPr>
          <p:nvPr/>
        </p:nvSpPr>
        <p:spPr>
          <a:xfrm xmlns:a="http://schemas.openxmlformats.org/drawingml/2006/main">
            <a:off x="84201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652 821 lignes · 24 champs</a:t>
            </a:r>
          </a:p>
        </p:txBody>
      </p:sp>
      <p:sp>
        <p:nvSpPr>
          <p:cNvPr id="18" name="model-key-2">
            <a:extLst xmlns:a="http://schemas.openxmlformats.org/drawingml/2006/main">
              <a:ext uri="{FF2B5EF4-FFF2-40B4-BE49-F238E27FC236}">
                <a16:creationId xmlns:a16="http://schemas.microsoft.com/office/drawing/2014/main" id="{C0B6256C-7D35-42DA-A226-346B49249376}"/>
              </a:ext>
            </a:extLst>
          </p:cNvPr>
          <p:cNvSpPr>
            <a:spLocks xmlns:a="http://schemas.openxmlformats.org/drawingml/2006/main" noGrp="1"/>
          </p:cNvSpPr>
          <p:nvPr/>
        </p:nvSpPr>
        <p:spPr>
          <a:xfrm xmlns:a="http://schemas.openxmlformats.org/drawingml/2006/main">
            <a:off x="84201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 + vehicle_reference</a:t>
            </a:r>
          </a:p>
        </p:txBody>
      </p:sp>
      <p:sp>
        <p:nvSpPr>
          <p:cNvPr id="19" name="model-line-1">
            <a:extLst xmlns:a="http://schemas.openxmlformats.org/drawingml/2006/main">
              <a:ext uri="{FF2B5EF4-FFF2-40B4-BE49-F238E27FC236}">
                <a16:creationId xmlns:a16="http://schemas.microsoft.com/office/drawing/2014/main" id="{1FE54579-6272-4E07-9831-73A59262CF33}"/>
              </a:ext>
            </a:extLst>
          </p:cNvPr>
          <p:cNvSpPr>
            <a:spLocks xmlns:a="http://schemas.openxmlformats.org/drawingml/2006/main" noGrp="1"/>
          </p:cNvSpPr>
          <p:nvPr/>
        </p:nvSpPr>
        <p:spPr>
          <a:xfrm xmlns:a="http://schemas.openxmlformats.org/drawingml/2006/main">
            <a:off x="3886200" y="3333750"/>
            <a:ext cx="59055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0" name="model-line-2">
            <a:extLst xmlns:a="http://schemas.openxmlformats.org/drawingml/2006/main">
              <a:ext uri="{FF2B5EF4-FFF2-40B4-BE49-F238E27FC236}">
                <a16:creationId xmlns:a16="http://schemas.microsoft.com/office/drawing/2014/main" id="{0E0ED24B-A85E-4431-BC30-D303509BC102}"/>
              </a:ext>
            </a:extLst>
          </p:cNvPr>
          <p:cNvSpPr>
            <a:spLocks xmlns:a="http://schemas.openxmlformats.org/drawingml/2006/main" noGrp="1"/>
          </p:cNvSpPr>
          <p:nvPr/>
        </p:nvSpPr>
        <p:spPr>
          <a:xfrm xmlns:a="http://schemas.openxmlformats.org/drawingml/2006/main">
            <a:off x="7620000" y="3333750"/>
            <a:ext cx="59055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1" name="model-relation-1">
            <a:extLst xmlns:a="http://schemas.openxmlformats.org/drawingml/2006/main">
              <a:ext uri="{FF2B5EF4-FFF2-40B4-BE49-F238E27FC236}">
                <a16:creationId xmlns:a16="http://schemas.microsoft.com/office/drawing/2014/main" id="{7FE4BEB4-E5DF-456D-9CA2-08765D615D34}"/>
              </a:ext>
            </a:extLst>
          </p:cNvPr>
          <p:cNvSpPr>
            <a:spLocks xmlns:a="http://schemas.openxmlformats.org/drawingml/2006/main" noGrp="1"/>
          </p:cNvSpPr>
          <p:nvPr/>
        </p:nvSpPr>
        <p:spPr>
          <a:xfrm xmlns:a="http://schemas.openxmlformats.org/drawingml/2006/main">
            <a:off x="3943350" y="298132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ctr">
              <a:defRPr sz="1275" b="1">
                <a:solidFill>
                  <a:srgbClr val="54697B"/>
                </a:solidFill>
                <a:latin typeface="Arial"/>
                <a:ea typeface="Arial"/>
                <a:cs typeface="Arial"/>
              </a:defRPr>
            </a:defPPr>
            <a:lvl1pPr algn="ctr">
              <a:defRPr sz="1275" b="1">
                <a:solidFill>
                  <a:srgbClr val="54697B"/>
                </a:solidFill>
                <a:latin typeface="Arial"/>
                <a:ea typeface="Arial"/>
                <a:cs typeface="Arial"/>
              </a:defRPr>
            </a:lvl1pPr>
            <a:lvl2pPr algn="ctr">
              <a:defRPr sz="1275" b="1">
                <a:solidFill>
                  <a:srgbClr val="54697B"/>
                </a:solidFill>
                <a:latin typeface="Arial"/>
                <a:ea typeface="Arial"/>
                <a:cs typeface="Arial"/>
              </a:defRPr>
            </a:lvl2pPr>
            <a:lvl3pPr algn="ctr">
              <a:defRPr sz="1275" b="1">
                <a:solidFill>
                  <a:srgbClr val="54697B"/>
                </a:solidFill>
                <a:latin typeface="Arial"/>
                <a:ea typeface="Arial"/>
                <a:cs typeface="Arial"/>
              </a:defRPr>
            </a:lvl3pPr>
            <a:lvl4pPr algn="ctr">
              <a:defRPr sz="1275" b="1">
                <a:solidFill>
                  <a:srgbClr val="54697B"/>
                </a:solidFill>
                <a:latin typeface="Arial"/>
                <a:ea typeface="Arial"/>
                <a:cs typeface="Arial"/>
              </a:defRPr>
            </a:lvl4pPr>
            <a:lvl5pPr algn="ctr">
              <a:defRPr sz="1275" b="1">
                <a:solidFill>
                  <a:srgbClr val="54697B"/>
                </a:solidFill>
                <a:latin typeface="Arial"/>
                <a:ea typeface="Arial"/>
                <a:cs typeface="Arial"/>
              </a:defRPr>
            </a:lvl5pPr>
            <a:lvl6pPr algn="ctr">
              <a:defRPr sz="1275" b="1">
                <a:solidFill>
                  <a:srgbClr val="54697B"/>
                </a:solidFill>
                <a:latin typeface="Arial"/>
                <a:ea typeface="Arial"/>
                <a:cs typeface="Arial"/>
              </a:defRPr>
            </a:lvl6pPr>
            <a:lvl7pPr algn="ctr">
              <a:defRPr sz="1275" b="1">
                <a:solidFill>
                  <a:srgbClr val="54697B"/>
                </a:solidFill>
                <a:latin typeface="Arial"/>
                <a:ea typeface="Arial"/>
                <a:cs typeface="Arial"/>
              </a:defRPr>
            </a:lvl7pPr>
            <a:lvl8pPr algn="ctr">
              <a:defRPr sz="1275" b="1">
                <a:solidFill>
                  <a:srgbClr val="54697B"/>
                </a:solidFill>
                <a:latin typeface="Arial"/>
                <a:ea typeface="Arial"/>
                <a:cs typeface="Arial"/>
              </a:defRPr>
            </a:lvl8pPr>
            <a:lvl9pPr algn="ctr">
              <a:defRPr sz="1275" b="1">
                <a:solidFill>
                  <a:srgbClr val="54697B"/>
                </a:solidFill>
                <a:latin typeface="Arial"/>
                <a:ea typeface="Arial"/>
                <a:cs typeface="Arial"/>
              </a:defRPr>
            </a:lvl9pPr>
          </a:lstStyle>
          <a:p xmlns:a="http://schemas.openxmlformats.org/drawingml/2006/main">
            <a:pPr algn="ctr">
              <a:defRPr sz="1275" b="1">
                <a:solidFill>
                  <a:srgbClr val="54697B"/>
                </a:solidFill>
                <a:latin typeface="Arial"/>
                <a:ea typeface="Arial"/>
                <a:cs typeface="Arial"/>
              </a:defRPr>
            </a:pPr>
            <a:r>
              <a:rPr sz="1275" b="1">
                <a:solidFill>
                  <a:srgbClr val="54697B"/>
                </a:solidFill>
                <a:latin typeface="Arial"/>
                <a:ea typeface="Arial"/>
                <a:cs typeface="Arial"/>
              </a:rPr>
              <a:t>1 → n</a:t>
            </a:r>
          </a:p>
        </p:txBody>
      </p:sp>
      <p:sp>
        <p:nvSpPr>
          <p:cNvPr id="22" name="model-relation-2">
            <a:extLst xmlns:a="http://schemas.openxmlformats.org/drawingml/2006/main">
              <a:ext uri="{FF2B5EF4-FFF2-40B4-BE49-F238E27FC236}">
                <a16:creationId xmlns:a16="http://schemas.microsoft.com/office/drawing/2014/main" id="{07E13A98-17FC-4DAE-991A-410D36B4A76C}"/>
              </a:ext>
            </a:extLst>
          </p:cNvPr>
          <p:cNvSpPr>
            <a:spLocks xmlns:a="http://schemas.openxmlformats.org/drawingml/2006/main" noGrp="1"/>
          </p:cNvSpPr>
          <p:nvPr/>
        </p:nvSpPr>
        <p:spPr>
          <a:xfrm xmlns:a="http://schemas.openxmlformats.org/drawingml/2006/main">
            <a:off x="7677150" y="298132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ctr">
              <a:defRPr sz="1275" b="1">
                <a:solidFill>
                  <a:srgbClr val="54697B"/>
                </a:solidFill>
                <a:latin typeface="Arial"/>
                <a:ea typeface="Arial"/>
                <a:cs typeface="Arial"/>
              </a:defRPr>
            </a:defPPr>
            <a:lvl1pPr algn="ctr">
              <a:defRPr sz="1275" b="1">
                <a:solidFill>
                  <a:srgbClr val="54697B"/>
                </a:solidFill>
                <a:latin typeface="Arial"/>
                <a:ea typeface="Arial"/>
                <a:cs typeface="Arial"/>
              </a:defRPr>
            </a:lvl1pPr>
            <a:lvl2pPr algn="ctr">
              <a:defRPr sz="1275" b="1">
                <a:solidFill>
                  <a:srgbClr val="54697B"/>
                </a:solidFill>
                <a:latin typeface="Arial"/>
                <a:ea typeface="Arial"/>
                <a:cs typeface="Arial"/>
              </a:defRPr>
            </a:lvl2pPr>
            <a:lvl3pPr algn="ctr">
              <a:defRPr sz="1275" b="1">
                <a:solidFill>
                  <a:srgbClr val="54697B"/>
                </a:solidFill>
                <a:latin typeface="Arial"/>
                <a:ea typeface="Arial"/>
                <a:cs typeface="Arial"/>
              </a:defRPr>
            </a:lvl3pPr>
            <a:lvl4pPr algn="ctr">
              <a:defRPr sz="1275" b="1">
                <a:solidFill>
                  <a:srgbClr val="54697B"/>
                </a:solidFill>
                <a:latin typeface="Arial"/>
                <a:ea typeface="Arial"/>
                <a:cs typeface="Arial"/>
              </a:defRPr>
            </a:lvl4pPr>
            <a:lvl5pPr algn="ctr">
              <a:defRPr sz="1275" b="1">
                <a:solidFill>
                  <a:srgbClr val="54697B"/>
                </a:solidFill>
                <a:latin typeface="Arial"/>
                <a:ea typeface="Arial"/>
                <a:cs typeface="Arial"/>
              </a:defRPr>
            </a:lvl5pPr>
            <a:lvl6pPr algn="ctr">
              <a:defRPr sz="1275" b="1">
                <a:solidFill>
                  <a:srgbClr val="54697B"/>
                </a:solidFill>
                <a:latin typeface="Arial"/>
                <a:ea typeface="Arial"/>
                <a:cs typeface="Arial"/>
              </a:defRPr>
            </a:lvl6pPr>
            <a:lvl7pPr algn="ctr">
              <a:defRPr sz="1275" b="1">
                <a:solidFill>
                  <a:srgbClr val="54697B"/>
                </a:solidFill>
                <a:latin typeface="Arial"/>
                <a:ea typeface="Arial"/>
                <a:cs typeface="Arial"/>
              </a:defRPr>
            </a:lvl7pPr>
            <a:lvl8pPr algn="ctr">
              <a:defRPr sz="1275" b="1">
                <a:solidFill>
                  <a:srgbClr val="54697B"/>
                </a:solidFill>
                <a:latin typeface="Arial"/>
                <a:ea typeface="Arial"/>
                <a:cs typeface="Arial"/>
              </a:defRPr>
            </a:lvl8pPr>
            <a:lvl9pPr algn="ctr">
              <a:defRPr sz="1275" b="1">
                <a:solidFill>
                  <a:srgbClr val="54697B"/>
                </a:solidFill>
                <a:latin typeface="Arial"/>
                <a:ea typeface="Arial"/>
                <a:cs typeface="Arial"/>
              </a:defRPr>
            </a:lvl9pPr>
          </a:lstStyle>
          <a:p xmlns:a="http://schemas.openxmlformats.org/drawingml/2006/main">
            <a:pPr algn="ctr">
              <a:defRPr sz="1275" b="1">
                <a:solidFill>
                  <a:srgbClr val="54697B"/>
                </a:solidFill>
                <a:latin typeface="Arial"/>
                <a:ea typeface="Arial"/>
                <a:cs typeface="Arial"/>
              </a:defRPr>
            </a:pPr>
            <a:r>
              <a:rPr sz="1275" b="1">
                <a:solidFill>
                  <a:srgbClr val="54697B"/>
                </a:solidFill>
                <a:latin typeface="Arial"/>
                <a:ea typeface="Arial"/>
                <a:cs typeface="Arial"/>
              </a:rPr>
              <a:t>1 → n</a:t>
            </a:r>
          </a:p>
        </p:txBody>
      </p:sp>
      <p:sp>
        <p:nvSpPr>
          <p:cNvPr id="23" name="model-caption">
            <a:extLst xmlns:a="http://schemas.openxmlformats.org/drawingml/2006/main">
              <a:ext uri="{FF2B5EF4-FFF2-40B4-BE49-F238E27FC236}">
                <a16:creationId xmlns:a16="http://schemas.microsoft.com/office/drawing/2014/main" id="{D032211B-DB37-4825-A092-4339842785A9}"/>
              </a:ext>
            </a:extLst>
          </p:cNvPr>
          <p:cNvSpPr>
            <a:spLocks xmlns:a="http://schemas.openxmlformats.org/drawingml/2006/main" noGrp="1"/>
          </p:cNvSpPr>
          <p:nvPr/>
        </p:nvSpPr>
        <p:spPr>
          <a:xfrm xmlns:a="http://schemas.openxmlformats.org/drawingml/2006/main">
            <a:off x="742950" y="50006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54697B"/>
                </a:solidFill>
                <a:latin typeface="Arial"/>
                <a:ea typeface="Arial"/>
                <a:cs typeface="Arial"/>
              </a:defRPr>
            </a:defPPr>
            <a:lvl1pPr algn="l">
              <a:defRPr sz="1575" b="0">
                <a:solidFill>
                  <a:srgbClr val="54697B"/>
                </a:solidFill>
                <a:latin typeface="Arial"/>
                <a:ea typeface="Arial"/>
                <a:cs typeface="Arial"/>
              </a:defRPr>
            </a:lvl1pPr>
            <a:lvl2pPr algn="l">
              <a:defRPr sz="1575" b="0">
                <a:solidFill>
                  <a:srgbClr val="54697B"/>
                </a:solidFill>
                <a:latin typeface="Arial"/>
                <a:ea typeface="Arial"/>
                <a:cs typeface="Arial"/>
              </a:defRPr>
            </a:lvl2pPr>
            <a:lvl3pPr algn="l">
              <a:defRPr sz="1575" b="0">
                <a:solidFill>
                  <a:srgbClr val="54697B"/>
                </a:solidFill>
                <a:latin typeface="Arial"/>
                <a:ea typeface="Arial"/>
                <a:cs typeface="Arial"/>
              </a:defRPr>
            </a:lvl3pPr>
            <a:lvl4pPr algn="l">
              <a:defRPr sz="1575" b="0">
                <a:solidFill>
                  <a:srgbClr val="54697B"/>
                </a:solidFill>
                <a:latin typeface="Arial"/>
                <a:ea typeface="Arial"/>
                <a:cs typeface="Arial"/>
              </a:defRPr>
            </a:lvl4pPr>
            <a:lvl5pPr algn="l">
              <a:defRPr sz="1575" b="0">
                <a:solidFill>
                  <a:srgbClr val="54697B"/>
                </a:solidFill>
                <a:latin typeface="Arial"/>
                <a:ea typeface="Arial"/>
                <a:cs typeface="Arial"/>
              </a:defRPr>
            </a:lvl5pPr>
            <a:lvl6pPr algn="l">
              <a:defRPr sz="1575" b="0">
                <a:solidFill>
                  <a:srgbClr val="54697B"/>
                </a:solidFill>
                <a:latin typeface="Arial"/>
                <a:ea typeface="Arial"/>
                <a:cs typeface="Arial"/>
              </a:defRPr>
            </a:lvl6pPr>
            <a:lvl7pPr algn="l">
              <a:defRPr sz="1575" b="0">
                <a:solidFill>
                  <a:srgbClr val="54697B"/>
                </a:solidFill>
                <a:latin typeface="Arial"/>
                <a:ea typeface="Arial"/>
                <a:cs typeface="Arial"/>
              </a:defRPr>
            </a:lvl7pPr>
            <a:lvl8pPr algn="l">
              <a:defRPr sz="1575" b="0">
                <a:solidFill>
                  <a:srgbClr val="54697B"/>
                </a:solidFill>
                <a:latin typeface="Arial"/>
                <a:ea typeface="Arial"/>
                <a:cs typeface="Arial"/>
              </a:defRPr>
            </a:lvl8pPr>
            <a:lvl9pPr algn="l">
              <a:defRPr sz="1575" b="0">
                <a:solidFill>
                  <a:srgbClr val="54697B"/>
                </a:solidFill>
                <a:latin typeface="Arial"/>
                <a:ea typeface="Arial"/>
                <a:cs typeface="Arial"/>
              </a:defRPr>
            </a:lvl9pPr>
          </a:lstStyle>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Clé de collision commune : collision_index  ·  Une victime est aussi rattachée à un véhicule.</a:t>
            </a:r>
          </a:p>
        </p:txBody>
      </p:sp>
      <p:sp>
        <p:nvSpPr>
          <p:cNvPr id="24" name="model-source">
            <a:extLst xmlns:a="http://schemas.openxmlformats.org/drawingml/2006/main">
              <a:ext uri="{FF2B5EF4-FFF2-40B4-BE49-F238E27FC236}">
                <a16:creationId xmlns:a16="http://schemas.microsoft.com/office/drawing/2014/main" id="{880F0C5B-DA73-4FF0-9102-2A419223BA0C}"/>
              </a:ext>
            </a:extLst>
          </p:cNvPr>
          <p:cNvSpPr>
            <a:spLocks xmlns:a="http://schemas.openxmlformats.org/drawingml/2006/main" noGrp="1"/>
          </p:cNvSpPr>
          <p:nvPr/>
        </p:nvSpPr>
        <p:spPr>
          <a:xfrm xmlns:a="http://schemas.openxmlformats.org/drawingml/2006/main">
            <a:off x="742950" y="6115050"/>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fichiers CSV DfT, extrait 2021–2025</a:t>
            </a:r>
          </a:p>
        </p:txBody>
      </p:sp>
    </p:spTree>
    <p:extLst>
      <p:ext uri="{BB962C8B-B14F-4D97-AF65-F5344CB8AC3E}">
        <p14:creationId xmlns:p14="http://schemas.microsoft.com/office/powerpoint/2010/main" val="853800291"/>
      </p:ext>
    </p:extLst>
  </p:cSld>
</p:sld>
</file>

<file path=ppt/slides/slide7.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7" name="title-7">
            <a:extLst xmlns:a="http://schemas.openxmlformats.org/drawingml/2006/main">
              <a:ext uri="{FF2B5EF4-FFF2-40B4-BE49-F238E27FC236}">
                <a16:creationId xmlns:a16="http://schemas.microsoft.com/office/drawing/2014/main" id="{EAEC0489-89BA-4485-8D9F-E698A8918FCD}"/>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Jeu de données analysé</a:t>
            </a:r>
          </a:p>
        </p:txBody>
      </p:sp>
      <p:sp>
        <p:nvSpPr>
          <p:cNvPr id="2" name="title-rule-7">
            <a:extLst xmlns:a="http://schemas.openxmlformats.org/drawingml/2006/main">
              <a:ext uri="{FF2B5EF4-FFF2-40B4-BE49-F238E27FC236}">
                <a16:creationId xmlns:a16="http://schemas.microsoft.com/office/drawing/2014/main" id="{7AB4ABCE-D849-4A5B-9860-A35D13979394}"/>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7">
            <a:extLst xmlns:a="http://schemas.openxmlformats.org/drawingml/2006/main">
              <a:ext uri="{FF2B5EF4-FFF2-40B4-BE49-F238E27FC236}">
                <a16:creationId xmlns:a16="http://schemas.microsoft.com/office/drawing/2014/main" id="{DBB5F7B2-D2A4-470F-AD95-2A2444562928}"/>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07</a:t>
            </a:r>
          </a:p>
        </p:txBody>
      </p:sp>
      <p:sp>
        <p:nvSpPr>
          <p:cNvPr id="4" name="metric-0-value">
            <a:extLst xmlns:a="http://schemas.openxmlformats.org/drawingml/2006/main">
              <a:ext uri="{FF2B5EF4-FFF2-40B4-BE49-F238E27FC236}">
                <a16:creationId xmlns:a16="http://schemas.microsoft.com/office/drawing/2014/main" id="{1E695D9F-C20C-487A-B581-6C299EBBB37F}"/>
              </a:ext>
            </a:extLst>
          </p:cNvPr>
          <p:cNvSpPr>
            <a:spLocks xmlns:a="http://schemas.openxmlformats.org/drawingml/2006/main" noGrp="1"/>
          </p:cNvSpPr>
          <p:nvPr/>
        </p:nvSpPr>
        <p:spPr>
          <a:xfrm xmlns:a="http://schemas.openxmlformats.org/drawingml/2006/main">
            <a:off x="74295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0283F"/>
                </a:solidFill>
                <a:latin typeface="Arial"/>
                <a:ea typeface="Arial"/>
                <a:cs typeface="Arial"/>
              </a:defRPr>
            </a:defPPr>
            <a:lvl1pPr algn="l">
              <a:defRPr sz="3675" b="1">
                <a:solidFill>
                  <a:srgbClr val="10283F"/>
                </a:solidFill>
                <a:latin typeface="Arial"/>
                <a:ea typeface="Arial"/>
                <a:cs typeface="Arial"/>
              </a:defRPr>
            </a:lvl1pPr>
            <a:lvl2pPr algn="l">
              <a:defRPr sz="3675" b="1">
                <a:solidFill>
                  <a:srgbClr val="10283F"/>
                </a:solidFill>
                <a:latin typeface="Arial"/>
                <a:ea typeface="Arial"/>
                <a:cs typeface="Arial"/>
              </a:defRPr>
            </a:lvl2pPr>
            <a:lvl3pPr algn="l">
              <a:defRPr sz="3675" b="1">
                <a:solidFill>
                  <a:srgbClr val="10283F"/>
                </a:solidFill>
                <a:latin typeface="Arial"/>
                <a:ea typeface="Arial"/>
                <a:cs typeface="Arial"/>
              </a:defRPr>
            </a:lvl3pPr>
            <a:lvl4pPr algn="l">
              <a:defRPr sz="3675" b="1">
                <a:solidFill>
                  <a:srgbClr val="10283F"/>
                </a:solidFill>
                <a:latin typeface="Arial"/>
                <a:ea typeface="Arial"/>
                <a:cs typeface="Arial"/>
              </a:defRPr>
            </a:lvl4pPr>
            <a:lvl5pPr algn="l">
              <a:defRPr sz="3675" b="1">
                <a:solidFill>
                  <a:srgbClr val="10283F"/>
                </a:solidFill>
                <a:latin typeface="Arial"/>
                <a:ea typeface="Arial"/>
                <a:cs typeface="Arial"/>
              </a:defRPr>
            </a:lvl5pPr>
            <a:lvl6pPr algn="l">
              <a:defRPr sz="3675" b="1">
                <a:solidFill>
                  <a:srgbClr val="10283F"/>
                </a:solidFill>
                <a:latin typeface="Arial"/>
                <a:ea typeface="Arial"/>
                <a:cs typeface="Arial"/>
              </a:defRPr>
            </a:lvl6pPr>
            <a:lvl7pPr algn="l">
              <a:defRPr sz="3675" b="1">
                <a:solidFill>
                  <a:srgbClr val="10283F"/>
                </a:solidFill>
                <a:latin typeface="Arial"/>
                <a:ea typeface="Arial"/>
                <a:cs typeface="Arial"/>
              </a:defRPr>
            </a:lvl7pPr>
            <a:lvl8pPr algn="l">
              <a:defRPr sz="3675" b="1">
                <a:solidFill>
                  <a:srgbClr val="10283F"/>
                </a:solidFill>
                <a:latin typeface="Arial"/>
                <a:ea typeface="Arial"/>
                <a:cs typeface="Arial"/>
              </a:defRPr>
            </a:lvl8pPr>
            <a:lvl9pPr algn="l">
              <a:defRPr sz="3675" b="1">
                <a:solidFill>
                  <a:srgbClr val="10283F"/>
                </a:solidFill>
                <a:latin typeface="Arial"/>
                <a:ea typeface="Arial"/>
                <a:cs typeface="Arial"/>
              </a:defRPr>
            </a:lvl9pPr>
          </a:lstStyle>
          <a:p xmlns:a="http://schemas.openxmlformats.org/drawingml/2006/main">
            <a:pPr algn="l">
              <a:defRPr sz="3675" b="1">
                <a:solidFill>
                  <a:srgbClr val="10283F"/>
                </a:solidFill>
                <a:latin typeface="Arial"/>
                <a:ea typeface="Arial"/>
                <a:cs typeface="Arial"/>
              </a:defRPr>
            </a:pPr>
            <a:r>
              <a:rPr sz="3675" b="1">
                <a:solidFill>
                  <a:srgbClr val="10283F"/>
                </a:solidFill>
                <a:latin typeface="Arial"/>
                <a:ea typeface="Arial"/>
                <a:cs typeface="Arial"/>
              </a:rPr>
              <a:t>513 801</a:t>
            </a:r>
          </a:p>
        </p:txBody>
      </p:sp>
      <p:sp>
        <p:nvSpPr>
          <p:cNvPr id="5" name="metric-0-label">
            <a:extLst xmlns:a="http://schemas.openxmlformats.org/drawingml/2006/main">
              <a:ext uri="{FF2B5EF4-FFF2-40B4-BE49-F238E27FC236}">
                <a16:creationId xmlns:a16="http://schemas.microsoft.com/office/drawing/2014/main" id="{F13CFDAD-E39E-4A74-8714-46F5B2FCE619}"/>
              </a:ext>
            </a:extLst>
          </p:cNvPr>
          <p:cNvSpPr>
            <a:spLocks xmlns:a="http://schemas.openxmlformats.org/drawingml/2006/main" noGrp="1"/>
          </p:cNvSpPr>
          <p:nvPr/>
        </p:nvSpPr>
        <p:spPr>
          <a:xfrm xmlns:a="http://schemas.openxmlformats.org/drawingml/2006/main">
            <a:off x="74295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collisions</a:t>
            </a:r>
          </a:p>
        </p:txBody>
      </p:sp>
      <p:sp>
        <p:nvSpPr>
          <p:cNvPr id="6" name="metric-0-sub">
            <a:extLst xmlns:a="http://schemas.openxmlformats.org/drawingml/2006/main">
              <a:ext uri="{FF2B5EF4-FFF2-40B4-BE49-F238E27FC236}">
                <a16:creationId xmlns:a16="http://schemas.microsoft.com/office/drawing/2014/main" id="{5DA6F435-53B3-41FA-A47A-5E38B32060B4}"/>
              </a:ext>
            </a:extLst>
          </p:cNvPr>
          <p:cNvSpPr>
            <a:spLocks xmlns:a="http://schemas.openxmlformats.org/drawingml/2006/main" noGrp="1"/>
          </p:cNvSpPr>
          <p:nvPr/>
        </p:nvSpPr>
        <p:spPr>
          <a:xfrm xmlns:a="http://schemas.openxmlformats.org/drawingml/2006/main">
            <a:off x="74295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44 champs</a:t>
            </a:r>
          </a:p>
        </p:txBody>
      </p:sp>
      <p:sp>
        <p:nvSpPr>
          <p:cNvPr id="7" name="metric-1-value">
            <a:extLst xmlns:a="http://schemas.openxmlformats.org/drawingml/2006/main">
              <a:ext uri="{FF2B5EF4-FFF2-40B4-BE49-F238E27FC236}">
                <a16:creationId xmlns:a16="http://schemas.microsoft.com/office/drawing/2014/main" id="{DEA6A103-D789-4F4A-B5A8-8C57344D8929}"/>
              </a:ext>
            </a:extLst>
          </p:cNvPr>
          <p:cNvSpPr>
            <a:spLocks xmlns:a="http://schemas.openxmlformats.org/drawingml/2006/main" noGrp="1"/>
          </p:cNvSpPr>
          <p:nvPr/>
        </p:nvSpPr>
        <p:spPr>
          <a:xfrm xmlns:a="http://schemas.openxmlformats.org/drawingml/2006/main">
            <a:off x="438150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76B87"/>
                </a:solidFill>
                <a:latin typeface="Arial"/>
                <a:ea typeface="Arial"/>
                <a:cs typeface="Arial"/>
              </a:defRPr>
            </a:defPPr>
            <a:lvl1pPr algn="l">
              <a:defRPr sz="3675" b="1">
                <a:solidFill>
                  <a:srgbClr val="176B87"/>
                </a:solidFill>
                <a:latin typeface="Arial"/>
                <a:ea typeface="Arial"/>
                <a:cs typeface="Arial"/>
              </a:defRPr>
            </a:lvl1pPr>
            <a:lvl2pPr algn="l">
              <a:defRPr sz="3675" b="1">
                <a:solidFill>
                  <a:srgbClr val="176B87"/>
                </a:solidFill>
                <a:latin typeface="Arial"/>
                <a:ea typeface="Arial"/>
                <a:cs typeface="Arial"/>
              </a:defRPr>
            </a:lvl2pPr>
            <a:lvl3pPr algn="l">
              <a:defRPr sz="3675" b="1">
                <a:solidFill>
                  <a:srgbClr val="176B87"/>
                </a:solidFill>
                <a:latin typeface="Arial"/>
                <a:ea typeface="Arial"/>
                <a:cs typeface="Arial"/>
              </a:defRPr>
            </a:lvl3pPr>
            <a:lvl4pPr algn="l">
              <a:defRPr sz="3675" b="1">
                <a:solidFill>
                  <a:srgbClr val="176B87"/>
                </a:solidFill>
                <a:latin typeface="Arial"/>
                <a:ea typeface="Arial"/>
                <a:cs typeface="Arial"/>
              </a:defRPr>
            </a:lvl4pPr>
            <a:lvl5pPr algn="l">
              <a:defRPr sz="3675" b="1">
                <a:solidFill>
                  <a:srgbClr val="176B87"/>
                </a:solidFill>
                <a:latin typeface="Arial"/>
                <a:ea typeface="Arial"/>
                <a:cs typeface="Arial"/>
              </a:defRPr>
            </a:lvl5pPr>
            <a:lvl6pPr algn="l">
              <a:defRPr sz="3675" b="1">
                <a:solidFill>
                  <a:srgbClr val="176B87"/>
                </a:solidFill>
                <a:latin typeface="Arial"/>
                <a:ea typeface="Arial"/>
                <a:cs typeface="Arial"/>
              </a:defRPr>
            </a:lvl6pPr>
            <a:lvl7pPr algn="l">
              <a:defRPr sz="3675" b="1">
                <a:solidFill>
                  <a:srgbClr val="176B87"/>
                </a:solidFill>
                <a:latin typeface="Arial"/>
                <a:ea typeface="Arial"/>
                <a:cs typeface="Arial"/>
              </a:defRPr>
            </a:lvl7pPr>
            <a:lvl8pPr algn="l">
              <a:defRPr sz="3675" b="1">
                <a:solidFill>
                  <a:srgbClr val="176B87"/>
                </a:solidFill>
                <a:latin typeface="Arial"/>
                <a:ea typeface="Arial"/>
                <a:cs typeface="Arial"/>
              </a:defRPr>
            </a:lvl8pPr>
            <a:lvl9pPr algn="l">
              <a:defRPr sz="3675" b="1">
                <a:solidFill>
                  <a:srgbClr val="176B87"/>
                </a:solidFill>
                <a:latin typeface="Arial"/>
                <a:ea typeface="Arial"/>
                <a:cs typeface="Arial"/>
              </a:defRPr>
            </a:lvl9pPr>
          </a:lstStyle>
          <a:p xmlns:a="http://schemas.openxmlformats.org/drawingml/2006/main">
            <a:pPr algn="l">
              <a:defRPr sz="3675" b="1">
                <a:solidFill>
                  <a:srgbClr val="176B87"/>
                </a:solidFill>
                <a:latin typeface="Arial"/>
                <a:ea typeface="Arial"/>
                <a:cs typeface="Arial"/>
              </a:defRPr>
            </a:pPr>
            <a:r>
              <a:rPr sz="3675" b="1">
                <a:solidFill>
                  <a:srgbClr val="176B87"/>
                </a:solidFill>
                <a:latin typeface="Arial"/>
                <a:ea typeface="Arial"/>
                <a:cs typeface="Arial"/>
              </a:rPr>
              <a:t>937 265</a:t>
            </a:r>
          </a:p>
        </p:txBody>
      </p:sp>
      <p:sp>
        <p:nvSpPr>
          <p:cNvPr id="8" name="metric-1-label">
            <a:extLst xmlns:a="http://schemas.openxmlformats.org/drawingml/2006/main">
              <a:ext uri="{FF2B5EF4-FFF2-40B4-BE49-F238E27FC236}">
                <a16:creationId xmlns:a16="http://schemas.microsoft.com/office/drawing/2014/main" id="{1268CE86-462B-48F7-B559-A1432D1ACFE4}"/>
              </a:ext>
            </a:extLst>
          </p:cNvPr>
          <p:cNvSpPr>
            <a:spLocks xmlns:a="http://schemas.openxmlformats.org/drawingml/2006/main" noGrp="1"/>
          </p:cNvSpPr>
          <p:nvPr/>
        </p:nvSpPr>
        <p:spPr>
          <a:xfrm xmlns:a="http://schemas.openxmlformats.org/drawingml/2006/main">
            <a:off x="438150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véhicules</a:t>
            </a:r>
          </a:p>
        </p:txBody>
      </p:sp>
      <p:sp>
        <p:nvSpPr>
          <p:cNvPr id="9" name="metric-1-sub">
            <a:extLst xmlns:a="http://schemas.openxmlformats.org/drawingml/2006/main">
              <a:ext uri="{FF2B5EF4-FFF2-40B4-BE49-F238E27FC236}">
                <a16:creationId xmlns:a16="http://schemas.microsoft.com/office/drawing/2014/main" id="{3C4AD4B6-D902-4C9E-89EC-AF0285268205}"/>
              </a:ext>
            </a:extLst>
          </p:cNvPr>
          <p:cNvSpPr>
            <a:spLocks xmlns:a="http://schemas.openxmlformats.org/drawingml/2006/main" noGrp="1"/>
          </p:cNvSpPr>
          <p:nvPr/>
        </p:nvSpPr>
        <p:spPr>
          <a:xfrm xmlns:a="http://schemas.openxmlformats.org/drawingml/2006/main">
            <a:off x="438150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32 champs</a:t>
            </a:r>
          </a:p>
        </p:txBody>
      </p:sp>
      <p:sp>
        <p:nvSpPr>
          <p:cNvPr id="10" name="metric-2-value">
            <a:extLst xmlns:a="http://schemas.openxmlformats.org/drawingml/2006/main">
              <a:ext uri="{FF2B5EF4-FFF2-40B4-BE49-F238E27FC236}">
                <a16:creationId xmlns:a16="http://schemas.microsoft.com/office/drawing/2014/main" id="{A0FE5058-4634-416C-A000-5402424009EF}"/>
              </a:ext>
            </a:extLst>
          </p:cNvPr>
          <p:cNvSpPr>
            <a:spLocks xmlns:a="http://schemas.openxmlformats.org/drawingml/2006/main" noGrp="1"/>
          </p:cNvSpPr>
          <p:nvPr/>
        </p:nvSpPr>
        <p:spPr>
          <a:xfrm xmlns:a="http://schemas.openxmlformats.org/drawingml/2006/main">
            <a:off x="802005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0283F"/>
                </a:solidFill>
                <a:latin typeface="Arial"/>
                <a:ea typeface="Arial"/>
                <a:cs typeface="Arial"/>
              </a:defRPr>
            </a:defPPr>
            <a:lvl1pPr algn="l">
              <a:defRPr sz="3675" b="1">
                <a:solidFill>
                  <a:srgbClr val="10283F"/>
                </a:solidFill>
                <a:latin typeface="Arial"/>
                <a:ea typeface="Arial"/>
                <a:cs typeface="Arial"/>
              </a:defRPr>
            </a:lvl1pPr>
            <a:lvl2pPr algn="l">
              <a:defRPr sz="3675" b="1">
                <a:solidFill>
                  <a:srgbClr val="10283F"/>
                </a:solidFill>
                <a:latin typeface="Arial"/>
                <a:ea typeface="Arial"/>
                <a:cs typeface="Arial"/>
              </a:defRPr>
            </a:lvl2pPr>
            <a:lvl3pPr algn="l">
              <a:defRPr sz="3675" b="1">
                <a:solidFill>
                  <a:srgbClr val="10283F"/>
                </a:solidFill>
                <a:latin typeface="Arial"/>
                <a:ea typeface="Arial"/>
                <a:cs typeface="Arial"/>
              </a:defRPr>
            </a:lvl3pPr>
            <a:lvl4pPr algn="l">
              <a:defRPr sz="3675" b="1">
                <a:solidFill>
                  <a:srgbClr val="10283F"/>
                </a:solidFill>
                <a:latin typeface="Arial"/>
                <a:ea typeface="Arial"/>
                <a:cs typeface="Arial"/>
              </a:defRPr>
            </a:lvl4pPr>
            <a:lvl5pPr algn="l">
              <a:defRPr sz="3675" b="1">
                <a:solidFill>
                  <a:srgbClr val="10283F"/>
                </a:solidFill>
                <a:latin typeface="Arial"/>
                <a:ea typeface="Arial"/>
                <a:cs typeface="Arial"/>
              </a:defRPr>
            </a:lvl5pPr>
            <a:lvl6pPr algn="l">
              <a:defRPr sz="3675" b="1">
                <a:solidFill>
                  <a:srgbClr val="10283F"/>
                </a:solidFill>
                <a:latin typeface="Arial"/>
                <a:ea typeface="Arial"/>
                <a:cs typeface="Arial"/>
              </a:defRPr>
            </a:lvl6pPr>
            <a:lvl7pPr algn="l">
              <a:defRPr sz="3675" b="1">
                <a:solidFill>
                  <a:srgbClr val="10283F"/>
                </a:solidFill>
                <a:latin typeface="Arial"/>
                <a:ea typeface="Arial"/>
                <a:cs typeface="Arial"/>
              </a:defRPr>
            </a:lvl7pPr>
            <a:lvl8pPr algn="l">
              <a:defRPr sz="3675" b="1">
                <a:solidFill>
                  <a:srgbClr val="10283F"/>
                </a:solidFill>
                <a:latin typeface="Arial"/>
                <a:ea typeface="Arial"/>
                <a:cs typeface="Arial"/>
              </a:defRPr>
            </a:lvl8pPr>
            <a:lvl9pPr algn="l">
              <a:defRPr sz="3675" b="1">
                <a:solidFill>
                  <a:srgbClr val="10283F"/>
                </a:solidFill>
                <a:latin typeface="Arial"/>
                <a:ea typeface="Arial"/>
                <a:cs typeface="Arial"/>
              </a:defRPr>
            </a:lvl9pPr>
          </a:lstStyle>
          <a:p xmlns:a="http://schemas.openxmlformats.org/drawingml/2006/main">
            <a:pPr algn="l">
              <a:defRPr sz="3675" b="1">
                <a:solidFill>
                  <a:srgbClr val="10283F"/>
                </a:solidFill>
                <a:latin typeface="Arial"/>
                <a:ea typeface="Arial"/>
                <a:cs typeface="Arial"/>
              </a:defRPr>
            </a:pPr>
            <a:r>
              <a:rPr sz="3675" b="1">
                <a:solidFill>
                  <a:srgbClr val="10283F"/>
                </a:solidFill>
                <a:latin typeface="Arial"/>
                <a:ea typeface="Arial"/>
                <a:cs typeface="Arial"/>
              </a:rPr>
              <a:t>652 821</a:t>
            </a:r>
          </a:p>
        </p:txBody>
      </p:sp>
      <p:sp>
        <p:nvSpPr>
          <p:cNvPr id="11" name="metric-2-label">
            <a:extLst xmlns:a="http://schemas.openxmlformats.org/drawingml/2006/main">
              <a:ext uri="{FF2B5EF4-FFF2-40B4-BE49-F238E27FC236}">
                <a16:creationId xmlns:a16="http://schemas.microsoft.com/office/drawing/2014/main" id="{84631C4D-1AAF-40AA-9C73-7824AC01C00B}"/>
              </a:ext>
            </a:extLst>
          </p:cNvPr>
          <p:cNvSpPr>
            <a:spLocks xmlns:a="http://schemas.openxmlformats.org/drawingml/2006/main" noGrp="1"/>
          </p:cNvSpPr>
          <p:nvPr/>
        </p:nvSpPr>
        <p:spPr>
          <a:xfrm xmlns:a="http://schemas.openxmlformats.org/drawingml/2006/main">
            <a:off x="802005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victimes</a:t>
            </a:r>
          </a:p>
        </p:txBody>
      </p:sp>
      <p:sp>
        <p:nvSpPr>
          <p:cNvPr id="12" name="metric-2-sub">
            <a:extLst xmlns:a="http://schemas.openxmlformats.org/drawingml/2006/main">
              <a:ext uri="{FF2B5EF4-FFF2-40B4-BE49-F238E27FC236}">
                <a16:creationId xmlns:a16="http://schemas.microsoft.com/office/drawing/2014/main" id="{BE74DBF9-BE40-4C8C-B121-CE0306957817}"/>
              </a:ext>
            </a:extLst>
          </p:cNvPr>
          <p:cNvSpPr>
            <a:spLocks xmlns:a="http://schemas.openxmlformats.org/drawingml/2006/main" noGrp="1"/>
          </p:cNvSpPr>
          <p:nvPr/>
        </p:nvSpPr>
        <p:spPr>
          <a:xfrm xmlns:a="http://schemas.openxmlformats.org/drawingml/2006/main">
            <a:off x="802005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24 champs</a:t>
            </a:r>
          </a:p>
        </p:txBody>
      </p:sp>
      <p:sp>
        <p:nvSpPr>
          <p:cNvPr id="13" name="dataset-divider">
            <a:extLst xmlns:a="http://schemas.openxmlformats.org/drawingml/2006/main">
              <a:ext uri="{FF2B5EF4-FFF2-40B4-BE49-F238E27FC236}">
                <a16:creationId xmlns:a16="http://schemas.microsoft.com/office/drawing/2014/main" id="{483AF9D1-81B9-48DF-A14A-7382229DA85A}"/>
              </a:ext>
            </a:extLst>
          </p:cNvPr>
          <p:cNvSpPr>
            <a:spLocks xmlns:a="http://schemas.openxmlformats.org/drawingml/2006/main" noGrp="1"/>
          </p:cNvSpPr>
          <p:nvPr/>
        </p:nvSpPr>
        <p:spPr>
          <a:xfrm xmlns:a="http://schemas.openxmlformats.org/drawingml/2006/main">
            <a:off x="742950" y="4295775"/>
            <a:ext cx="10382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4" name="dataset-size">
            <a:extLst xmlns:a="http://schemas.openxmlformats.org/drawingml/2006/main">
              <a:ext uri="{FF2B5EF4-FFF2-40B4-BE49-F238E27FC236}">
                <a16:creationId xmlns:a16="http://schemas.microsoft.com/office/drawing/2014/main" id="{1934263C-13A4-4F89-932A-D6E0CD679128}"/>
              </a:ext>
            </a:extLst>
          </p:cNvPr>
          <p:cNvSpPr>
            <a:spLocks xmlns:a="http://schemas.openxmlformats.org/drawingml/2006/main" noGrp="1"/>
          </p:cNvSpPr>
          <p:nvPr/>
        </p:nvSpPr>
        <p:spPr>
          <a:xfrm xmlns:a="http://schemas.openxmlformats.org/drawingml/2006/main">
            <a:off x="742950" y="464820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1">
                <a:solidFill>
                  <a:srgbClr val="176B87"/>
                </a:solidFill>
                <a:latin typeface="Arial"/>
                <a:ea typeface="Arial"/>
                <a:cs typeface="Arial"/>
              </a:defRPr>
            </a:defPPr>
            <a:lvl1pPr algn="l">
              <a:defRPr sz="3300" b="1">
                <a:solidFill>
                  <a:srgbClr val="176B87"/>
                </a:solidFill>
                <a:latin typeface="Arial"/>
                <a:ea typeface="Arial"/>
                <a:cs typeface="Arial"/>
              </a:defRPr>
            </a:lvl1pPr>
            <a:lvl2pPr algn="l">
              <a:defRPr sz="3300" b="1">
                <a:solidFill>
                  <a:srgbClr val="176B87"/>
                </a:solidFill>
                <a:latin typeface="Arial"/>
                <a:ea typeface="Arial"/>
                <a:cs typeface="Arial"/>
              </a:defRPr>
            </a:lvl2pPr>
            <a:lvl3pPr algn="l">
              <a:defRPr sz="3300" b="1">
                <a:solidFill>
                  <a:srgbClr val="176B87"/>
                </a:solidFill>
                <a:latin typeface="Arial"/>
                <a:ea typeface="Arial"/>
                <a:cs typeface="Arial"/>
              </a:defRPr>
            </a:lvl3pPr>
            <a:lvl4pPr algn="l">
              <a:defRPr sz="3300" b="1">
                <a:solidFill>
                  <a:srgbClr val="176B87"/>
                </a:solidFill>
                <a:latin typeface="Arial"/>
                <a:ea typeface="Arial"/>
                <a:cs typeface="Arial"/>
              </a:defRPr>
            </a:lvl4pPr>
            <a:lvl5pPr algn="l">
              <a:defRPr sz="3300" b="1">
                <a:solidFill>
                  <a:srgbClr val="176B87"/>
                </a:solidFill>
                <a:latin typeface="Arial"/>
                <a:ea typeface="Arial"/>
                <a:cs typeface="Arial"/>
              </a:defRPr>
            </a:lvl5pPr>
            <a:lvl6pPr algn="l">
              <a:defRPr sz="3300" b="1">
                <a:solidFill>
                  <a:srgbClr val="176B87"/>
                </a:solidFill>
                <a:latin typeface="Arial"/>
                <a:ea typeface="Arial"/>
                <a:cs typeface="Arial"/>
              </a:defRPr>
            </a:lvl6pPr>
            <a:lvl7pPr algn="l">
              <a:defRPr sz="3300" b="1">
                <a:solidFill>
                  <a:srgbClr val="176B87"/>
                </a:solidFill>
                <a:latin typeface="Arial"/>
                <a:ea typeface="Arial"/>
                <a:cs typeface="Arial"/>
              </a:defRPr>
            </a:lvl7pPr>
            <a:lvl8pPr algn="l">
              <a:defRPr sz="3300" b="1">
                <a:solidFill>
                  <a:srgbClr val="176B87"/>
                </a:solidFill>
                <a:latin typeface="Arial"/>
                <a:ea typeface="Arial"/>
                <a:cs typeface="Arial"/>
              </a:defRPr>
            </a:lvl8pPr>
            <a:lvl9pPr algn="l">
              <a:defRPr sz="3300" b="1">
                <a:solidFill>
                  <a:srgbClr val="176B87"/>
                </a:solidFill>
                <a:latin typeface="Arial"/>
                <a:ea typeface="Arial"/>
                <a:cs typeface="Arial"/>
              </a:defRPr>
            </a:lvl9pPr>
          </a:lstStyle>
          <a:p xmlns:a="http://schemas.openxmlformats.org/drawingml/2006/main">
            <a:pPr algn="l">
              <a:defRPr sz="3300" b="1">
                <a:solidFill>
                  <a:srgbClr val="176B87"/>
                </a:solidFill>
                <a:latin typeface="Arial"/>
                <a:ea typeface="Arial"/>
                <a:cs typeface="Arial"/>
              </a:defRPr>
            </a:pPr>
            <a:r>
              <a:rPr sz="3300" b="1">
                <a:solidFill>
                  <a:srgbClr val="176B87"/>
                </a:solidFill>
                <a:latin typeface="Arial"/>
                <a:ea typeface="Arial"/>
                <a:cs typeface="Arial"/>
              </a:rPr>
              <a:t>≈255 Mo</a:t>
            </a:r>
          </a:p>
        </p:txBody>
      </p:sp>
      <p:sp>
        <p:nvSpPr>
          <p:cNvPr id="15" name="dataset-size-caption">
            <a:extLst xmlns:a="http://schemas.openxmlformats.org/drawingml/2006/main">
              <a:ext uri="{FF2B5EF4-FFF2-40B4-BE49-F238E27FC236}">
                <a16:creationId xmlns:a16="http://schemas.microsoft.com/office/drawing/2014/main" id="{EE3B1295-18BC-42BC-80F0-D261F4DC2B9F}"/>
              </a:ext>
            </a:extLst>
          </p:cNvPr>
          <p:cNvSpPr>
            <a:spLocks xmlns:a="http://schemas.openxmlformats.org/drawingml/2006/main" noGrp="1"/>
          </p:cNvSpPr>
          <p:nvPr/>
        </p:nvSpPr>
        <p:spPr>
          <a:xfrm xmlns:a="http://schemas.openxmlformats.org/drawingml/2006/main">
            <a:off x="3486150" y="4714875"/>
            <a:ext cx="666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taille totale des trois CSV téléchargés localement</a:t>
            </a:r>
          </a:p>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(données brutes exclues du dépôt Git)</a:t>
            </a:r>
          </a:p>
        </p:txBody>
      </p:sp>
      <p:sp>
        <p:nvSpPr>
          <p:cNvPr id="16" name="dataset-source">
            <a:extLst xmlns:a="http://schemas.openxmlformats.org/drawingml/2006/main">
              <a:ext uri="{FF2B5EF4-FFF2-40B4-BE49-F238E27FC236}">
                <a16:creationId xmlns:a16="http://schemas.microsoft.com/office/drawing/2014/main" id="{BCE200C8-598F-4010-883E-DE0F23C4BA97}"/>
              </a:ext>
            </a:extLst>
          </p:cNvPr>
          <p:cNvSpPr>
            <a:spLocks xmlns:a="http://schemas.openxmlformats.org/drawingml/2006/main" noGrp="1"/>
          </p:cNvSpPr>
          <p:nvPr/>
        </p:nvSpPr>
        <p:spPr>
          <a:xfrm xmlns:a="http://schemas.openxmlformats.org/drawingml/2006/main">
            <a:off x="742950" y="611505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Tailles calculées depuis les fichiers téléchargés ; volumes de lignes calculés sur les CSV.</a:t>
            </a:r>
          </a:p>
        </p:txBody>
      </p:sp>
    </p:spTree>
    <p:extLst>
      <p:ext uri="{BB962C8B-B14F-4D97-AF65-F5344CB8AC3E}">
        <p14:creationId xmlns:p14="http://schemas.microsoft.com/office/powerpoint/2010/main" val="1793260623"/>
      </p:ext>
    </p:extLst>
  </p:cSld>
</p:sld>
</file>

<file path=ppt/slides/slide8.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3" name="title-8">
            <a:extLst xmlns:a="http://schemas.openxmlformats.org/drawingml/2006/main">
              <a:ext uri="{FF2B5EF4-FFF2-40B4-BE49-F238E27FC236}">
                <a16:creationId xmlns:a16="http://schemas.microsoft.com/office/drawing/2014/main" id="{6008B933-43F2-43AF-B31A-EF9024FC8467}"/>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Contrôles de cohérence</a:t>
            </a:r>
          </a:p>
        </p:txBody>
      </p:sp>
      <p:sp>
        <p:nvSpPr>
          <p:cNvPr id="2" name="title-rule-8">
            <a:extLst xmlns:a="http://schemas.openxmlformats.org/drawingml/2006/main">
              <a:ext uri="{FF2B5EF4-FFF2-40B4-BE49-F238E27FC236}">
                <a16:creationId xmlns:a16="http://schemas.microsoft.com/office/drawing/2014/main" id="{F1B7453E-D440-4DC1-A76B-96DA9F34B5FF}"/>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8">
            <a:extLst xmlns:a="http://schemas.openxmlformats.org/drawingml/2006/main">
              <a:ext uri="{FF2B5EF4-FFF2-40B4-BE49-F238E27FC236}">
                <a16:creationId xmlns:a16="http://schemas.microsoft.com/office/drawing/2014/main" id="{F31522A8-C1BA-483F-A69B-154BAA294CF4}"/>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08</a:t>
            </a:r>
          </a:p>
        </p:txBody>
      </p:sp>
      <p:sp>
        <p:nvSpPr>
          <p:cNvPr id="4" name="check-0-metric">
            <a:extLst xmlns:a="http://schemas.openxmlformats.org/drawingml/2006/main">
              <a:ext uri="{FF2B5EF4-FFF2-40B4-BE49-F238E27FC236}">
                <a16:creationId xmlns:a16="http://schemas.microsoft.com/office/drawing/2014/main" id="{0ACAEAF6-0B4D-4C0F-B836-7DAC44837071}"/>
              </a:ext>
            </a:extLst>
          </p:cNvPr>
          <p:cNvSpPr>
            <a:spLocks xmlns:a="http://schemas.openxmlformats.org/drawingml/2006/main" noGrp="1"/>
          </p:cNvSpPr>
          <p:nvPr/>
        </p:nvSpPr>
        <p:spPr>
          <a:xfrm xmlns:a="http://schemas.openxmlformats.org/drawingml/2006/main">
            <a:off x="742950" y="1695450"/>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0</a:t>
            </a:r>
          </a:p>
        </p:txBody>
      </p:sp>
      <p:sp>
        <p:nvSpPr>
          <p:cNvPr id="5" name="check-0-desc">
            <a:extLst xmlns:a="http://schemas.openxmlformats.org/drawingml/2006/main">
              <a:ext uri="{FF2B5EF4-FFF2-40B4-BE49-F238E27FC236}">
                <a16:creationId xmlns:a16="http://schemas.microsoft.com/office/drawing/2014/main" id="{9F1D628F-D526-4640-B73A-18334707E03F}"/>
              </a:ext>
            </a:extLst>
          </p:cNvPr>
          <p:cNvSpPr>
            <a:spLocks xmlns:a="http://schemas.openxmlformats.org/drawingml/2006/main" noGrp="1"/>
          </p:cNvSpPr>
          <p:nvPr/>
        </p:nvSpPr>
        <p:spPr>
          <a:xfrm xmlns:a="http://schemas.openxmlformats.org/drawingml/2006/main">
            <a:off x="2857500" y="1771650"/>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clé de collision absente ou dupliquée dans la table collisions</a:t>
            </a:r>
          </a:p>
        </p:txBody>
      </p:sp>
      <p:sp>
        <p:nvSpPr>
          <p:cNvPr id="6" name="check-0-divider">
            <a:extLst xmlns:a="http://schemas.openxmlformats.org/drawingml/2006/main">
              <a:ext uri="{FF2B5EF4-FFF2-40B4-BE49-F238E27FC236}">
                <a16:creationId xmlns:a16="http://schemas.microsoft.com/office/drawing/2014/main" id="{57E25CF0-8EBE-4F56-A6AB-A9247E8A522C}"/>
              </a:ext>
            </a:extLst>
          </p:cNvPr>
          <p:cNvSpPr>
            <a:spLocks xmlns:a="http://schemas.openxmlformats.org/drawingml/2006/main" noGrp="1"/>
          </p:cNvSpPr>
          <p:nvPr/>
        </p:nvSpPr>
        <p:spPr>
          <a:xfrm xmlns:a="http://schemas.openxmlformats.org/drawingml/2006/main">
            <a:off x="2857500" y="2609850"/>
            <a:ext cx="8096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7" name="check-1-metric">
            <a:extLst xmlns:a="http://schemas.openxmlformats.org/drawingml/2006/main">
              <a:ext uri="{FF2B5EF4-FFF2-40B4-BE49-F238E27FC236}">
                <a16:creationId xmlns:a16="http://schemas.microsoft.com/office/drawing/2014/main" id="{EE1826C1-1705-4465-8268-EB72AA29FD63}"/>
              </a:ext>
            </a:extLst>
          </p:cNvPr>
          <p:cNvSpPr>
            <a:spLocks xmlns:a="http://schemas.openxmlformats.org/drawingml/2006/main" noGrp="1"/>
          </p:cNvSpPr>
          <p:nvPr/>
        </p:nvSpPr>
        <p:spPr>
          <a:xfrm xmlns:a="http://schemas.openxmlformats.org/drawingml/2006/main">
            <a:off x="742950" y="3000375"/>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0</a:t>
            </a:r>
          </a:p>
        </p:txBody>
      </p:sp>
      <p:sp>
        <p:nvSpPr>
          <p:cNvPr id="8" name="check-1-desc">
            <a:extLst xmlns:a="http://schemas.openxmlformats.org/drawingml/2006/main">
              <a:ext uri="{FF2B5EF4-FFF2-40B4-BE49-F238E27FC236}">
                <a16:creationId xmlns:a16="http://schemas.microsoft.com/office/drawing/2014/main" id="{6032F551-F504-4B6E-8A5B-4A3E47B2C07C}"/>
              </a:ext>
            </a:extLst>
          </p:cNvPr>
          <p:cNvSpPr>
            <a:spLocks xmlns:a="http://schemas.openxmlformats.org/drawingml/2006/main" noGrp="1"/>
          </p:cNvSpPr>
          <p:nvPr/>
        </p:nvSpPr>
        <p:spPr>
          <a:xfrm xmlns:a="http://schemas.openxmlformats.org/drawingml/2006/main">
            <a:off x="2857500" y="3076575"/>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ligne véhicule ou victime sans collision correspondante</a:t>
            </a:r>
          </a:p>
        </p:txBody>
      </p:sp>
      <p:sp>
        <p:nvSpPr>
          <p:cNvPr id="9" name="check-1-divider">
            <a:extLst xmlns:a="http://schemas.openxmlformats.org/drawingml/2006/main">
              <a:ext uri="{FF2B5EF4-FFF2-40B4-BE49-F238E27FC236}">
                <a16:creationId xmlns:a16="http://schemas.microsoft.com/office/drawing/2014/main" id="{E5ABF364-4870-437B-944B-CF7F974FC5AC}"/>
              </a:ext>
            </a:extLst>
          </p:cNvPr>
          <p:cNvSpPr>
            <a:spLocks xmlns:a="http://schemas.openxmlformats.org/drawingml/2006/main" noGrp="1"/>
          </p:cNvSpPr>
          <p:nvPr/>
        </p:nvSpPr>
        <p:spPr>
          <a:xfrm xmlns:a="http://schemas.openxmlformats.org/drawingml/2006/main">
            <a:off x="2857500" y="3914775"/>
            <a:ext cx="8096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0" name="check-2-metric">
            <a:extLst xmlns:a="http://schemas.openxmlformats.org/drawingml/2006/main">
              <a:ext uri="{FF2B5EF4-FFF2-40B4-BE49-F238E27FC236}">
                <a16:creationId xmlns:a16="http://schemas.microsoft.com/office/drawing/2014/main" id="{37E284C0-21DF-4351-B91E-B596A06AB54A}"/>
              </a:ext>
            </a:extLst>
          </p:cNvPr>
          <p:cNvSpPr>
            <a:spLocks xmlns:a="http://schemas.openxmlformats.org/drawingml/2006/main" noGrp="1"/>
          </p:cNvSpPr>
          <p:nvPr/>
        </p:nvSpPr>
        <p:spPr>
          <a:xfrm xmlns:a="http://schemas.openxmlformats.org/drawingml/2006/main">
            <a:off x="742950" y="4305300"/>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100 %</a:t>
            </a:r>
          </a:p>
        </p:txBody>
      </p:sp>
      <p:sp>
        <p:nvSpPr>
          <p:cNvPr id="11" name="check-2-desc">
            <a:extLst xmlns:a="http://schemas.openxmlformats.org/drawingml/2006/main">
              <a:ext uri="{FF2B5EF4-FFF2-40B4-BE49-F238E27FC236}">
                <a16:creationId xmlns:a16="http://schemas.microsoft.com/office/drawing/2014/main" id="{6AE13B68-27BA-470A-81AC-1BF99452B2FE}"/>
              </a:ext>
            </a:extLst>
          </p:cNvPr>
          <p:cNvSpPr>
            <a:spLocks xmlns:a="http://schemas.openxmlformats.org/drawingml/2006/main" noGrp="1"/>
          </p:cNvSpPr>
          <p:nvPr/>
        </p:nvSpPr>
        <p:spPr>
          <a:xfrm xmlns:a="http://schemas.openxmlformats.org/drawingml/2006/main">
            <a:off x="2857500" y="4381500"/>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concordance entre le compte de victimes et les lignes de la table victimes</a:t>
            </a:r>
          </a:p>
        </p:txBody>
      </p:sp>
      <p:sp>
        <p:nvSpPr>
          <p:cNvPr id="12" name="checks-caveat">
            <a:extLst xmlns:a="http://schemas.openxmlformats.org/drawingml/2006/main">
              <a:ext uri="{FF2B5EF4-FFF2-40B4-BE49-F238E27FC236}">
                <a16:creationId xmlns:a16="http://schemas.microsoft.com/office/drawing/2014/main" id="{EA4105C1-FE23-423C-9AB2-9DA26F50D309}"/>
              </a:ext>
            </a:extLst>
          </p:cNvPr>
          <p:cNvSpPr>
            <a:spLocks xmlns:a="http://schemas.openxmlformats.org/drawingml/2006/main" noGrp="1"/>
          </p:cNvSpPr>
          <p:nvPr/>
        </p:nvSpPr>
        <p:spPr>
          <a:xfrm xmlns:a="http://schemas.openxmlformats.org/drawingml/2006/main">
            <a:off x="742950" y="5810250"/>
            <a:ext cx="1028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Contrôles calculés sur les trois fichiers 2021–2025 ; ils ne valident pas chaque valeur métier.</a:t>
            </a:r>
          </a:p>
        </p:txBody>
      </p:sp>
    </p:spTree>
    <p:extLst>
      <p:ext uri="{BB962C8B-B14F-4D97-AF65-F5344CB8AC3E}">
        <p14:creationId xmlns:p14="http://schemas.microsoft.com/office/powerpoint/2010/main" val="1510854659"/>
      </p:ext>
    </p:extLst>
  </p:cSld>
</p:sld>
</file>

<file path=ppt/slides/slide9.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0" name="title-9">
            <a:extLst xmlns:a="http://schemas.openxmlformats.org/drawingml/2006/main">
              <a:ext uri="{FF2B5EF4-FFF2-40B4-BE49-F238E27FC236}">
                <a16:creationId xmlns:a16="http://schemas.microsoft.com/office/drawing/2014/main" id="{6A449804-B028-4A98-87E5-8FE2D17648B3}"/>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Collisions enregistrées par année</a:t>
            </a:r>
          </a:p>
        </p:txBody>
      </p:sp>
      <p:sp>
        <p:nvSpPr>
          <p:cNvPr id="2" name="title-rule-9">
            <a:extLst xmlns:a="http://schemas.openxmlformats.org/drawingml/2006/main">
              <a:ext uri="{FF2B5EF4-FFF2-40B4-BE49-F238E27FC236}">
                <a16:creationId xmlns:a16="http://schemas.microsoft.com/office/drawing/2014/main" id="{F7B12914-3499-47B3-8843-F0738947761C}"/>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9">
            <a:extLst xmlns:a="http://schemas.openxmlformats.org/drawingml/2006/main">
              <a:ext uri="{FF2B5EF4-FFF2-40B4-BE49-F238E27FC236}">
                <a16:creationId xmlns:a16="http://schemas.microsoft.com/office/drawing/2014/main" id="{39BE77DA-FE78-4089-832B-AF4AC3AC1C6D}"/>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09</a:t>
            </a:r>
          </a:p>
        </p:txBody>
      </p:sp>
      <p:sp>
        <p:nvSpPr>
          <p:cNvPr id="4" name="annual-lead">
            <a:extLst xmlns:a="http://schemas.openxmlformats.org/drawingml/2006/main">
              <a:ext uri="{FF2B5EF4-FFF2-40B4-BE49-F238E27FC236}">
                <a16:creationId xmlns:a16="http://schemas.microsoft.com/office/drawing/2014/main" id="{80F56ED1-425B-47DF-B7CE-8CEFE04DF969}"/>
              </a:ext>
            </a:extLst>
          </p:cNvPr>
          <p:cNvSpPr>
            <a:spLocks xmlns:a="http://schemas.openxmlformats.org/drawingml/2006/main" noGrp="1"/>
          </p:cNvSpPr>
          <p:nvPr/>
        </p:nvSpPr>
        <p:spPr>
          <a:xfrm xmlns:a="http://schemas.openxmlformats.org/drawingml/2006/main">
            <a:off x="742950" y="1504950"/>
            <a:ext cx="990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Le volume annuel reste proche de 100 000 collisions.</a:t>
            </a:r>
          </a:p>
        </p:txBody>
      </p:sp>
      <p:graphicFrame>
        <p:nvGraphicFramePr>
          <p:cNvPr id="5" name="Chart">
            <a:extLst xmlns:a="http://schemas.openxmlformats.org/drawingml/2006/main">
              <a:ext uri="{FF2B5EF4-FFF2-40B4-BE49-F238E27FC236}">
                <a16:creationId xmlns:a16="http://schemas.microsoft.com/office/drawing/2014/main" id="{DC19B177-3F66-40C5-BB30-83DE1D3E8B14}"/>
              </a:ext>
            </a:extLst>
          </p:cNvPr>
          <p:cNvGraphicFramePr/>
          <p:nvPr/>
        </p:nvGraphicFramePr>
        <p:xfrm>
          <a:off xmlns:a="http://schemas.openxmlformats.org/drawingml/2006/main" x="781050" y="2143125"/>
          <a:ext xmlns:a="http://schemas.openxmlformats.org/drawingml/2006/main" cx="8096250" cy="3429000"/>
        </p:xfrm>
        <a:graphic xmlns:a="http://schemas.openxmlformats.org/drawingml/2006/main">
          <a:graphicData uri="http://schemas.openxmlformats.org/drawingml/2006/chart">
            <c:chart xmlns:r="http://schemas.openxmlformats.org/officeDocument/2006/relationships" xmlns:c="http://schemas.openxmlformats.org/drawingml/2006/chart" r:id="Rf937b87ea5174533"/>
          </a:graphicData>
        </a:graphic>
      </p:graphicFrame>
      <p:sp>
        <p:nvSpPr>
          <p:cNvPr id="6" name="annual-callout">
            <a:extLst xmlns:a="http://schemas.openxmlformats.org/drawingml/2006/main">
              <a:ext uri="{FF2B5EF4-FFF2-40B4-BE49-F238E27FC236}">
                <a16:creationId xmlns:a16="http://schemas.microsoft.com/office/drawing/2014/main" id="{86AEA7D7-64FF-4B42-AB58-43241F21262F}"/>
              </a:ext>
            </a:extLst>
          </p:cNvPr>
          <p:cNvSpPr>
            <a:spLocks xmlns:a="http://schemas.openxmlformats.org/drawingml/2006/main" noGrp="1"/>
          </p:cNvSpPr>
          <p:nvPr/>
        </p:nvSpPr>
        <p:spPr>
          <a:xfrm xmlns:a="http://schemas.openxmlformats.org/drawingml/2006/main">
            <a:off x="9277350" y="27051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1">
                <a:solidFill>
                  <a:srgbClr val="176B87"/>
                </a:solidFill>
                <a:latin typeface="Arial"/>
                <a:ea typeface="Arial"/>
                <a:cs typeface="Arial"/>
              </a:defRPr>
            </a:defPPr>
            <a:lvl1pPr algn="l">
              <a:defRPr sz="3150" b="1">
                <a:solidFill>
                  <a:srgbClr val="176B87"/>
                </a:solidFill>
                <a:latin typeface="Arial"/>
                <a:ea typeface="Arial"/>
                <a:cs typeface="Arial"/>
              </a:defRPr>
            </a:lvl1pPr>
            <a:lvl2pPr algn="l">
              <a:defRPr sz="3150" b="1">
                <a:solidFill>
                  <a:srgbClr val="176B87"/>
                </a:solidFill>
                <a:latin typeface="Arial"/>
                <a:ea typeface="Arial"/>
                <a:cs typeface="Arial"/>
              </a:defRPr>
            </a:lvl2pPr>
            <a:lvl3pPr algn="l">
              <a:defRPr sz="3150" b="1">
                <a:solidFill>
                  <a:srgbClr val="176B87"/>
                </a:solidFill>
                <a:latin typeface="Arial"/>
                <a:ea typeface="Arial"/>
                <a:cs typeface="Arial"/>
              </a:defRPr>
            </a:lvl3pPr>
            <a:lvl4pPr algn="l">
              <a:defRPr sz="3150" b="1">
                <a:solidFill>
                  <a:srgbClr val="176B87"/>
                </a:solidFill>
                <a:latin typeface="Arial"/>
                <a:ea typeface="Arial"/>
                <a:cs typeface="Arial"/>
              </a:defRPr>
            </a:lvl4pPr>
            <a:lvl5pPr algn="l">
              <a:defRPr sz="3150" b="1">
                <a:solidFill>
                  <a:srgbClr val="176B87"/>
                </a:solidFill>
                <a:latin typeface="Arial"/>
                <a:ea typeface="Arial"/>
                <a:cs typeface="Arial"/>
              </a:defRPr>
            </a:lvl5pPr>
            <a:lvl6pPr algn="l">
              <a:defRPr sz="3150" b="1">
                <a:solidFill>
                  <a:srgbClr val="176B87"/>
                </a:solidFill>
                <a:latin typeface="Arial"/>
                <a:ea typeface="Arial"/>
                <a:cs typeface="Arial"/>
              </a:defRPr>
            </a:lvl6pPr>
            <a:lvl7pPr algn="l">
              <a:defRPr sz="3150" b="1">
                <a:solidFill>
                  <a:srgbClr val="176B87"/>
                </a:solidFill>
                <a:latin typeface="Arial"/>
                <a:ea typeface="Arial"/>
                <a:cs typeface="Arial"/>
              </a:defRPr>
            </a:lvl7pPr>
            <a:lvl8pPr algn="l">
              <a:defRPr sz="3150" b="1">
                <a:solidFill>
                  <a:srgbClr val="176B87"/>
                </a:solidFill>
                <a:latin typeface="Arial"/>
                <a:ea typeface="Arial"/>
                <a:cs typeface="Arial"/>
              </a:defRPr>
            </a:lvl8pPr>
            <a:lvl9pPr algn="l">
              <a:defRPr sz="3150" b="1">
                <a:solidFill>
                  <a:srgbClr val="176B87"/>
                </a:solidFill>
                <a:latin typeface="Arial"/>
                <a:ea typeface="Arial"/>
                <a:cs typeface="Arial"/>
              </a:defRPr>
            </a:lvl9pPr>
          </a:lstStyle>
          <a:p xmlns:a="http://schemas.openxmlformats.org/drawingml/2006/main">
            <a:pPr algn="l">
              <a:defRPr sz="3150" b="1">
                <a:solidFill>
                  <a:srgbClr val="176B87"/>
                </a:solidFill>
                <a:latin typeface="Arial"/>
                <a:ea typeface="Arial"/>
                <a:cs typeface="Arial"/>
              </a:defRPr>
            </a:pPr>
            <a:r>
              <a:rPr sz="3150" b="1">
                <a:solidFill>
                  <a:srgbClr val="176B87"/>
                </a:solidFill>
                <a:latin typeface="Arial"/>
                <a:ea typeface="Arial"/>
                <a:cs typeface="Arial"/>
              </a:rPr>
              <a:t>+0,4 %</a:t>
            </a:r>
          </a:p>
        </p:txBody>
      </p:sp>
      <p:sp>
        <p:nvSpPr>
          <p:cNvPr id="7" name="annual-callout-caption">
            <a:extLst xmlns:a="http://schemas.openxmlformats.org/drawingml/2006/main">
              <a:ext uri="{FF2B5EF4-FFF2-40B4-BE49-F238E27FC236}">
                <a16:creationId xmlns:a16="http://schemas.microsoft.com/office/drawing/2014/main" id="{38DAA109-445E-48DF-B381-5988274ABF95}"/>
              </a:ext>
            </a:extLst>
          </p:cNvPr>
          <p:cNvSpPr>
            <a:spLocks xmlns:a="http://schemas.openxmlformats.org/drawingml/2006/main" noGrp="1"/>
          </p:cNvSpPr>
          <p:nvPr/>
        </p:nvSpPr>
        <p:spPr>
          <a:xfrm xmlns:a="http://schemas.openxmlformats.org/drawingml/2006/main">
            <a:off x="9277350" y="3400425"/>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variation entre 2021 et 2025</a:t>
            </a:r>
          </a:p>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(101 087 → 101 525)</a:t>
            </a:r>
          </a:p>
        </p:txBody>
      </p:sp>
      <p:sp>
        <p:nvSpPr>
          <p:cNvPr id="8" name="annual-limit">
            <a:extLst xmlns:a="http://schemas.openxmlformats.org/drawingml/2006/main">
              <a:ext uri="{FF2B5EF4-FFF2-40B4-BE49-F238E27FC236}">
                <a16:creationId xmlns:a16="http://schemas.microsoft.com/office/drawing/2014/main" id="{23FB5B31-9C7B-476F-8B41-1C4C1F3BD990}"/>
              </a:ext>
            </a:extLst>
          </p:cNvPr>
          <p:cNvSpPr>
            <a:spLocks xmlns:a="http://schemas.openxmlformats.org/drawingml/2006/main" noGrp="1"/>
          </p:cNvSpPr>
          <p:nvPr/>
        </p:nvSpPr>
        <p:spPr>
          <a:xfrm xmlns:a="http://schemas.openxmlformats.org/drawingml/2006/main">
            <a:off x="9277350" y="4667250"/>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1">
                <a:solidFill>
                  <a:srgbClr val="C75A55"/>
                </a:solidFill>
                <a:latin typeface="Arial"/>
                <a:ea typeface="Arial"/>
                <a:cs typeface="Arial"/>
              </a:defRPr>
            </a:defPPr>
            <a:lvl1pPr algn="l">
              <a:defRPr sz="1500" b="1">
                <a:solidFill>
                  <a:srgbClr val="C75A55"/>
                </a:solidFill>
                <a:latin typeface="Arial"/>
                <a:ea typeface="Arial"/>
                <a:cs typeface="Arial"/>
              </a:defRPr>
            </a:lvl1pPr>
            <a:lvl2pPr algn="l">
              <a:defRPr sz="1500" b="1">
                <a:solidFill>
                  <a:srgbClr val="C75A55"/>
                </a:solidFill>
                <a:latin typeface="Arial"/>
                <a:ea typeface="Arial"/>
                <a:cs typeface="Arial"/>
              </a:defRPr>
            </a:lvl2pPr>
            <a:lvl3pPr algn="l">
              <a:defRPr sz="1500" b="1">
                <a:solidFill>
                  <a:srgbClr val="C75A55"/>
                </a:solidFill>
                <a:latin typeface="Arial"/>
                <a:ea typeface="Arial"/>
                <a:cs typeface="Arial"/>
              </a:defRPr>
            </a:lvl3pPr>
            <a:lvl4pPr algn="l">
              <a:defRPr sz="1500" b="1">
                <a:solidFill>
                  <a:srgbClr val="C75A55"/>
                </a:solidFill>
                <a:latin typeface="Arial"/>
                <a:ea typeface="Arial"/>
                <a:cs typeface="Arial"/>
              </a:defRPr>
            </a:lvl4pPr>
            <a:lvl5pPr algn="l">
              <a:defRPr sz="1500" b="1">
                <a:solidFill>
                  <a:srgbClr val="C75A55"/>
                </a:solidFill>
                <a:latin typeface="Arial"/>
                <a:ea typeface="Arial"/>
                <a:cs typeface="Arial"/>
              </a:defRPr>
            </a:lvl5pPr>
            <a:lvl6pPr algn="l">
              <a:defRPr sz="1500" b="1">
                <a:solidFill>
                  <a:srgbClr val="C75A55"/>
                </a:solidFill>
                <a:latin typeface="Arial"/>
                <a:ea typeface="Arial"/>
                <a:cs typeface="Arial"/>
              </a:defRPr>
            </a:lvl6pPr>
            <a:lvl7pPr algn="l">
              <a:defRPr sz="1500" b="1">
                <a:solidFill>
                  <a:srgbClr val="C75A55"/>
                </a:solidFill>
                <a:latin typeface="Arial"/>
                <a:ea typeface="Arial"/>
                <a:cs typeface="Arial"/>
              </a:defRPr>
            </a:lvl7pPr>
            <a:lvl8pPr algn="l">
              <a:defRPr sz="1500" b="1">
                <a:solidFill>
                  <a:srgbClr val="C75A55"/>
                </a:solidFill>
                <a:latin typeface="Arial"/>
                <a:ea typeface="Arial"/>
                <a:cs typeface="Arial"/>
              </a:defRPr>
            </a:lvl8pPr>
            <a:lvl9pPr algn="l">
              <a:defRPr sz="1500" b="1">
                <a:solidFill>
                  <a:srgbClr val="C75A55"/>
                </a:solidFill>
                <a:latin typeface="Arial"/>
                <a:ea typeface="Arial"/>
                <a:cs typeface="Arial"/>
              </a:defRPr>
            </a:lvl9pPr>
          </a:lstStyle>
          <a:p xmlns:a="http://schemas.openxmlformats.org/drawingml/2006/main">
            <a:pPr algn="l">
              <a:defRPr sz="1500" b="1">
                <a:solidFill>
                  <a:srgbClr val="C75A55"/>
                </a:solidFill>
                <a:latin typeface="Arial"/>
                <a:ea typeface="Arial"/>
                <a:cs typeface="Arial"/>
              </a:defRPr>
            </a:pPr>
            <a:r>
              <a:rPr sz="1500" b="1">
                <a:solidFill>
                  <a:srgbClr val="C75A55"/>
                </a:solidFill>
                <a:latin typeface="Arial"/>
                <a:ea typeface="Arial"/>
                <a:cs typeface="Arial"/>
              </a:rPr>
              <a:t>Comptes observés, sans dénominateur de trafic.</a:t>
            </a:r>
          </a:p>
        </p:txBody>
      </p:sp>
      <p:sp>
        <p:nvSpPr>
          <p:cNvPr id="9" name="annual-source">
            <a:extLst xmlns:a="http://schemas.openxmlformats.org/drawingml/2006/main">
              <a:ext uri="{FF2B5EF4-FFF2-40B4-BE49-F238E27FC236}">
                <a16:creationId xmlns:a16="http://schemas.microsoft.com/office/drawing/2014/main" id="{77C905E8-60B9-496E-8925-B320FB15D65B}"/>
              </a:ext>
            </a:extLst>
          </p:cNvPr>
          <p:cNvSpPr>
            <a:spLocks xmlns:a="http://schemas.openxmlformats.org/drawingml/2006/main" noGrp="1"/>
          </p:cNvSpPr>
          <p:nvPr/>
        </p:nvSpPr>
        <p:spPr>
          <a:xfrm xmlns:a="http://schemas.openxmlformats.org/drawingml/2006/main">
            <a:off x="742950" y="6115050"/>
            <a:ext cx="762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DfT · STATS19, CSV collisions 2021–2025</a:t>
            </a:r>
          </a:p>
        </p:txBody>
      </p:sp>
    </p:spTree>
    <p:extLst>
      <p:ext uri="{BB962C8B-B14F-4D97-AF65-F5344CB8AC3E}">
        <p14:creationId xmlns:p14="http://schemas.microsoft.com/office/powerpoint/2010/main" val="974752277"/>
      </p:ext>
    </p:extLst>
  </p:cSld>
</p:sld>
</file>

<file path=ppt/slides/slide10.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9" name="title-10">
            <a:extLst xmlns:a="http://schemas.openxmlformats.org/drawingml/2006/main">
              <a:ext uri="{FF2B5EF4-FFF2-40B4-BE49-F238E27FC236}">
                <a16:creationId xmlns:a16="http://schemas.microsoft.com/office/drawing/2014/main" id="{62F0B46B-3866-452E-A61F-3B55ED9F0E2D}"/>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Gravité : lire les ajustements</a:t>
            </a:r>
          </a:p>
        </p:txBody>
      </p:sp>
      <p:sp>
        <p:nvSpPr>
          <p:cNvPr id="2" name="title-rule-10">
            <a:extLst xmlns:a="http://schemas.openxmlformats.org/drawingml/2006/main">
              <a:ext uri="{FF2B5EF4-FFF2-40B4-BE49-F238E27FC236}">
                <a16:creationId xmlns:a16="http://schemas.microsoft.com/office/drawing/2014/main" id="{7AF6E649-F6A3-4D1D-8895-9D23631621AB}"/>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10">
            <a:extLst xmlns:a="http://schemas.openxmlformats.org/drawingml/2006/main">
              <a:ext uri="{FF2B5EF4-FFF2-40B4-BE49-F238E27FC236}">
                <a16:creationId xmlns:a16="http://schemas.microsoft.com/office/drawing/2014/main" id="{9A730614-738E-4403-B070-10DDE873A934}"/>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10</a:t>
            </a:r>
          </a:p>
        </p:txBody>
      </p:sp>
      <p:sp>
        <p:nvSpPr>
          <p:cNvPr id="4" name="severity-lead">
            <a:extLst xmlns:a="http://schemas.openxmlformats.org/drawingml/2006/main">
              <a:ext uri="{FF2B5EF4-FFF2-40B4-BE49-F238E27FC236}">
                <a16:creationId xmlns:a16="http://schemas.microsoft.com/office/drawing/2014/main" id="{00543C20-3F97-4303-A0FF-472C76445308}"/>
              </a:ext>
            </a:extLst>
          </p:cNvPr>
          <p:cNvSpPr>
            <a:spLocks xmlns:a="http://schemas.openxmlformats.org/drawingml/2006/main" noGrp="1"/>
          </p:cNvSpPr>
          <p:nvPr/>
        </p:nvSpPr>
        <p:spPr>
          <a:xfrm xmlns:a="http://schemas.openxmlformats.org/drawingml/2006/main">
            <a:off x="742950" y="15049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La mesure des blessures a changé selon les forces de police.</a:t>
            </a:r>
          </a:p>
        </p:txBody>
      </p:sp>
      <p:graphicFrame>
        <p:nvGraphicFramePr>
          <p:cNvPr id="5" name="Chart">
            <a:extLst xmlns:a="http://schemas.openxmlformats.org/drawingml/2006/main">
              <a:ext uri="{FF2B5EF4-FFF2-40B4-BE49-F238E27FC236}">
                <a16:creationId xmlns:a16="http://schemas.microsoft.com/office/drawing/2014/main" id="{8CAC216A-7B82-4456-8748-EF40DAC5C6A1}"/>
              </a:ext>
            </a:extLst>
          </p:cNvPr>
          <p:cNvGraphicFramePr/>
          <p:nvPr/>
        </p:nvGraphicFramePr>
        <p:xfrm>
          <a:off xmlns:a="http://schemas.openxmlformats.org/drawingml/2006/main" x="742950" y="2181225"/>
          <a:ext xmlns:a="http://schemas.openxmlformats.org/drawingml/2006/main" cx="7334250" cy="3429000"/>
        </p:xfrm>
        <a:graphic xmlns:a="http://schemas.openxmlformats.org/drawingml/2006/main">
          <a:graphicData uri="http://schemas.openxmlformats.org/drawingml/2006/chart">
            <c:chart xmlns:r="http://schemas.openxmlformats.org/officeDocument/2006/relationships" xmlns:c="http://schemas.openxmlformats.org/drawingml/2006/chart" r:id="R0a667882aeb1437b"/>
          </a:graphicData>
        </a:graphic>
      </p:graphicFrame>
      <p:sp>
        <p:nvSpPr>
          <p:cNvPr id="6" name="severity-note-head">
            <a:extLst xmlns:a="http://schemas.openxmlformats.org/drawingml/2006/main">
              <a:ext uri="{FF2B5EF4-FFF2-40B4-BE49-F238E27FC236}">
                <a16:creationId xmlns:a16="http://schemas.microsoft.com/office/drawing/2014/main" id="{BC730D8D-BCD6-47A8-9D1F-CD81670702CF}"/>
              </a:ext>
            </a:extLst>
          </p:cNvPr>
          <p:cNvSpPr>
            <a:spLocks xmlns:a="http://schemas.openxmlformats.org/drawingml/2006/main" noGrp="1"/>
          </p:cNvSpPr>
          <p:nvPr/>
        </p:nvSpPr>
        <p:spPr>
          <a:xfrm xmlns:a="http://schemas.openxmlformats.org/drawingml/2006/main">
            <a:off x="8496300" y="2324100"/>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176B87"/>
                </a:solidFill>
                <a:latin typeface="Arial"/>
                <a:ea typeface="Arial"/>
                <a:cs typeface="Arial"/>
              </a:defRPr>
            </a:defPPr>
            <a:lvl1pPr algn="l">
              <a:defRPr sz="1875" b="1">
                <a:solidFill>
                  <a:srgbClr val="176B87"/>
                </a:solidFill>
                <a:latin typeface="Arial"/>
                <a:ea typeface="Arial"/>
                <a:cs typeface="Arial"/>
              </a:defRPr>
            </a:lvl1pPr>
            <a:lvl2pPr algn="l">
              <a:defRPr sz="1875" b="1">
                <a:solidFill>
                  <a:srgbClr val="176B87"/>
                </a:solidFill>
                <a:latin typeface="Arial"/>
                <a:ea typeface="Arial"/>
                <a:cs typeface="Arial"/>
              </a:defRPr>
            </a:lvl2pPr>
            <a:lvl3pPr algn="l">
              <a:defRPr sz="1875" b="1">
                <a:solidFill>
                  <a:srgbClr val="176B87"/>
                </a:solidFill>
                <a:latin typeface="Arial"/>
                <a:ea typeface="Arial"/>
                <a:cs typeface="Arial"/>
              </a:defRPr>
            </a:lvl3pPr>
            <a:lvl4pPr algn="l">
              <a:defRPr sz="1875" b="1">
                <a:solidFill>
                  <a:srgbClr val="176B87"/>
                </a:solidFill>
                <a:latin typeface="Arial"/>
                <a:ea typeface="Arial"/>
                <a:cs typeface="Arial"/>
              </a:defRPr>
            </a:lvl4pPr>
            <a:lvl5pPr algn="l">
              <a:defRPr sz="1875" b="1">
                <a:solidFill>
                  <a:srgbClr val="176B87"/>
                </a:solidFill>
                <a:latin typeface="Arial"/>
                <a:ea typeface="Arial"/>
                <a:cs typeface="Arial"/>
              </a:defRPr>
            </a:lvl5pPr>
            <a:lvl6pPr algn="l">
              <a:defRPr sz="1875" b="1">
                <a:solidFill>
                  <a:srgbClr val="176B87"/>
                </a:solidFill>
                <a:latin typeface="Arial"/>
                <a:ea typeface="Arial"/>
                <a:cs typeface="Arial"/>
              </a:defRPr>
            </a:lvl6pPr>
            <a:lvl7pPr algn="l">
              <a:defRPr sz="1875" b="1">
                <a:solidFill>
                  <a:srgbClr val="176B87"/>
                </a:solidFill>
                <a:latin typeface="Arial"/>
                <a:ea typeface="Arial"/>
                <a:cs typeface="Arial"/>
              </a:defRPr>
            </a:lvl7pPr>
            <a:lvl8pPr algn="l">
              <a:defRPr sz="1875" b="1">
                <a:solidFill>
                  <a:srgbClr val="176B87"/>
                </a:solidFill>
                <a:latin typeface="Arial"/>
                <a:ea typeface="Arial"/>
                <a:cs typeface="Arial"/>
              </a:defRPr>
            </a:lvl8pPr>
            <a:lvl9pPr algn="l">
              <a:defRPr sz="1875" b="1">
                <a:solidFill>
                  <a:srgbClr val="176B87"/>
                </a:solidFill>
                <a:latin typeface="Arial"/>
                <a:ea typeface="Arial"/>
                <a:cs typeface="Arial"/>
              </a:defRPr>
            </a:lvl9pPr>
          </a:lstStyle>
          <a:p xmlns:a="http://schemas.openxmlformats.org/drawingml/2006/main">
            <a:pPr algn="l">
              <a:defRPr sz="1875" b="1">
                <a:solidFill>
                  <a:srgbClr val="176B87"/>
                </a:solidFill>
                <a:latin typeface="Arial"/>
                <a:ea typeface="Arial"/>
                <a:cs typeface="Arial"/>
              </a:defRPr>
            </a:pPr>
            <a:r>
              <a:rPr sz="1875" b="1">
                <a:solidFill>
                  <a:srgbClr val="176B87"/>
                </a:solidFill>
                <a:latin typeface="Arial"/>
                <a:ea typeface="Arial"/>
                <a:cs typeface="Arial"/>
              </a:rPr>
              <a:t>Pourquoi ajuster ?</a:t>
            </a:r>
          </a:p>
        </p:txBody>
      </p:sp>
      <p:sp>
        <p:nvSpPr>
          <p:cNvPr id="7" name="severity-note">
            <a:extLst xmlns:a="http://schemas.openxmlformats.org/drawingml/2006/main">
              <a:ext uri="{FF2B5EF4-FFF2-40B4-BE49-F238E27FC236}">
                <a16:creationId xmlns:a16="http://schemas.microsoft.com/office/drawing/2014/main" id="{27EE0771-B040-41BA-843E-2977A9B16806}"/>
              </a:ext>
            </a:extLst>
          </p:cNvPr>
          <p:cNvSpPr>
            <a:spLocks xmlns:a="http://schemas.openxmlformats.org/drawingml/2006/main" noGrp="1"/>
          </p:cNvSpPr>
          <p:nvPr/>
        </p:nvSpPr>
        <p:spPr>
          <a:xfrm xmlns:a="http://schemas.openxmlformats.org/drawingml/2006/main">
            <a:off x="8496300" y="2819400"/>
            <a:ext cx="29527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54697B"/>
                </a:solidFill>
                <a:latin typeface="Arial"/>
                <a:ea typeface="Arial"/>
                <a:cs typeface="Arial"/>
              </a:defRPr>
            </a:defPPr>
            <a:lvl1pPr algn="l">
              <a:defRPr sz="1575" b="0">
                <a:solidFill>
                  <a:srgbClr val="54697B"/>
                </a:solidFill>
                <a:latin typeface="Arial"/>
                <a:ea typeface="Arial"/>
                <a:cs typeface="Arial"/>
              </a:defRPr>
            </a:lvl1pPr>
            <a:lvl2pPr algn="l">
              <a:defRPr sz="1575" b="0">
                <a:solidFill>
                  <a:srgbClr val="54697B"/>
                </a:solidFill>
                <a:latin typeface="Arial"/>
                <a:ea typeface="Arial"/>
                <a:cs typeface="Arial"/>
              </a:defRPr>
            </a:lvl2pPr>
            <a:lvl3pPr algn="l">
              <a:defRPr sz="1575" b="0">
                <a:solidFill>
                  <a:srgbClr val="54697B"/>
                </a:solidFill>
                <a:latin typeface="Arial"/>
                <a:ea typeface="Arial"/>
                <a:cs typeface="Arial"/>
              </a:defRPr>
            </a:lvl3pPr>
            <a:lvl4pPr algn="l">
              <a:defRPr sz="1575" b="0">
                <a:solidFill>
                  <a:srgbClr val="54697B"/>
                </a:solidFill>
                <a:latin typeface="Arial"/>
                <a:ea typeface="Arial"/>
                <a:cs typeface="Arial"/>
              </a:defRPr>
            </a:lvl4pPr>
            <a:lvl5pPr algn="l">
              <a:defRPr sz="1575" b="0">
                <a:solidFill>
                  <a:srgbClr val="54697B"/>
                </a:solidFill>
                <a:latin typeface="Arial"/>
                <a:ea typeface="Arial"/>
                <a:cs typeface="Arial"/>
              </a:defRPr>
            </a:lvl5pPr>
            <a:lvl6pPr algn="l">
              <a:defRPr sz="1575" b="0">
                <a:solidFill>
                  <a:srgbClr val="54697B"/>
                </a:solidFill>
                <a:latin typeface="Arial"/>
                <a:ea typeface="Arial"/>
                <a:cs typeface="Arial"/>
              </a:defRPr>
            </a:lvl6pPr>
            <a:lvl7pPr algn="l">
              <a:defRPr sz="1575" b="0">
                <a:solidFill>
                  <a:srgbClr val="54697B"/>
                </a:solidFill>
                <a:latin typeface="Arial"/>
                <a:ea typeface="Arial"/>
                <a:cs typeface="Arial"/>
              </a:defRPr>
            </a:lvl7pPr>
            <a:lvl8pPr algn="l">
              <a:defRPr sz="1575" b="0">
                <a:solidFill>
                  <a:srgbClr val="54697B"/>
                </a:solidFill>
                <a:latin typeface="Arial"/>
                <a:ea typeface="Arial"/>
                <a:cs typeface="Arial"/>
              </a:defRPr>
            </a:lvl8pPr>
            <a:lvl9pPr algn="l">
              <a:defRPr sz="1575" b="0">
                <a:solidFill>
                  <a:srgbClr val="54697B"/>
                </a:solidFill>
                <a:latin typeface="Arial"/>
                <a:ea typeface="Arial"/>
                <a:cs typeface="Arial"/>
              </a:defRPr>
            </a:lvl9pPr>
          </a:lstStyle>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Le DfT fournit des estimations ajustées pour tenir compte du passage de certaines forces à une déclaration fondée sur les blessures.</a:t>
            </a:r>
          </a:p>
          <a:p xmlns:a="http://schemas.openxmlformats.org/drawingml/2006/main">
            <a:r>
              <a:t/>
            </a:r>
          </a:p>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Les courbes sont des sommes d’estimations, pas des taux de risque.</a:t>
            </a:r>
          </a:p>
        </p:txBody>
      </p:sp>
      <p:sp>
        <p:nvSpPr>
          <p:cNvPr id="8" name="severity-source">
            <a:extLst xmlns:a="http://schemas.openxmlformats.org/drawingml/2006/main">
              <a:ext uri="{FF2B5EF4-FFF2-40B4-BE49-F238E27FC236}">
                <a16:creationId xmlns:a16="http://schemas.microsoft.com/office/drawing/2014/main" id="{235FD6D0-84FE-41C3-8795-31ACC9D59C62}"/>
              </a:ext>
            </a:extLst>
          </p:cNvPr>
          <p:cNvSpPr>
            <a:spLocks xmlns:a="http://schemas.openxmlformats.org/drawingml/2006/main" noGrp="1"/>
          </p:cNvSpPr>
          <p:nvPr/>
        </p:nvSpPr>
        <p:spPr>
          <a:xfrm xmlns:a="http://schemas.openxmlformats.org/drawingml/2006/main">
            <a:off x="742950" y="61150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Variables d’ajustement présentes dans le CSV collisions ; guide DfT sur la gravité</a:t>
            </a:r>
          </a:p>
        </p:txBody>
      </p:sp>
    </p:spTree>
    <p:extLst>
      <p:ext uri="{BB962C8B-B14F-4D97-AF65-F5344CB8AC3E}">
        <p14:creationId xmlns:p14="http://schemas.microsoft.com/office/powerpoint/2010/main" val="1716991243"/>
      </p:ext>
    </p:extLst>
  </p:cSld>
</p:sld>
</file>

<file path=ppt/slides/slide11.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2" name="title-11">
            <a:extLst xmlns:a="http://schemas.openxmlformats.org/drawingml/2006/main">
              <a:ext uri="{FF2B5EF4-FFF2-40B4-BE49-F238E27FC236}">
                <a16:creationId xmlns:a16="http://schemas.microsoft.com/office/drawing/2014/main" id="{8A42EEF9-267D-4367-B2A5-28B1653F3DD7}"/>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Périodes et routes</a:t>
            </a:r>
          </a:p>
        </p:txBody>
      </p:sp>
      <p:sp>
        <p:nvSpPr>
          <p:cNvPr id="2" name="title-rule-11">
            <a:extLst xmlns:a="http://schemas.openxmlformats.org/drawingml/2006/main">
              <a:ext uri="{FF2B5EF4-FFF2-40B4-BE49-F238E27FC236}">
                <a16:creationId xmlns:a16="http://schemas.microsoft.com/office/drawing/2014/main" id="{BCB527ED-5A78-4F77-9CFC-D513D44E9F79}"/>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11">
            <a:extLst xmlns:a="http://schemas.openxmlformats.org/drawingml/2006/main">
              <a:ext uri="{FF2B5EF4-FFF2-40B4-BE49-F238E27FC236}">
                <a16:creationId xmlns:a16="http://schemas.microsoft.com/office/drawing/2014/main" id="{4560149E-1746-4197-BF13-DDC0DBC9953D}"/>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11</a:t>
            </a:r>
          </a:p>
        </p:txBody>
      </p:sp>
      <p:sp>
        <p:nvSpPr>
          <p:cNvPr id="4" name="time-lead">
            <a:extLst xmlns:a="http://schemas.openxmlformats.org/drawingml/2006/main">
              <a:ext uri="{FF2B5EF4-FFF2-40B4-BE49-F238E27FC236}">
                <a16:creationId xmlns:a16="http://schemas.microsoft.com/office/drawing/2014/main" id="{8F78CFB4-DE70-4257-A098-A8DEB15FF154}"/>
              </a:ext>
            </a:extLst>
          </p:cNvPr>
          <p:cNvSpPr>
            <a:spLocks xmlns:a="http://schemas.openxmlformats.org/drawingml/2006/main" noGrp="1"/>
          </p:cNvSpPr>
          <p:nvPr/>
        </p:nvSpPr>
        <p:spPr>
          <a:xfrm xmlns:a="http://schemas.openxmlformats.org/drawingml/2006/main">
            <a:off x="742950" y="15049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Les enregistrements se concentrent en fin d’après-midi.</a:t>
            </a:r>
          </a:p>
        </p:txBody>
      </p:sp>
      <p:graphicFrame>
        <p:nvGraphicFramePr>
          <p:cNvPr id="5" name="Chart">
            <a:extLst xmlns:a="http://schemas.openxmlformats.org/drawingml/2006/main">
              <a:ext uri="{FF2B5EF4-FFF2-40B4-BE49-F238E27FC236}">
                <a16:creationId xmlns:a16="http://schemas.microsoft.com/office/drawing/2014/main" id="{7F4986F2-0CD6-4A4A-B1B6-372BFAF04B90}"/>
              </a:ext>
            </a:extLst>
          </p:cNvPr>
          <p:cNvGraphicFramePr/>
          <p:nvPr/>
        </p:nvGraphicFramePr>
        <p:xfrm>
          <a:off xmlns:a="http://schemas.openxmlformats.org/drawingml/2006/main" x="742950" y="2200275"/>
          <a:ext xmlns:a="http://schemas.openxmlformats.org/drawingml/2006/main" cx="6191250" cy="3476625"/>
        </p:xfrm>
        <a:graphic xmlns:a="http://schemas.openxmlformats.org/drawingml/2006/main">
          <a:graphicData uri="http://schemas.openxmlformats.org/drawingml/2006/chart">
            <c:chart xmlns:r="http://schemas.openxmlformats.org/officeDocument/2006/relationships" xmlns:c="http://schemas.openxmlformats.org/drawingml/2006/chart" r:id="Rcfe4c18f0d2f42a6"/>
          </a:graphicData>
        </a:graphic>
      </p:graphicFrame>
      <p:sp>
        <p:nvSpPr>
          <p:cNvPr id="6" name="time-highlight">
            <a:extLst xmlns:a="http://schemas.openxmlformats.org/drawingml/2006/main">
              <a:ext uri="{FF2B5EF4-FFF2-40B4-BE49-F238E27FC236}">
                <a16:creationId xmlns:a16="http://schemas.microsoft.com/office/drawing/2014/main" id="{D4F05C21-B87E-45FF-B3BA-3B4FE8E234C5}"/>
              </a:ext>
            </a:extLst>
          </p:cNvPr>
          <p:cNvSpPr>
            <a:spLocks xmlns:a="http://schemas.openxmlformats.org/drawingml/2006/main" noGrp="1"/>
          </p:cNvSpPr>
          <p:nvPr/>
        </p:nvSpPr>
        <p:spPr>
          <a:xfrm xmlns:a="http://schemas.openxmlformats.org/drawingml/2006/main">
            <a:off x="7715250" y="24003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4050" b="1">
                <a:solidFill>
                  <a:srgbClr val="176B87"/>
                </a:solidFill>
                <a:latin typeface="Arial"/>
                <a:ea typeface="Arial"/>
                <a:cs typeface="Arial"/>
              </a:defRPr>
            </a:defPPr>
            <a:lvl1pPr algn="l">
              <a:defRPr sz="4050" b="1">
                <a:solidFill>
                  <a:srgbClr val="176B87"/>
                </a:solidFill>
                <a:latin typeface="Arial"/>
                <a:ea typeface="Arial"/>
                <a:cs typeface="Arial"/>
              </a:defRPr>
            </a:lvl1pPr>
            <a:lvl2pPr algn="l">
              <a:defRPr sz="4050" b="1">
                <a:solidFill>
                  <a:srgbClr val="176B87"/>
                </a:solidFill>
                <a:latin typeface="Arial"/>
                <a:ea typeface="Arial"/>
                <a:cs typeface="Arial"/>
              </a:defRPr>
            </a:lvl2pPr>
            <a:lvl3pPr algn="l">
              <a:defRPr sz="4050" b="1">
                <a:solidFill>
                  <a:srgbClr val="176B87"/>
                </a:solidFill>
                <a:latin typeface="Arial"/>
                <a:ea typeface="Arial"/>
                <a:cs typeface="Arial"/>
              </a:defRPr>
            </a:lvl3pPr>
            <a:lvl4pPr algn="l">
              <a:defRPr sz="4050" b="1">
                <a:solidFill>
                  <a:srgbClr val="176B87"/>
                </a:solidFill>
                <a:latin typeface="Arial"/>
                <a:ea typeface="Arial"/>
                <a:cs typeface="Arial"/>
              </a:defRPr>
            </a:lvl4pPr>
            <a:lvl5pPr algn="l">
              <a:defRPr sz="4050" b="1">
                <a:solidFill>
                  <a:srgbClr val="176B87"/>
                </a:solidFill>
                <a:latin typeface="Arial"/>
                <a:ea typeface="Arial"/>
                <a:cs typeface="Arial"/>
              </a:defRPr>
            </a:lvl5pPr>
            <a:lvl6pPr algn="l">
              <a:defRPr sz="4050" b="1">
                <a:solidFill>
                  <a:srgbClr val="176B87"/>
                </a:solidFill>
                <a:latin typeface="Arial"/>
                <a:ea typeface="Arial"/>
                <a:cs typeface="Arial"/>
              </a:defRPr>
            </a:lvl6pPr>
            <a:lvl7pPr algn="l">
              <a:defRPr sz="4050" b="1">
                <a:solidFill>
                  <a:srgbClr val="176B87"/>
                </a:solidFill>
                <a:latin typeface="Arial"/>
                <a:ea typeface="Arial"/>
                <a:cs typeface="Arial"/>
              </a:defRPr>
            </a:lvl7pPr>
            <a:lvl8pPr algn="l">
              <a:defRPr sz="4050" b="1">
                <a:solidFill>
                  <a:srgbClr val="176B87"/>
                </a:solidFill>
                <a:latin typeface="Arial"/>
                <a:ea typeface="Arial"/>
                <a:cs typeface="Arial"/>
              </a:defRPr>
            </a:lvl8pPr>
            <a:lvl9pPr algn="l">
              <a:defRPr sz="4050" b="1">
                <a:solidFill>
                  <a:srgbClr val="176B87"/>
                </a:solidFill>
                <a:latin typeface="Arial"/>
                <a:ea typeface="Arial"/>
                <a:cs typeface="Arial"/>
              </a:defRPr>
            </a:lvl9pPr>
          </a:lstStyle>
          <a:p xmlns:a="http://schemas.openxmlformats.org/drawingml/2006/main">
            <a:pPr algn="l">
              <a:defRPr sz="4050" b="1">
                <a:solidFill>
                  <a:srgbClr val="176B87"/>
                </a:solidFill>
                <a:latin typeface="Arial"/>
                <a:ea typeface="Arial"/>
                <a:cs typeface="Arial"/>
              </a:defRPr>
            </a:pPr>
            <a:r>
              <a:rPr sz="4050" b="1">
                <a:solidFill>
                  <a:srgbClr val="176B87"/>
                </a:solidFill>
                <a:latin typeface="Arial"/>
                <a:ea typeface="Arial"/>
                <a:cs typeface="Arial"/>
              </a:rPr>
              <a:t>17 h</a:t>
            </a:r>
          </a:p>
        </p:txBody>
      </p:sp>
      <p:sp>
        <p:nvSpPr>
          <p:cNvPr id="7" name="time-highlight-caption">
            <a:extLst xmlns:a="http://schemas.openxmlformats.org/drawingml/2006/main">
              <a:ext uri="{FF2B5EF4-FFF2-40B4-BE49-F238E27FC236}">
                <a16:creationId xmlns:a16="http://schemas.microsoft.com/office/drawing/2014/main" id="{8B3C4CBF-BDDC-4BA4-A512-EE825C8D1060}"/>
              </a:ext>
            </a:extLst>
          </p:cNvPr>
          <p:cNvSpPr>
            <a:spLocks xmlns:a="http://schemas.openxmlformats.org/drawingml/2006/main" noGrp="1"/>
          </p:cNvSpPr>
          <p:nvPr/>
        </p:nvSpPr>
        <p:spPr>
          <a:xfrm xmlns:a="http://schemas.openxmlformats.org/drawingml/2006/main">
            <a:off x="7753350" y="31432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44 792 collisions</a:t>
            </a:r>
          </a:p>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8,7 % du total</a:t>
            </a:r>
          </a:p>
        </p:txBody>
      </p:sp>
      <p:sp>
        <p:nvSpPr>
          <p:cNvPr id="8" name="speed-divider">
            <a:extLst xmlns:a="http://schemas.openxmlformats.org/drawingml/2006/main">
              <a:ext uri="{FF2B5EF4-FFF2-40B4-BE49-F238E27FC236}">
                <a16:creationId xmlns:a16="http://schemas.microsoft.com/office/drawing/2014/main" id="{2279F572-CB75-4226-88BA-03FE28E5EE70}"/>
              </a:ext>
            </a:extLst>
          </p:cNvPr>
          <p:cNvSpPr>
            <a:spLocks xmlns:a="http://schemas.openxmlformats.org/drawingml/2006/main" noGrp="1"/>
          </p:cNvSpPr>
          <p:nvPr/>
        </p:nvSpPr>
        <p:spPr>
          <a:xfrm xmlns:a="http://schemas.openxmlformats.org/drawingml/2006/main">
            <a:off x="7734300" y="4057650"/>
            <a:ext cx="285750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9" name="speed-share">
            <a:extLst xmlns:a="http://schemas.openxmlformats.org/drawingml/2006/main">
              <a:ext uri="{FF2B5EF4-FFF2-40B4-BE49-F238E27FC236}">
                <a16:creationId xmlns:a16="http://schemas.microsoft.com/office/drawing/2014/main" id="{AB134298-DD7A-4C56-B897-31611A69B48C}"/>
              </a:ext>
            </a:extLst>
          </p:cNvPr>
          <p:cNvSpPr>
            <a:spLocks xmlns:a="http://schemas.openxmlformats.org/drawingml/2006/main" noGrp="1"/>
          </p:cNvSpPr>
          <p:nvPr/>
        </p:nvSpPr>
        <p:spPr>
          <a:xfrm xmlns:a="http://schemas.openxmlformats.org/drawingml/2006/main">
            <a:off x="7715250" y="4286250"/>
            <a:ext cx="2857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1">
                <a:solidFill>
                  <a:srgbClr val="E2A33B"/>
                </a:solidFill>
                <a:latin typeface="Arial"/>
                <a:ea typeface="Arial"/>
                <a:cs typeface="Arial"/>
              </a:defRPr>
            </a:defPPr>
            <a:lvl1pPr algn="l">
              <a:defRPr sz="3150" b="1">
                <a:solidFill>
                  <a:srgbClr val="E2A33B"/>
                </a:solidFill>
                <a:latin typeface="Arial"/>
                <a:ea typeface="Arial"/>
                <a:cs typeface="Arial"/>
              </a:defRPr>
            </a:lvl1pPr>
            <a:lvl2pPr algn="l">
              <a:defRPr sz="3150" b="1">
                <a:solidFill>
                  <a:srgbClr val="E2A33B"/>
                </a:solidFill>
                <a:latin typeface="Arial"/>
                <a:ea typeface="Arial"/>
                <a:cs typeface="Arial"/>
              </a:defRPr>
            </a:lvl2pPr>
            <a:lvl3pPr algn="l">
              <a:defRPr sz="3150" b="1">
                <a:solidFill>
                  <a:srgbClr val="E2A33B"/>
                </a:solidFill>
                <a:latin typeface="Arial"/>
                <a:ea typeface="Arial"/>
                <a:cs typeface="Arial"/>
              </a:defRPr>
            </a:lvl3pPr>
            <a:lvl4pPr algn="l">
              <a:defRPr sz="3150" b="1">
                <a:solidFill>
                  <a:srgbClr val="E2A33B"/>
                </a:solidFill>
                <a:latin typeface="Arial"/>
                <a:ea typeface="Arial"/>
                <a:cs typeface="Arial"/>
              </a:defRPr>
            </a:lvl4pPr>
            <a:lvl5pPr algn="l">
              <a:defRPr sz="3150" b="1">
                <a:solidFill>
                  <a:srgbClr val="E2A33B"/>
                </a:solidFill>
                <a:latin typeface="Arial"/>
                <a:ea typeface="Arial"/>
                <a:cs typeface="Arial"/>
              </a:defRPr>
            </a:lvl5pPr>
            <a:lvl6pPr algn="l">
              <a:defRPr sz="3150" b="1">
                <a:solidFill>
                  <a:srgbClr val="E2A33B"/>
                </a:solidFill>
                <a:latin typeface="Arial"/>
                <a:ea typeface="Arial"/>
                <a:cs typeface="Arial"/>
              </a:defRPr>
            </a:lvl6pPr>
            <a:lvl7pPr algn="l">
              <a:defRPr sz="3150" b="1">
                <a:solidFill>
                  <a:srgbClr val="E2A33B"/>
                </a:solidFill>
                <a:latin typeface="Arial"/>
                <a:ea typeface="Arial"/>
                <a:cs typeface="Arial"/>
              </a:defRPr>
            </a:lvl7pPr>
            <a:lvl8pPr algn="l">
              <a:defRPr sz="3150" b="1">
                <a:solidFill>
                  <a:srgbClr val="E2A33B"/>
                </a:solidFill>
                <a:latin typeface="Arial"/>
                <a:ea typeface="Arial"/>
                <a:cs typeface="Arial"/>
              </a:defRPr>
            </a:lvl8pPr>
            <a:lvl9pPr algn="l">
              <a:defRPr sz="3150" b="1">
                <a:solidFill>
                  <a:srgbClr val="E2A33B"/>
                </a:solidFill>
                <a:latin typeface="Arial"/>
                <a:ea typeface="Arial"/>
                <a:cs typeface="Arial"/>
              </a:defRPr>
            </a:lvl9pPr>
          </a:lstStyle>
          <a:p xmlns:a="http://schemas.openxmlformats.org/drawingml/2006/main">
            <a:pPr algn="l">
              <a:defRPr sz="3150" b="1">
                <a:solidFill>
                  <a:srgbClr val="E2A33B"/>
                </a:solidFill>
                <a:latin typeface="Arial"/>
                <a:ea typeface="Arial"/>
                <a:cs typeface="Arial"/>
              </a:defRPr>
            </a:pPr>
            <a:r>
              <a:rPr sz="3150" b="1">
                <a:solidFill>
                  <a:srgbClr val="E2A33B"/>
                </a:solidFill>
                <a:latin typeface="Arial"/>
                <a:ea typeface="Arial"/>
                <a:cs typeface="Arial"/>
              </a:rPr>
              <a:t>52,0 %</a:t>
            </a:r>
          </a:p>
        </p:txBody>
      </p:sp>
      <p:sp>
        <p:nvSpPr>
          <p:cNvPr id="10" name="speed-share-caption">
            <a:extLst xmlns:a="http://schemas.openxmlformats.org/drawingml/2006/main">
              <a:ext uri="{FF2B5EF4-FFF2-40B4-BE49-F238E27FC236}">
                <a16:creationId xmlns:a16="http://schemas.microsoft.com/office/drawing/2014/main" id="{311DBA4A-523A-4D51-BE69-842039AB9B90}"/>
              </a:ext>
            </a:extLst>
          </p:cNvPr>
          <p:cNvSpPr>
            <a:spLocks xmlns:a="http://schemas.openxmlformats.org/drawingml/2006/main" noGrp="1"/>
          </p:cNvSpPr>
          <p:nvPr/>
        </p:nvSpPr>
        <p:spPr>
          <a:xfrm xmlns:a="http://schemas.openxmlformats.org/drawingml/2006/main">
            <a:off x="7753350" y="4953000"/>
            <a:ext cx="328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des collisions sont enregistrées sur une route limitée à 30 mph</a:t>
            </a:r>
          </a:p>
        </p:txBody>
      </p:sp>
      <p:sp>
        <p:nvSpPr>
          <p:cNvPr id="11" name="time-caveat">
            <a:extLst xmlns:a="http://schemas.openxmlformats.org/drawingml/2006/main">
              <a:ext uri="{FF2B5EF4-FFF2-40B4-BE49-F238E27FC236}">
                <a16:creationId xmlns:a16="http://schemas.microsoft.com/office/drawing/2014/main" id="{D85F7D78-EECE-4E8D-84E1-611DF63DC60F}"/>
              </a:ext>
            </a:extLst>
          </p:cNvPr>
          <p:cNvSpPr>
            <a:spLocks xmlns:a="http://schemas.openxmlformats.org/drawingml/2006/main" noGrp="1"/>
          </p:cNvSpPr>
          <p:nvPr/>
        </p:nvSpPr>
        <p:spPr>
          <a:xfrm xmlns:a="http://schemas.openxmlformats.org/drawingml/2006/main">
            <a:off x="742950" y="61150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Fréquences absolues · exposition et volumes de circulation non disponibles</a:t>
            </a:r>
          </a:p>
        </p:txBody>
      </p:sp>
    </p:spTree>
    <p:extLst>
      <p:ext uri="{BB962C8B-B14F-4D97-AF65-F5344CB8AC3E}">
        <p14:creationId xmlns:p14="http://schemas.microsoft.com/office/powerpoint/2010/main" val="1963007825"/>
      </p:ext>
    </p:extLst>
  </p:cSld>
</p:sld>
</file>

<file path=ppt/slides/slide12.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0" name="title-12">
            <a:extLst>
              <a:ext uri="{FF2B5EF4-FFF2-40B4-BE49-F238E27FC236}">
                <a16:creationId id="{46500CCD-B895-4E58-8997-C2067EB809A5}"/>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Interprétation et limites</a:t>
            </a:r>
          </a:p>
        </p:txBody>
      </p:sp>
      <p:sp>
        <p:nvSpPr>
          <p:cNvPr id="2" name="title-rule-12">
            <a:extLst>
              <a:ext uri="{FF2B5EF4-FFF2-40B4-BE49-F238E27FC236}">
                <a16:creationId id="{67932CD1-98E6-46E6-BBF2-99B35F77984A}"/>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12">
            <a:extLst>
              <a:ext uri="{FF2B5EF4-FFF2-40B4-BE49-F238E27FC236}">
                <a16:creationId id="{F182CDA9-CE2D-4B24-B592-184FB9345045}"/>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12</a:t>
            </a:r>
          </a:p>
        </p:txBody>
      </p:sp>
      <p:sp>
        <p:nvSpPr>
          <p:cNvPr id="4" name="interpret-supported-head">
            <a:extLst>
              <a:ext uri="{FF2B5EF4-FFF2-40B4-BE49-F238E27FC236}">
                <a16:creationId id="{25F971AC-CDBA-4E21-BB0E-4C90AE31BD8D}"/>
              </a:ext>
            </a:extLst>
          </p:cNvPr>
          <p:cNvSpPr>
            <a:spLocks noGrp="1"/>
          </p:cNvSpPr>
          <p:nvPr/>
        </p:nvSpPr>
        <p:spPr>
          <a:xfrm>
            <a:off x="742950" y="1704975"/>
            <a:ext cx="4476750" cy="381000"/>
          </a:xfrm>
          <a:prstGeom prst="rect">
            <a:avLst/>
          </a:prstGeom>
          <a:noFill/>
          <a:ln w="0">
            <a:noFill/>
            <a:prstDash val="solid"/>
          </a:ln>
        </p:spPr>
        <p:txBody>
          <a:bodyPr wrap="square" lIns="0" tIns="0" rIns="0" bIns="0" anchor="t"/>
          <a:lstStyle>
            <a:defPPr algn="l">
              <a:defRPr sz="2175" b="1">
                <a:solidFill>
                  <a:srgbClr val="176B87"/>
                </a:solidFill>
                <a:latin typeface="Arial"/>
                <a:ea typeface="Arial"/>
                <a:cs typeface="Arial"/>
              </a:defRPr>
            </a:defPPr>
            <a:lvl1pPr algn="l">
              <a:defRPr sz="2175" b="1">
                <a:solidFill>
                  <a:srgbClr val="176B87"/>
                </a:solidFill>
                <a:latin typeface="Arial"/>
                <a:ea typeface="Arial"/>
                <a:cs typeface="Arial"/>
              </a:defRPr>
            </a:lvl1pPr>
            <a:lvl2pPr algn="l">
              <a:defRPr sz="2175" b="1">
                <a:solidFill>
                  <a:srgbClr val="176B87"/>
                </a:solidFill>
                <a:latin typeface="Arial"/>
                <a:ea typeface="Arial"/>
                <a:cs typeface="Arial"/>
              </a:defRPr>
            </a:lvl2pPr>
            <a:lvl3pPr algn="l">
              <a:defRPr sz="2175" b="1">
                <a:solidFill>
                  <a:srgbClr val="176B87"/>
                </a:solidFill>
                <a:latin typeface="Arial"/>
                <a:ea typeface="Arial"/>
                <a:cs typeface="Arial"/>
              </a:defRPr>
            </a:lvl3pPr>
            <a:lvl4pPr algn="l">
              <a:defRPr sz="2175" b="1">
                <a:solidFill>
                  <a:srgbClr val="176B87"/>
                </a:solidFill>
                <a:latin typeface="Arial"/>
                <a:ea typeface="Arial"/>
                <a:cs typeface="Arial"/>
              </a:defRPr>
            </a:lvl4pPr>
            <a:lvl5pPr algn="l">
              <a:defRPr sz="2175" b="1">
                <a:solidFill>
                  <a:srgbClr val="176B87"/>
                </a:solidFill>
                <a:latin typeface="Arial"/>
                <a:ea typeface="Arial"/>
                <a:cs typeface="Arial"/>
              </a:defRPr>
            </a:lvl5pPr>
            <a:lvl6pPr algn="l">
              <a:defRPr sz="2175" b="1">
                <a:solidFill>
                  <a:srgbClr val="176B87"/>
                </a:solidFill>
                <a:latin typeface="Arial"/>
                <a:ea typeface="Arial"/>
                <a:cs typeface="Arial"/>
              </a:defRPr>
            </a:lvl6pPr>
            <a:lvl7pPr algn="l">
              <a:defRPr sz="2175" b="1">
                <a:solidFill>
                  <a:srgbClr val="176B87"/>
                </a:solidFill>
                <a:latin typeface="Arial"/>
                <a:ea typeface="Arial"/>
                <a:cs typeface="Arial"/>
              </a:defRPr>
            </a:lvl7pPr>
            <a:lvl8pPr algn="l">
              <a:defRPr sz="2175" b="1">
                <a:solidFill>
                  <a:srgbClr val="176B87"/>
                </a:solidFill>
                <a:latin typeface="Arial"/>
                <a:ea typeface="Arial"/>
                <a:cs typeface="Arial"/>
              </a:defRPr>
            </a:lvl8pPr>
            <a:lvl9pPr algn="l">
              <a:defRPr sz="2175" b="1">
                <a:solidFill>
                  <a:srgbClr val="176B87"/>
                </a:solidFill>
                <a:latin typeface="Arial"/>
                <a:ea typeface="Arial"/>
                <a:cs typeface="Arial"/>
              </a:defRPr>
            </a:lvl9pPr>
          </a:lstStyle>
          <a:p>
            <a:pPr algn="l">
              <a:defRPr sz="2175" b="1">
                <a:solidFill>
                  <a:srgbClr val="176B87"/>
                </a:solidFill>
                <a:latin typeface="Arial"/>
                <a:ea typeface="Arial"/>
                <a:cs typeface="Arial"/>
              </a:defRPr>
            </a:pPr>
            <a:r>
              <a:rPr sz="2175" b="1">
                <a:solidFill>
                  <a:srgbClr val="176B87"/>
                </a:solidFill>
                <a:latin typeface="Arial"/>
                <a:ea typeface="Arial"/>
                <a:cs typeface="Arial"/>
              </a:rPr>
              <a:t>L’analyse peut</a:t>
            </a:r>
          </a:p>
        </p:txBody>
      </p:sp>
      <p:sp>
        <p:nvSpPr>
          <p:cNvPr id="5" name="interpret-supported">
            <a:extLst>
              <a:ext uri="{FF2B5EF4-FFF2-40B4-BE49-F238E27FC236}">
                <a16:creationId id="{572A527E-2D93-4A64-A25E-49DEB63C6819}"/>
              </a:ext>
            </a:extLst>
          </p:cNvPr>
          <p:cNvSpPr>
            <a:spLocks noGrp="1"/>
          </p:cNvSpPr>
          <p:nvPr/>
        </p:nvSpPr>
        <p:spPr>
          <a:xfrm>
            <a:off x="742950" y="2286000"/>
            <a:ext cx="4762500" cy="18097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725" b="0">
                <a:solidFill>
                  <a:srgbClr val="10283F"/>
                </a:solidFill>
                <a:latin typeface="Arial"/>
                <a:ea typeface="Arial"/>
                <a:cs typeface="Arial"/>
              </a:rPr>
              <a:t>Décrire les volumes enregistrés.</a:t>
            </a:r>
          </a:p>
          <a:p>
            <a:pPr algn="l">
              <a:defRPr sz="1725" b="0">
                <a:solidFill>
                  <a:srgbClr val="10283F"/>
                </a:solidFill>
                <a:latin typeface="Arial"/>
                <a:ea typeface="Arial"/>
                <a:cs typeface="Arial"/>
              </a:defRPr>
            </a:pPr>
            <a:r>
              <a:rPr sz="1725" b="0">
                <a:solidFill>
                  <a:srgbClr val="10283F"/>
                </a:solidFill>
                <a:latin typeface="Arial"/>
                <a:ea typeface="Arial"/>
                <a:cs typeface="Arial"/>
              </a:rPr>
              <a:t>Comparer les distributions et les périodes.</a:t>
            </a:r>
          </a:p>
          <a:p>
            <a:pPr algn="l">
              <a:defRPr sz="1725" b="0">
                <a:solidFill>
                  <a:srgbClr val="10283F"/>
                </a:solidFill>
                <a:latin typeface="Arial"/>
                <a:ea typeface="Arial"/>
                <a:cs typeface="Arial"/>
              </a:defRPr>
            </a:pPr>
            <a:r>
              <a:rPr sz="1725" b="0">
                <a:solidFill>
                  <a:srgbClr val="10283F"/>
                </a:solidFill>
                <a:latin typeface="Arial"/>
                <a:ea typeface="Arial"/>
                <a:cs typeface="Arial"/>
              </a:rPr>
              <a:t>Repérer des pistes à examiner localement.</a:t>
            </a:r>
          </a:p>
        </p:txBody>
      </p:sp>
      <p:sp>
        <p:nvSpPr>
          <p:cNvPr id="6" name="interpret-divider">
            <a:extLst>
              <a:ext uri="{FF2B5EF4-FFF2-40B4-BE49-F238E27FC236}">
                <a16:creationId id="{0578C8B0-70F0-4C84-B14D-8BF7571872F6}"/>
              </a:ext>
            </a:extLst>
          </p:cNvPr>
          <p:cNvSpPr>
            <a:spLocks noGrp="1"/>
          </p:cNvSpPr>
          <p:nvPr/>
        </p:nvSpPr>
        <p:spPr>
          <a:xfrm>
            <a:off x="5953125" y="1685925"/>
            <a:ext cx="19050" cy="3476625"/>
          </a:xfrm>
          <a:prstGeom prst="rect">
            <a:avLst/>
          </a:prstGeom>
          <a:solidFill>
            <a:srgbClr val="D5DEE4"/>
          </a:solidFill>
          <a:ln w="0">
            <a:noFill/>
            <a:prstDash val="solid"/>
          </a:ln>
        </p:spPr>
      </p:sp>
      <p:sp>
        <p:nvSpPr>
          <p:cNvPr id="7" name="interpret-limits-head">
            <a:extLst>
              <a:ext uri="{FF2B5EF4-FFF2-40B4-BE49-F238E27FC236}">
                <a16:creationId id="{80832BEC-87CF-4E47-88F2-6A316D58CF4E}"/>
              </a:ext>
            </a:extLst>
          </p:cNvPr>
          <p:cNvSpPr>
            <a:spLocks noGrp="1"/>
          </p:cNvSpPr>
          <p:nvPr/>
        </p:nvSpPr>
        <p:spPr>
          <a:xfrm>
            <a:off x="6572250" y="1704975"/>
            <a:ext cx="4572000" cy="381000"/>
          </a:xfrm>
          <a:prstGeom prst="rect">
            <a:avLst/>
          </a:prstGeom>
          <a:noFill/>
          <a:ln w="0">
            <a:noFill/>
            <a:prstDash val="solid"/>
          </a:ln>
        </p:spPr>
        <p:txBody>
          <a:bodyPr wrap="square" lIns="0" tIns="0" rIns="0" bIns="0" anchor="t"/>
          <a:lstStyle>
            <a:defPPr algn="l">
              <a:defRPr sz="2175" b="1">
                <a:solidFill>
                  <a:srgbClr val="C75A55"/>
                </a:solidFill>
                <a:latin typeface="Arial"/>
                <a:ea typeface="Arial"/>
                <a:cs typeface="Arial"/>
              </a:defRPr>
            </a:defPPr>
            <a:lvl1pPr algn="l">
              <a:defRPr sz="2175" b="1">
                <a:solidFill>
                  <a:srgbClr val="C75A55"/>
                </a:solidFill>
                <a:latin typeface="Arial"/>
                <a:ea typeface="Arial"/>
                <a:cs typeface="Arial"/>
              </a:defRPr>
            </a:lvl1pPr>
            <a:lvl2pPr algn="l">
              <a:defRPr sz="2175" b="1">
                <a:solidFill>
                  <a:srgbClr val="C75A55"/>
                </a:solidFill>
                <a:latin typeface="Arial"/>
                <a:ea typeface="Arial"/>
                <a:cs typeface="Arial"/>
              </a:defRPr>
            </a:lvl2pPr>
            <a:lvl3pPr algn="l">
              <a:defRPr sz="2175" b="1">
                <a:solidFill>
                  <a:srgbClr val="C75A55"/>
                </a:solidFill>
                <a:latin typeface="Arial"/>
                <a:ea typeface="Arial"/>
                <a:cs typeface="Arial"/>
              </a:defRPr>
            </a:lvl3pPr>
            <a:lvl4pPr algn="l">
              <a:defRPr sz="2175" b="1">
                <a:solidFill>
                  <a:srgbClr val="C75A55"/>
                </a:solidFill>
                <a:latin typeface="Arial"/>
                <a:ea typeface="Arial"/>
                <a:cs typeface="Arial"/>
              </a:defRPr>
            </a:lvl4pPr>
            <a:lvl5pPr algn="l">
              <a:defRPr sz="2175" b="1">
                <a:solidFill>
                  <a:srgbClr val="C75A55"/>
                </a:solidFill>
                <a:latin typeface="Arial"/>
                <a:ea typeface="Arial"/>
                <a:cs typeface="Arial"/>
              </a:defRPr>
            </a:lvl5pPr>
            <a:lvl6pPr algn="l">
              <a:defRPr sz="2175" b="1">
                <a:solidFill>
                  <a:srgbClr val="C75A55"/>
                </a:solidFill>
                <a:latin typeface="Arial"/>
                <a:ea typeface="Arial"/>
                <a:cs typeface="Arial"/>
              </a:defRPr>
            </a:lvl6pPr>
            <a:lvl7pPr algn="l">
              <a:defRPr sz="2175" b="1">
                <a:solidFill>
                  <a:srgbClr val="C75A55"/>
                </a:solidFill>
                <a:latin typeface="Arial"/>
                <a:ea typeface="Arial"/>
                <a:cs typeface="Arial"/>
              </a:defRPr>
            </a:lvl7pPr>
            <a:lvl8pPr algn="l">
              <a:defRPr sz="2175" b="1">
                <a:solidFill>
                  <a:srgbClr val="C75A55"/>
                </a:solidFill>
                <a:latin typeface="Arial"/>
                <a:ea typeface="Arial"/>
                <a:cs typeface="Arial"/>
              </a:defRPr>
            </a:lvl8pPr>
            <a:lvl9pPr algn="l">
              <a:defRPr sz="2175" b="1">
                <a:solidFill>
                  <a:srgbClr val="C75A55"/>
                </a:solidFill>
                <a:latin typeface="Arial"/>
                <a:ea typeface="Arial"/>
                <a:cs typeface="Arial"/>
              </a:defRPr>
            </a:lvl9pPr>
          </a:lstStyle>
          <a:p>
            <a:pPr algn="l">
              <a:defRPr sz="2175" b="1">
                <a:solidFill>
                  <a:srgbClr val="C75A55"/>
                </a:solidFill>
                <a:latin typeface="Arial"/>
                <a:ea typeface="Arial"/>
                <a:cs typeface="Arial"/>
              </a:defRPr>
            </a:pPr>
            <a:r>
              <a:rPr sz="2175" b="1">
                <a:solidFill>
                  <a:srgbClr val="C75A55"/>
                </a:solidFill>
                <a:latin typeface="Arial"/>
                <a:ea typeface="Arial"/>
                <a:cs typeface="Arial"/>
              </a:rPr>
              <a:t>Elle ne suffit pas à</a:t>
            </a:r>
          </a:p>
        </p:txBody>
      </p:sp>
      <p:sp>
        <p:nvSpPr>
          <p:cNvPr id="8" name="interpret-limits">
            <a:extLst>
              <a:ext uri="{FF2B5EF4-FFF2-40B4-BE49-F238E27FC236}">
                <a16:creationId id="{F26DC80E-DB66-4549-9BD5-2079FC9A884A}"/>
              </a:ext>
            </a:extLst>
          </p:cNvPr>
          <p:cNvSpPr>
            <a:spLocks noGrp="1"/>
          </p:cNvSpPr>
          <p:nvPr/>
        </p:nvSpPr>
        <p:spPr>
          <a:xfrm>
            <a:off x="6572250" y="2286000"/>
            <a:ext cx="4810125" cy="204787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725" b="0">
                <a:solidFill>
                  <a:srgbClr val="10283F"/>
                </a:solidFill>
                <a:latin typeface="Arial"/>
                <a:ea typeface="Arial"/>
                <a:cs typeface="Arial"/>
              </a:rPr>
              <a:t>Mesurer un risque sans exposition au trafic.</a:t>
            </a:r>
          </a:p>
          <a:p>
            <a:pPr algn="l">
              <a:defRPr sz="1725" b="0">
                <a:solidFill>
                  <a:srgbClr val="10283F"/>
                </a:solidFill>
                <a:latin typeface="Arial"/>
                <a:ea typeface="Arial"/>
                <a:cs typeface="Arial"/>
              </a:defRPr>
            </a:pPr>
            <a:r>
              <a:rPr sz="1725" b="0">
                <a:solidFill>
                  <a:srgbClr val="10283F"/>
                </a:solidFill>
                <a:latin typeface="Arial"/>
                <a:ea typeface="Arial"/>
                <a:cs typeface="Arial"/>
              </a:rPr>
              <a:t>Attribuer une cause à une collision.</a:t>
            </a:r>
          </a:p>
          <a:p>
            <a:pPr algn="l">
              <a:defRPr sz="1725" b="0">
                <a:solidFill>
                  <a:srgbClr val="10283F"/>
                </a:solidFill>
                <a:latin typeface="Arial"/>
                <a:ea typeface="Arial"/>
                <a:cs typeface="Arial"/>
              </a:defRPr>
            </a:pPr>
            <a:r>
              <a:rPr sz="1725" b="0">
                <a:solidFill>
                  <a:srgbClr val="10283F"/>
                </a:solidFill>
                <a:latin typeface="Arial"/>
                <a:ea typeface="Arial"/>
                <a:cs typeface="Arial"/>
              </a:rPr>
              <a:t>Représenter les incidents non déclarés ou sans blessé.</a:t>
            </a:r>
          </a:p>
        </p:txBody>
      </p:sp>
      <p:sp>
        <p:nvSpPr>
          <p:cNvPr id="9" name="interpret-next">
            <a:extLst>
              <a:ext uri="{FF2B5EF4-FFF2-40B4-BE49-F238E27FC236}">
                <a16:creationId id="{34B948E4-D8AA-4FA8-91CA-25540B7868D9}"/>
              </a:ext>
            </a:extLst>
          </p:cNvPr>
          <p:cNvSpPr>
            <a:spLocks noGrp="1"/>
          </p:cNvSpPr>
          <p:nvPr/>
        </p:nvSpPr>
        <p:spPr>
          <a:xfrm>
            <a:off x="742950" y="5257800"/>
            <a:ext cx="10477500" cy="723900"/>
          </a:xfrm>
          <a:prstGeom prst="rect">
            <a:avLst/>
          </a:prstGeom>
          <a:noFill/>
          <a:ln w="0">
            <a:noFill/>
            <a:prstDash val="solid"/>
          </a:ln>
        </p:spPr>
        <p:txBody>
          <a:bodyPr wrap="square" lIns="0" tIns="0" rIns="0" bIns="0" anchor="t"/>
          <a:lstStyle>
            <a:defPPr algn="l">
              <a:defRPr sz="1650" b="1">
                <a:solidFill>
                  <a:srgbClr val="10283F"/>
                </a:solidFill>
                <a:latin typeface="Arial"/>
                <a:ea typeface="Arial"/>
                <a:cs typeface="Arial"/>
              </a:defRPr>
            </a:defPPr>
            <a:lvl1pPr algn="l">
              <a:defRPr sz="1650" b="1">
                <a:solidFill>
                  <a:srgbClr val="10283F"/>
                </a:solidFill>
                <a:latin typeface="Arial"/>
                <a:ea typeface="Arial"/>
                <a:cs typeface="Arial"/>
              </a:defRPr>
            </a:lvl1pPr>
            <a:lvl2pPr algn="l">
              <a:defRPr sz="1650" b="1">
                <a:solidFill>
                  <a:srgbClr val="10283F"/>
                </a:solidFill>
                <a:latin typeface="Arial"/>
                <a:ea typeface="Arial"/>
                <a:cs typeface="Arial"/>
              </a:defRPr>
            </a:lvl2pPr>
            <a:lvl3pPr algn="l">
              <a:defRPr sz="1650" b="1">
                <a:solidFill>
                  <a:srgbClr val="10283F"/>
                </a:solidFill>
                <a:latin typeface="Arial"/>
                <a:ea typeface="Arial"/>
                <a:cs typeface="Arial"/>
              </a:defRPr>
            </a:lvl3pPr>
            <a:lvl4pPr algn="l">
              <a:defRPr sz="1650" b="1">
                <a:solidFill>
                  <a:srgbClr val="10283F"/>
                </a:solidFill>
                <a:latin typeface="Arial"/>
                <a:ea typeface="Arial"/>
                <a:cs typeface="Arial"/>
              </a:defRPr>
            </a:lvl4pPr>
            <a:lvl5pPr algn="l">
              <a:defRPr sz="1650" b="1">
                <a:solidFill>
                  <a:srgbClr val="10283F"/>
                </a:solidFill>
                <a:latin typeface="Arial"/>
                <a:ea typeface="Arial"/>
                <a:cs typeface="Arial"/>
              </a:defRPr>
            </a:lvl5pPr>
            <a:lvl6pPr algn="l">
              <a:defRPr sz="1650" b="1">
                <a:solidFill>
                  <a:srgbClr val="10283F"/>
                </a:solidFill>
                <a:latin typeface="Arial"/>
                <a:ea typeface="Arial"/>
                <a:cs typeface="Arial"/>
              </a:defRPr>
            </a:lvl6pPr>
            <a:lvl7pPr algn="l">
              <a:defRPr sz="1650" b="1">
                <a:solidFill>
                  <a:srgbClr val="10283F"/>
                </a:solidFill>
                <a:latin typeface="Arial"/>
                <a:ea typeface="Arial"/>
                <a:cs typeface="Arial"/>
              </a:defRPr>
            </a:lvl7pPr>
            <a:lvl8pPr algn="l">
              <a:defRPr sz="1650" b="1">
                <a:solidFill>
                  <a:srgbClr val="10283F"/>
                </a:solidFill>
                <a:latin typeface="Arial"/>
                <a:ea typeface="Arial"/>
                <a:cs typeface="Arial"/>
              </a:defRPr>
            </a:lvl8pPr>
            <a:lvl9pPr algn="l">
              <a:defRPr sz="1650" b="1">
                <a:solidFill>
                  <a:srgbClr val="10283F"/>
                </a:solidFill>
                <a:latin typeface="Arial"/>
                <a:ea typeface="Arial"/>
                <a:cs typeface="Arial"/>
              </a:defRPr>
            </a:lvl9pPr>
          </a:lstStyle>
          <a:p>
            <a:pPr algn="l">
              <a:defRPr sz="1650" b="1">
                <a:solidFill>
                  <a:srgbClr val="10283F"/>
                </a:solidFill>
                <a:latin typeface="Arial"/>
                <a:ea typeface="Arial"/>
                <a:cs typeface="Arial"/>
              </a:defRPr>
            </a:pPr>
            <a:r>
              <a:rPr sz="1650" b="1">
                <a:solidFill>
                  <a:srgbClr val="10283F"/>
                </a:solidFill>
                <a:latin typeface="Arial"/>
                <a:ea typeface="Arial"/>
                <a:cs typeface="Arial"/>
              </a:rPr>
              <a:t>Suite du projet : classifier la gravité individuelle des victimes, puis estimer leur nombre par collision.</a:t>
            </a:r>
          </a:p>
        </p:txBody>
      </p:sp>
    </p:spTree>
    <p:extLst>
      <p:ext uri="{BB962C8B-B14F-4D97-AF65-F5344CB8AC3E}">
        <p14:creationId val="757959548"/>
      </p:ext>
    </p:extLst>
  </p:cSld>
</p:sld>
</file>

<file path=ppt/slides/slide13.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0B1D30"/>
        </a:solidFill>
      </p:bgPr>
    </p:bg>
    <p:spTree>
      <p:nvGrpSpPr>
        <p:cNvPr id="1" name=""/>
        <p:cNvGrpSpPr/>
        <p:nvPr/>
      </p:nvGrpSpPr>
      <p:grpSpPr>
        <a:xfrm/>
      </p:grpSpPr>
      <p:sp>
        <p:nvSpPr>
          <p:cNvPr id="17" name="team-title">
            <a:extLst>
              <a:ext uri="{FF2B5EF4-FFF2-40B4-BE49-F238E27FC236}">
                <a16:creationId id="{7C1F55B0-87C8-43B5-A841-4A0B44E14A47}"/>
              </a:ext>
            </a:extLst>
          </p:cNvPr>
          <p:cNvSpPr>
            <a:spLocks noGrp="1"/>
          </p:cNvSpPr>
          <p:nvPr/>
        </p:nvSpPr>
        <p:spPr>
          <a:xfrm>
            <a:off x="742950" y="609600"/>
            <a:ext cx="8382000" cy="609600"/>
          </a:xfrm>
          <a:prstGeom prst="rect">
            <a:avLst/>
          </a:prstGeom>
          <a:noFill/>
          <a:ln w="0">
            <a:noFill/>
            <a:prstDash val="solid"/>
          </a:ln>
        </p:spPr>
        <p:txBody>
          <a:bodyPr wrap="square" lIns="0" tIns="0" rIns="0" bIns="0" anchor="t"/>
          <a:lstStyle>
            <a:defPPr algn="l">
              <a:defRPr sz="3525" b="1">
                <a:solidFill>
                  <a:srgbClr val="FFFFFF"/>
                </a:solidFill>
                <a:latin typeface="Arial"/>
                <a:ea typeface="Arial"/>
                <a:cs typeface="Arial"/>
              </a:defRPr>
            </a:defPPr>
            <a:lvl1pPr algn="l">
              <a:defRPr sz="3525" b="1">
                <a:solidFill>
                  <a:srgbClr val="FFFFFF"/>
                </a:solidFill>
                <a:latin typeface="Arial"/>
                <a:ea typeface="Arial"/>
                <a:cs typeface="Arial"/>
              </a:defRPr>
            </a:lvl1pPr>
            <a:lvl2pPr algn="l">
              <a:defRPr sz="3525" b="1">
                <a:solidFill>
                  <a:srgbClr val="FFFFFF"/>
                </a:solidFill>
                <a:latin typeface="Arial"/>
                <a:ea typeface="Arial"/>
                <a:cs typeface="Arial"/>
              </a:defRPr>
            </a:lvl2pPr>
            <a:lvl3pPr algn="l">
              <a:defRPr sz="3525" b="1">
                <a:solidFill>
                  <a:srgbClr val="FFFFFF"/>
                </a:solidFill>
                <a:latin typeface="Arial"/>
                <a:ea typeface="Arial"/>
                <a:cs typeface="Arial"/>
              </a:defRPr>
            </a:lvl3pPr>
            <a:lvl4pPr algn="l">
              <a:defRPr sz="3525" b="1">
                <a:solidFill>
                  <a:srgbClr val="FFFFFF"/>
                </a:solidFill>
                <a:latin typeface="Arial"/>
                <a:ea typeface="Arial"/>
                <a:cs typeface="Arial"/>
              </a:defRPr>
            </a:lvl4pPr>
            <a:lvl5pPr algn="l">
              <a:defRPr sz="3525" b="1">
                <a:solidFill>
                  <a:srgbClr val="FFFFFF"/>
                </a:solidFill>
                <a:latin typeface="Arial"/>
                <a:ea typeface="Arial"/>
                <a:cs typeface="Arial"/>
              </a:defRPr>
            </a:lvl5pPr>
            <a:lvl6pPr algn="l">
              <a:defRPr sz="3525" b="1">
                <a:solidFill>
                  <a:srgbClr val="FFFFFF"/>
                </a:solidFill>
                <a:latin typeface="Arial"/>
                <a:ea typeface="Arial"/>
                <a:cs typeface="Arial"/>
              </a:defRPr>
            </a:lvl6pPr>
            <a:lvl7pPr algn="l">
              <a:defRPr sz="3525" b="1">
                <a:solidFill>
                  <a:srgbClr val="FFFFFF"/>
                </a:solidFill>
                <a:latin typeface="Arial"/>
                <a:ea typeface="Arial"/>
                <a:cs typeface="Arial"/>
              </a:defRPr>
            </a:lvl7pPr>
            <a:lvl8pPr algn="l">
              <a:defRPr sz="3525" b="1">
                <a:solidFill>
                  <a:srgbClr val="FFFFFF"/>
                </a:solidFill>
                <a:latin typeface="Arial"/>
                <a:ea typeface="Arial"/>
                <a:cs typeface="Arial"/>
              </a:defRPr>
            </a:lvl8pPr>
            <a:lvl9pPr algn="l">
              <a:defRPr sz="3525" b="1">
                <a:solidFill>
                  <a:srgbClr val="FFFFFF"/>
                </a:solidFill>
                <a:latin typeface="Arial"/>
                <a:ea typeface="Arial"/>
                <a:cs typeface="Arial"/>
              </a:defRPr>
            </a:lvl9pPr>
          </a:lstStyle>
          <a:p>
            <a:pPr algn="l">
              <a:defRPr sz="3525" b="1">
                <a:solidFill>
                  <a:srgbClr val="FFFFFF"/>
                </a:solidFill>
                <a:latin typeface="Arial"/>
                <a:ea typeface="Arial"/>
                <a:cs typeface="Arial"/>
              </a:defRPr>
            </a:pPr>
            <a:r>
              <a:rPr sz="3525" b="1">
                <a:solidFill>
                  <a:srgbClr val="FFFFFF"/>
                </a:solidFill>
                <a:latin typeface="Arial"/>
                <a:ea typeface="Arial"/>
                <a:cs typeface="Arial"/>
              </a:rPr>
              <a:t>Équipe du projet</a:t>
            </a:r>
          </a:p>
        </p:txBody>
      </p:sp>
      <p:sp>
        <p:nvSpPr>
          <p:cNvPr id="2" name="team-rule">
            <a:extLst>
              <a:ext uri="{FF2B5EF4-FFF2-40B4-BE49-F238E27FC236}">
                <a16:creationId id="{AB680D13-0A24-4E8C-A480-A8A9E5D4E36A}"/>
              </a:ext>
            </a:extLst>
          </p:cNvPr>
          <p:cNvSpPr>
            <a:spLocks noGrp="1"/>
          </p:cNvSpPr>
          <p:nvPr/>
        </p:nvSpPr>
        <p:spPr>
          <a:xfrm>
            <a:off x="742950" y="1381125"/>
            <a:ext cx="714375" cy="47625"/>
          </a:xfrm>
          <a:prstGeom prst="rect">
            <a:avLst/>
          </a:prstGeom>
          <a:solidFill>
            <a:srgbClr val="E2A33B"/>
          </a:solidFill>
          <a:ln w="0">
            <a:noFill/>
            <a:prstDash val="solid"/>
          </a:ln>
        </p:spPr>
      </p:sp>
      <p:sp>
        <p:nvSpPr>
          <p:cNvPr id="3" name="team-number-0">
            <a:extLst>
              <a:ext uri="{FF2B5EF4-FFF2-40B4-BE49-F238E27FC236}">
                <a16:creationId id="{A860B29F-5EE8-46CB-9EE2-E096B06B3700}"/>
              </a:ext>
            </a:extLst>
          </p:cNvPr>
          <p:cNvSpPr>
            <a:spLocks noGrp="1"/>
          </p:cNvSpPr>
          <p:nvPr/>
        </p:nvSpPr>
        <p:spPr>
          <a:xfrm>
            <a:off x="762000" y="194310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01</a:t>
            </a:r>
          </a:p>
        </p:txBody>
      </p:sp>
      <p:sp>
        <p:nvSpPr>
          <p:cNvPr id="4" name="team-name-0">
            <a:extLst>
              <a:ext uri="{FF2B5EF4-FFF2-40B4-BE49-F238E27FC236}">
                <a16:creationId id="{82A7CF42-8E8B-4B51-9D9B-6F4BB329398E}"/>
              </a:ext>
            </a:extLst>
          </p:cNvPr>
          <p:cNvSpPr>
            <a:spLocks noGrp="1"/>
          </p:cNvSpPr>
          <p:nvPr/>
        </p:nvSpPr>
        <p:spPr>
          <a:xfrm>
            <a:off x="1524000" y="191452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Oussema Sahbeni</a:t>
            </a:r>
          </a:p>
        </p:txBody>
      </p:sp>
      <p:sp>
        <p:nvSpPr>
          <p:cNvPr id="5" name="team-number-1">
            <a:extLst>
              <a:ext uri="{FF2B5EF4-FFF2-40B4-BE49-F238E27FC236}">
                <a16:creationId id="{58B1AD65-827C-485D-BD58-736DD9C50964}"/>
              </a:ext>
            </a:extLst>
          </p:cNvPr>
          <p:cNvSpPr>
            <a:spLocks noGrp="1"/>
          </p:cNvSpPr>
          <p:nvPr/>
        </p:nvSpPr>
        <p:spPr>
          <a:xfrm>
            <a:off x="762000" y="268605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02</a:t>
            </a:r>
          </a:p>
        </p:txBody>
      </p:sp>
      <p:sp>
        <p:nvSpPr>
          <p:cNvPr id="6" name="team-name-1">
            <a:extLst>
              <a:ext uri="{FF2B5EF4-FFF2-40B4-BE49-F238E27FC236}">
                <a16:creationId id="{8A47B45C-4410-40FB-960F-99ABE69BC624}"/>
              </a:ext>
            </a:extLst>
          </p:cNvPr>
          <p:cNvSpPr>
            <a:spLocks noGrp="1"/>
          </p:cNvSpPr>
          <p:nvPr/>
        </p:nvSpPr>
        <p:spPr>
          <a:xfrm>
            <a:off x="1524000" y="265747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Aziz Zina</a:t>
            </a:r>
          </a:p>
        </p:txBody>
      </p:sp>
      <p:sp>
        <p:nvSpPr>
          <p:cNvPr id="7" name="team-number-2">
            <a:extLst>
              <a:ext uri="{FF2B5EF4-FFF2-40B4-BE49-F238E27FC236}">
                <a16:creationId id="{B1DD4409-F24A-42A2-8CCA-B3BB3A09C179}"/>
              </a:ext>
            </a:extLst>
          </p:cNvPr>
          <p:cNvSpPr>
            <a:spLocks noGrp="1"/>
          </p:cNvSpPr>
          <p:nvPr/>
        </p:nvSpPr>
        <p:spPr>
          <a:xfrm>
            <a:off x="762000" y="342900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03</a:t>
            </a:r>
          </a:p>
        </p:txBody>
      </p:sp>
      <p:sp>
        <p:nvSpPr>
          <p:cNvPr id="8" name="team-name-2">
            <a:extLst>
              <a:ext uri="{FF2B5EF4-FFF2-40B4-BE49-F238E27FC236}">
                <a16:creationId id="{65139A8B-98F2-4460-B9D0-B510956C4B35}"/>
              </a:ext>
            </a:extLst>
          </p:cNvPr>
          <p:cNvSpPr>
            <a:spLocks noGrp="1"/>
          </p:cNvSpPr>
          <p:nvPr/>
        </p:nvSpPr>
        <p:spPr>
          <a:xfrm>
            <a:off x="1524000" y="340042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Mahdi Zaied</a:t>
            </a:r>
          </a:p>
        </p:txBody>
      </p:sp>
      <p:sp>
        <p:nvSpPr>
          <p:cNvPr id="9" name="team-number-3">
            <a:extLst>
              <a:ext uri="{FF2B5EF4-FFF2-40B4-BE49-F238E27FC236}">
                <a16:creationId id="{A7F786EA-4EA7-47C2-B1DD-2C744523AAC6}"/>
              </a:ext>
            </a:extLst>
          </p:cNvPr>
          <p:cNvSpPr>
            <a:spLocks noGrp="1"/>
          </p:cNvSpPr>
          <p:nvPr/>
        </p:nvSpPr>
        <p:spPr>
          <a:xfrm>
            <a:off x="762000" y="417195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04</a:t>
            </a:r>
          </a:p>
        </p:txBody>
      </p:sp>
      <p:sp>
        <p:nvSpPr>
          <p:cNvPr id="10" name="team-name-3">
            <a:extLst>
              <a:ext uri="{FF2B5EF4-FFF2-40B4-BE49-F238E27FC236}">
                <a16:creationId id="{5AC1EC3F-7941-4FB9-972E-8E584221A25A}"/>
              </a:ext>
            </a:extLst>
          </p:cNvPr>
          <p:cNvSpPr>
            <a:spLocks noGrp="1"/>
          </p:cNvSpPr>
          <p:nvPr/>
        </p:nvSpPr>
        <p:spPr>
          <a:xfrm>
            <a:off x="1524000" y="414337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Omar Mseddi</a:t>
            </a:r>
          </a:p>
        </p:txBody>
      </p:sp>
      <p:sp>
        <p:nvSpPr>
          <p:cNvPr id="11" name="team-number-4">
            <a:extLst>
              <a:ext uri="{FF2B5EF4-FFF2-40B4-BE49-F238E27FC236}">
                <a16:creationId id="{0302966F-F4FD-4D0B-8530-2852B8F9931C}"/>
              </a:ext>
            </a:extLst>
          </p:cNvPr>
          <p:cNvSpPr>
            <a:spLocks noGrp="1"/>
          </p:cNvSpPr>
          <p:nvPr/>
        </p:nvSpPr>
        <p:spPr>
          <a:xfrm>
            <a:off x="762000" y="491490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05</a:t>
            </a:r>
          </a:p>
        </p:txBody>
      </p:sp>
      <p:sp>
        <p:nvSpPr>
          <p:cNvPr id="12" name="team-name-4">
            <a:extLst>
              <a:ext uri="{FF2B5EF4-FFF2-40B4-BE49-F238E27FC236}">
                <a16:creationId id="{EC87FF35-CE04-4BA6-988E-F430698C7C1D}"/>
              </a:ext>
            </a:extLst>
          </p:cNvPr>
          <p:cNvSpPr>
            <a:spLocks noGrp="1"/>
          </p:cNvSpPr>
          <p:nvPr/>
        </p:nvSpPr>
        <p:spPr>
          <a:xfrm>
            <a:off x="1524000" y="488632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Youssef Takeli</a:t>
            </a:r>
          </a:p>
        </p:txBody>
      </p:sp>
      <p:sp>
        <p:nvSpPr>
          <p:cNvPr id="13" name="team-divider">
            <a:extLst>
              <a:ext uri="{FF2B5EF4-FFF2-40B4-BE49-F238E27FC236}">
                <a16:creationId id="{844AF622-AB6A-48C1-9B36-89B97FB23771}"/>
              </a:ext>
            </a:extLst>
          </p:cNvPr>
          <p:cNvSpPr>
            <a:spLocks noGrp="1"/>
          </p:cNvSpPr>
          <p:nvPr/>
        </p:nvSpPr>
        <p:spPr>
          <a:xfrm>
            <a:off x="6858000" y="1895475"/>
            <a:ext cx="19050" cy="3619500"/>
          </a:xfrm>
          <a:prstGeom prst="rect">
            <a:avLst/>
          </a:prstGeom>
          <a:solidFill>
            <a:srgbClr val="486073"/>
          </a:solidFill>
          <a:ln w="0">
            <a:noFill/>
            <a:prstDash val="solid"/>
          </a:ln>
        </p:spPr>
      </p:sp>
      <p:sp>
        <p:nvSpPr>
          <p:cNvPr id="14" name="team-deliverables-heading">
            <a:extLst>
              <a:ext uri="{FF2B5EF4-FFF2-40B4-BE49-F238E27FC236}">
                <a16:creationId id="{0E7C848E-DEF1-406E-947E-84616EC7D79E}"/>
              </a:ext>
            </a:extLst>
          </p:cNvPr>
          <p:cNvSpPr>
            <a:spLocks noGrp="1"/>
          </p:cNvSpPr>
          <p:nvPr/>
        </p:nvSpPr>
        <p:spPr>
          <a:xfrm>
            <a:off x="7429500" y="1952625"/>
            <a:ext cx="3143250" cy="381000"/>
          </a:xfrm>
          <a:prstGeom prst="rect">
            <a:avLst/>
          </a:prstGeom>
          <a:noFill/>
          <a:ln w="0">
            <a:noFill/>
            <a:prstDash val="solid"/>
          </a:ln>
        </p:spPr>
        <p:txBody>
          <a:bodyPr wrap="square" lIns="0" tIns="0" rIns="0" bIns="0" anchor="t"/>
          <a:lstStyle>
            <a:defPPr algn="l">
              <a:defRPr sz="2025" b="1">
                <a:solidFill>
                  <a:srgbClr val="E7EEF2"/>
                </a:solidFill>
                <a:latin typeface="Arial"/>
                <a:ea typeface="Arial"/>
                <a:cs typeface="Arial"/>
              </a:defRPr>
            </a:defPPr>
            <a:lvl1pPr algn="l">
              <a:defRPr sz="2025" b="1">
                <a:solidFill>
                  <a:srgbClr val="E7EEF2"/>
                </a:solidFill>
                <a:latin typeface="Arial"/>
                <a:ea typeface="Arial"/>
                <a:cs typeface="Arial"/>
              </a:defRPr>
            </a:lvl1pPr>
            <a:lvl2pPr algn="l">
              <a:defRPr sz="2025" b="1">
                <a:solidFill>
                  <a:srgbClr val="E7EEF2"/>
                </a:solidFill>
                <a:latin typeface="Arial"/>
                <a:ea typeface="Arial"/>
                <a:cs typeface="Arial"/>
              </a:defRPr>
            </a:lvl2pPr>
            <a:lvl3pPr algn="l">
              <a:defRPr sz="2025" b="1">
                <a:solidFill>
                  <a:srgbClr val="E7EEF2"/>
                </a:solidFill>
                <a:latin typeface="Arial"/>
                <a:ea typeface="Arial"/>
                <a:cs typeface="Arial"/>
              </a:defRPr>
            </a:lvl3pPr>
            <a:lvl4pPr algn="l">
              <a:defRPr sz="2025" b="1">
                <a:solidFill>
                  <a:srgbClr val="E7EEF2"/>
                </a:solidFill>
                <a:latin typeface="Arial"/>
                <a:ea typeface="Arial"/>
                <a:cs typeface="Arial"/>
              </a:defRPr>
            </a:lvl4pPr>
            <a:lvl5pPr algn="l">
              <a:defRPr sz="2025" b="1">
                <a:solidFill>
                  <a:srgbClr val="E7EEF2"/>
                </a:solidFill>
                <a:latin typeface="Arial"/>
                <a:ea typeface="Arial"/>
                <a:cs typeface="Arial"/>
              </a:defRPr>
            </a:lvl5pPr>
            <a:lvl6pPr algn="l">
              <a:defRPr sz="2025" b="1">
                <a:solidFill>
                  <a:srgbClr val="E7EEF2"/>
                </a:solidFill>
                <a:latin typeface="Arial"/>
                <a:ea typeface="Arial"/>
                <a:cs typeface="Arial"/>
              </a:defRPr>
            </a:lvl6pPr>
            <a:lvl7pPr algn="l">
              <a:defRPr sz="2025" b="1">
                <a:solidFill>
                  <a:srgbClr val="E7EEF2"/>
                </a:solidFill>
                <a:latin typeface="Arial"/>
                <a:ea typeface="Arial"/>
                <a:cs typeface="Arial"/>
              </a:defRPr>
            </a:lvl7pPr>
            <a:lvl8pPr algn="l">
              <a:defRPr sz="2025" b="1">
                <a:solidFill>
                  <a:srgbClr val="E7EEF2"/>
                </a:solidFill>
                <a:latin typeface="Arial"/>
                <a:ea typeface="Arial"/>
                <a:cs typeface="Arial"/>
              </a:defRPr>
            </a:lvl8pPr>
            <a:lvl9pPr algn="l">
              <a:defRPr sz="2025" b="1">
                <a:solidFill>
                  <a:srgbClr val="E7EEF2"/>
                </a:solidFill>
                <a:latin typeface="Arial"/>
                <a:ea typeface="Arial"/>
                <a:cs typeface="Arial"/>
              </a:defRPr>
            </a:lvl9pPr>
          </a:lstStyle>
          <a:p>
            <a:pPr algn="l">
              <a:defRPr sz="2025" b="1">
                <a:solidFill>
                  <a:srgbClr val="E7EEF2"/>
                </a:solidFill>
                <a:latin typeface="Arial"/>
                <a:ea typeface="Arial"/>
                <a:cs typeface="Arial"/>
              </a:defRPr>
            </a:pPr>
            <a:r>
              <a:rPr sz="2025" b="1">
                <a:solidFill>
                  <a:srgbClr val="E7EEF2"/>
                </a:solidFill>
                <a:latin typeface="Arial"/>
                <a:ea typeface="Arial"/>
                <a:cs typeface="Arial"/>
              </a:rPr>
              <a:t>Livrables</a:t>
            </a:r>
          </a:p>
        </p:txBody>
      </p:sp>
      <p:sp>
        <p:nvSpPr>
          <p:cNvPr id="15" name="team-deliverables">
            <a:extLst>
              <a:ext uri="{FF2B5EF4-FFF2-40B4-BE49-F238E27FC236}">
                <a16:creationId id="{628BA930-04F7-4B33-B996-FC715BF48617}"/>
              </a:ext>
            </a:extLst>
          </p:cNvPr>
          <p:cNvSpPr>
            <a:spLocks noGrp="1"/>
          </p:cNvSpPr>
          <p:nvPr/>
        </p:nvSpPr>
        <p:spPr>
          <a:xfrm>
            <a:off x="7429500" y="2505075"/>
            <a:ext cx="3714750" cy="2190750"/>
          </a:xfrm>
          <a:prstGeom prst="rect">
            <a:avLst/>
          </a:prstGeom>
          <a:noFill/>
          <a:ln w="0">
            <a:noFill/>
            <a:prstDash val="solid"/>
          </a:ln>
        </p:spPr>
        <p:txBody>
          <a:bodyPr wrap="square" lIns="0" tIns="0" rIns="0" bIns="0" anchor="t"/>
          <a:lstStyle>
            <a:defPPr algn="l">
              <a:defRPr sz="1575" b="0">
                <a:solidFill>
                  <a:srgbClr val="D3DEE5"/>
                </a:solidFill>
                <a:latin typeface="Arial"/>
                <a:ea typeface="Arial"/>
                <a:cs typeface="Arial"/>
              </a:defRPr>
            </a:defPPr>
            <a:lvl1pPr algn="l">
              <a:defRPr sz="1575" b="0">
                <a:solidFill>
                  <a:srgbClr val="D3DEE5"/>
                </a:solidFill>
                <a:latin typeface="Arial"/>
                <a:ea typeface="Arial"/>
                <a:cs typeface="Arial"/>
              </a:defRPr>
            </a:lvl1pPr>
            <a:lvl2pPr algn="l">
              <a:defRPr sz="1575" b="0">
                <a:solidFill>
                  <a:srgbClr val="D3DEE5"/>
                </a:solidFill>
                <a:latin typeface="Arial"/>
                <a:ea typeface="Arial"/>
                <a:cs typeface="Arial"/>
              </a:defRPr>
            </a:lvl2pPr>
            <a:lvl3pPr algn="l">
              <a:defRPr sz="1575" b="0">
                <a:solidFill>
                  <a:srgbClr val="D3DEE5"/>
                </a:solidFill>
                <a:latin typeface="Arial"/>
                <a:ea typeface="Arial"/>
                <a:cs typeface="Arial"/>
              </a:defRPr>
            </a:lvl3pPr>
            <a:lvl4pPr algn="l">
              <a:defRPr sz="1575" b="0">
                <a:solidFill>
                  <a:srgbClr val="D3DEE5"/>
                </a:solidFill>
                <a:latin typeface="Arial"/>
                <a:ea typeface="Arial"/>
                <a:cs typeface="Arial"/>
              </a:defRPr>
            </a:lvl4pPr>
            <a:lvl5pPr algn="l">
              <a:defRPr sz="1575" b="0">
                <a:solidFill>
                  <a:srgbClr val="D3DEE5"/>
                </a:solidFill>
                <a:latin typeface="Arial"/>
                <a:ea typeface="Arial"/>
                <a:cs typeface="Arial"/>
              </a:defRPr>
            </a:lvl5pPr>
            <a:lvl6pPr algn="l">
              <a:defRPr sz="1575" b="0">
                <a:solidFill>
                  <a:srgbClr val="D3DEE5"/>
                </a:solidFill>
                <a:latin typeface="Arial"/>
                <a:ea typeface="Arial"/>
                <a:cs typeface="Arial"/>
              </a:defRPr>
            </a:lvl6pPr>
            <a:lvl7pPr algn="l">
              <a:defRPr sz="1575" b="0">
                <a:solidFill>
                  <a:srgbClr val="D3DEE5"/>
                </a:solidFill>
                <a:latin typeface="Arial"/>
                <a:ea typeface="Arial"/>
                <a:cs typeface="Arial"/>
              </a:defRPr>
            </a:lvl7pPr>
            <a:lvl8pPr algn="l">
              <a:defRPr sz="1575" b="0">
                <a:solidFill>
                  <a:srgbClr val="D3DEE5"/>
                </a:solidFill>
                <a:latin typeface="Arial"/>
                <a:ea typeface="Arial"/>
                <a:cs typeface="Arial"/>
              </a:defRPr>
            </a:lvl8pPr>
            <a:lvl9pPr algn="l">
              <a:defRPr sz="1575" b="0">
                <a:solidFill>
                  <a:srgbClr val="D3DEE5"/>
                </a:solidFill>
                <a:latin typeface="Arial"/>
                <a:ea typeface="Arial"/>
                <a:cs typeface="Arial"/>
              </a:defRPr>
            </a:lvl9pPr>
          </a:lstStyle>
          <a:p>
            <a:pPr algn="l">
              <a:defRPr sz="1575" b="0">
                <a:solidFill>
                  <a:srgbClr val="D3DEE5"/>
                </a:solidFill>
                <a:latin typeface="Arial"/>
                <a:ea typeface="Arial"/>
                <a:cs typeface="Arial"/>
              </a:defRPr>
            </a:pPr>
            <a:r>
              <a:rPr sz="1575" b="0">
                <a:solidFill>
                  <a:srgbClr val="D3DEE5"/>
                </a:solidFill>
                <a:latin typeface="Arial"/>
                <a:ea typeface="Arial"/>
                <a:cs typeface="Arial"/>
              </a:rPr>
              <a:t>Dépôt GitHub public</a:t>
            </a:r>
          </a:p>
          <a:p>
            <a:pPr algn="l">
              <a:defRPr sz="1575" b="0">
                <a:solidFill>
                  <a:srgbClr val="D3DEE5"/>
                </a:solidFill>
                <a:latin typeface="Arial"/>
                <a:ea typeface="Arial"/>
                <a:cs typeface="Arial"/>
              </a:defRPr>
            </a:pPr>
            <a:r>
              <a:rPr sz="1575" b="0">
                <a:solidFill>
                  <a:srgbClr val="D3DEE5"/>
                </a:solidFill>
                <a:latin typeface="Arial"/>
                <a:ea typeface="Arial"/>
                <a:cs typeface="Arial"/>
              </a:rPr>
              <a:t>Notebooks : données, préparation, modèles</a:t>
            </a:r>
          </a:p>
          <a:p>
            <a:pPr algn="l">
              <a:defRPr sz="1575" b="0">
                <a:solidFill>
                  <a:srgbClr val="D3DEE5"/>
                </a:solidFill>
                <a:latin typeface="Arial"/>
                <a:ea typeface="Arial"/>
                <a:cs typeface="Arial"/>
              </a:defRPr>
            </a:pPr>
            <a:r>
              <a:rPr sz="1575" b="0">
                <a:solidFill>
                  <a:srgbClr val="D3DEE5"/>
                </a:solidFill>
                <a:latin typeface="Arial"/>
                <a:ea typeface="Arial"/>
                <a:cs typeface="Arial"/>
              </a:rPr>
              <a:t>Présentation en français</a:t>
            </a:r>
          </a:p>
          <a:p>
            <a:r>
              <a:t/>
            </a:r>
          </a:p>
          <a:p>
            <a:pPr algn="l">
              <a:defRPr sz="1575" b="0">
                <a:solidFill>
                  <a:srgbClr val="D3DEE5"/>
                </a:solidFill>
                <a:latin typeface="Arial"/>
                <a:ea typeface="Arial"/>
                <a:cs typeface="Arial"/>
              </a:defRPr>
            </a:pPr>
            <a:r>
              <a:rPr sz="1575" b="0">
                <a:solidFill>
                  <a:srgbClr val="D3DEE5"/>
                </a:solidFill>
                <a:latin typeface="Arial"/>
                <a:ea typeface="Arial"/>
                <a:cs typeface="Arial"/>
              </a:rPr>
              <a:t>Accès Write requis pour contribuer.</a:t>
            </a:r>
          </a:p>
        </p:txBody>
      </p:sp>
      <p:sp>
        <p:nvSpPr>
          <p:cNvPr id="16" name="team-footer">
            <a:extLst>
              <a:ext uri="{FF2B5EF4-FFF2-40B4-BE49-F238E27FC236}">
                <a16:creationId id="{2ACF038D-5265-498C-96FF-65155C970495}"/>
              </a:ext>
            </a:extLst>
          </p:cNvPr>
          <p:cNvSpPr>
            <a:spLocks noGrp="1"/>
          </p:cNvSpPr>
          <p:nvPr/>
        </p:nvSpPr>
        <p:spPr>
          <a:xfrm>
            <a:off x="742950" y="6238875"/>
            <a:ext cx="6858000" cy="247650"/>
          </a:xfrm>
          <a:prstGeom prst="rect">
            <a:avLst/>
          </a:prstGeom>
          <a:noFill/>
          <a:ln w="0">
            <a:noFill/>
            <a:prstDash val="solid"/>
          </a:ln>
        </p:spPr>
        <p:txBody>
          <a:bodyPr wrap="square" lIns="0" tIns="0" rIns="0" bIns="0" anchor="t"/>
          <a:lstStyle>
            <a:defPPr algn="l">
              <a:defRPr sz="1200" b="0">
                <a:solidFill>
                  <a:srgbClr val="B9C8D2"/>
                </a:solidFill>
                <a:latin typeface="Arial"/>
                <a:ea typeface="Arial"/>
                <a:cs typeface="Arial"/>
              </a:defRPr>
            </a:defPPr>
            <a:lvl1pPr algn="l">
              <a:defRPr sz="1200" b="0">
                <a:solidFill>
                  <a:srgbClr val="B9C8D2"/>
                </a:solidFill>
                <a:latin typeface="Arial"/>
                <a:ea typeface="Arial"/>
                <a:cs typeface="Arial"/>
              </a:defRPr>
            </a:lvl1pPr>
            <a:lvl2pPr algn="l">
              <a:defRPr sz="1200" b="0">
                <a:solidFill>
                  <a:srgbClr val="B9C8D2"/>
                </a:solidFill>
                <a:latin typeface="Arial"/>
                <a:ea typeface="Arial"/>
                <a:cs typeface="Arial"/>
              </a:defRPr>
            </a:lvl2pPr>
            <a:lvl3pPr algn="l">
              <a:defRPr sz="1200" b="0">
                <a:solidFill>
                  <a:srgbClr val="B9C8D2"/>
                </a:solidFill>
                <a:latin typeface="Arial"/>
                <a:ea typeface="Arial"/>
                <a:cs typeface="Arial"/>
              </a:defRPr>
            </a:lvl3pPr>
            <a:lvl4pPr algn="l">
              <a:defRPr sz="1200" b="0">
                <a:solidFill>
                  <a:srgbClr val="B9C8D2"/>
                </a:solidFill>
                <a:latin typeface="Arial"/>
                <a:ea typeface="Arial"/>
                <a:cs typeface="Arial"/>
              </a:defRPr>
            </a:lvl4pPr>
            <a:lvl5pPr algn="l">
              <a:defRPr sz="1200" b="0">
                <a:solidFill>
                  <a:srgbClr val="B9C8D2"/>
                </a:solidFill>
                <a:latin typeface="Arial"/>
                <a:ea typeface="Arial"/>
                <a:cs typeface="Arial"/>
              </a:defRPr>
            </a:lvl5pPr>
            <a:lvl6pPr algn="l">
              <a:defRPr sz="1200" b="0">
                <a:solidFill>
                  <a:srgbClr val="B9C8D2"/>
                </a:solidFill>
                <a:latin typeface="Arial"/>
                <a:ea typeface="Arial"/>
                <a:cs typeface="Arial"/>
              </a:defRPr>
            </a:lvl6pPr>
            <a:lvl7pPr algn="l">
              <a:defRPr sz="1200" b="0">
                <a:solidFill>
                  <a:srgbClr val="B9C8D2"/>
                </a:solidFill>
                <a:latin typeface="Arial"/>
                <a:ea typeface="Arial"/>
                <a:cs typeface="Arial"/>
              </a:defRPr>
            </a:lvl7pPr>
            <a:lvl8pPr algn="l">
              <a:defRPr sz="1200" b="0">
                <a:solidFill>
                  <a:srgbClr val="B9C8D2"/>
                </a:solidFill>
                <a:latin typeface="Arial"/>
                <a:ea typeface="Arial"/>
                <a:cs typeface="Arial"/>
              </a:defRPr>
            </a:lvl8pPr>
            <a:lvl9pPr algn="l">
              <a:defRPr sz="1200" b="0">
                <a:solidFill>
                  <a:srgbClr val="B9C8D2"/>
                </a:solidFill>
                <a:latin typeface="Arial"/>
                <a:ea typeface="Arial"/>
                <a:cs typeface="Arial"/>
              </a:defRPr>
            </a:lvl9pPr>
          </a:lstStyle>
          <a:p>
            <a:pPr algn="l">
              <a:defRPr sz="1200" b="0">
                <a:solidFill>
                  <a:srgbClr val="B9C8D2"/>
                </a:solidFill>
                <a:latin typeface="Arial"/>
                <a:ea typeface="Arial"/>
                <a:cs typeface="Arial"/>
              </a:defRPr>
            </a:pPr>
            <a:r>
              <a:rPr sz="1200" b="0">
                <a:solidFill>
                  <a:srgbClr val="B9C8D2"/>
                </a:solidFill>
                <a:latin typeface="Arial"/>
                <a:ea typeface="Arial"/>
                <a:cs typeface="Arial"/>
              </a:rPr>
              <a:t>Sécurité routière · STATS19 · 2021–2025</a:t>
            </a:r>
          </a:p>
        </p:txBody>
      </p:sp>
    </p:spTree>
    <p:extLst>
      <p:ext uri="{BB962C8B-B14F-4D97-AF65-F5344CB8AC3E}">
        <p14:creationId val="17690714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2026-10-24T15:20:21.1260000Z</dcterms:created>
  <dcterms:modified xsi:type="dcterms:W3CDTF">2026-10-24T15:20:21.1260000Z</dcterms:modified>
</coreProperties>
</file>